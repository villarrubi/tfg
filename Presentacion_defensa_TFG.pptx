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2" d="100"/>
          <a:sy n="102" d="100"/>
        </p:scale>
        <p:origin x="87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1CC0BC-828B-4403-AF76-D0BDC1F191C1}" type="datetimeFigureOut">
              <a:rPr lang="es-ES" smtClean="0"/>
              <a:t>30/08/2026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FD20D0-E940-4D78-9233-EDB8C890ED7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968791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Apertura: presentar el problema y la aportación en dos frases. El sistema combina señales explicables y aprendizaje supervisado, pero la decisión se centraliza en un único servidor.
[Sources]
- TFG.txt: portada y resumen.
[/Sources]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FD20D0-E940-4D78-9233-EDB8C890ED70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992623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Explicar que el phishing combina aspectos técnicos y humanos. La propuesta no devuelve solo una clase: muestra evidencias que permiten revisar la decisión.
[Sources]
- TFG.txt: introducción, señales analizadas y diseño de la aplicación.
[/Sources]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FD20D0-E940-4D78-9233-EDB8C890ED70}" type="slidenum">
              <a:rPr lang="es-ES" smtClean="0"/>
              <a:t>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103386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Presentar los objetivos como decisiones de diseño. La centralización permite que una actualización del servidor llegue a todos los clientes sin distribuir modelos.
[Sources]
- TFG.txt: objetivos y resumen de arquitectura.
- README.md: Cómo está montado.
[/Sources]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FD20D0-E940-4D78-9233-EDB8C890ED70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183846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Esta es la diapositiva clave. El navegador habla con Streamlit y Streamlit con el backend; la extensión y el monitor llaman a la misma API. Local describe la ubicación, no elimina la separación cliente-servidor.
[Sources]
- README.md: Cómo está montado y Componentes.
- TFG.txt: Arquitectura general.
[/Sources]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FD20D0-E940-4D78-9233-EDB8C890ED70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211596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Recorrer el correo de izquierda a derecha. Todas las entradas terminan en la misma representación y todos los clientes reciben el mismo formato de salida.
[Sources]
- TFG.txt: Flujo de análisis y contrato del backend.
- README.md: Contrato del backend.
[/Sources]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FD20D0-E940-4D78-9233-EDB8C890ED70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19853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Contrastar interpretabilidad y capacidad de generalización. El modo combinado fue calibrado con un conjunto separado; la evidencia individual fuerte no se diluye en la media.
[Sources]
- TFG.txt: Diseño del clasificador y metodología cuantitativa.
- evaluation/calibration_results.json.
[/Sources]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FD20D0-E940-4D78-9233-EDB8C890ED70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2847366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Explicar por qué la arquitectura responde al requisito principal: se entrena y activa una sola versión por idioma. Los clientes no guardan copias ni ejecutan inferencia local.
[Sources]
- README.md: centralización de modelos.
- TFG.txt: entrenamiento, activación y versión central.
[/Sources]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FD20D0-E940-4D78-9233-EDB8C890ED70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7871324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Relacionar cada tecnología con una decisión, no enumerar herramientas. Diferenciar los controles ya implementados de los controles necesarios para producción.
[Sources]
- TFG.txt: herramientas, seguridad y privacidad.
- README.md: Configuración y Alcance.
[/Sources]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FD20D0-E940-4D78-9233-EDB8C890ED70}" type="slidenum">
              <a:rPr lang="es-ES" smtClean="0"/>
              <a:t>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6726503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Subrayar la separación entre calibración y evaluación. DIFrauD es un diagnóstico útil, pero no una validación independiente concluyente por posible solapamiento y falta de MIME completo.
[Sources]
- EVALUATION_REPORT.md.
- EXTERNAL_EVALUATION_REPORT.md.
- evaluation/README.md.
[/Sources]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FD20D0-E940-4D78-9233-EDB8C890ED70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3212648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Mostrar que el combinado conserva el recall del heurístico con una accuracy alta. Explicar el único falso positivo y evitar presentar los porcentajes como rendimiento garantizado en una empresa.
[Sources]
- EVALUATION_REPORT.md: resultados globales.
- EXTERNAL_EVALUATION_REPORT.md: resultado DIFrauD.
[/Sources]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FD20D0-E940-4D78-9233-EDB8C890ED70}" type="slidenum">
              <a:rPr lang="es-ES" smtClean="0"/>
              <a:t>10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294609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Presentar evidencia de tres niveles: pruebas de código, recorrido real del navegador y medición de rendimiento. Las advertencias de convergencia pertenecen a pruebas rápidas del MLP.
[Sources]
- README.md: Validación automática.
- PERFORMANCE_REPORT.md.
- docs/INTEGRATION_VALIDATION.md.
[/Sources]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FD20D0-E940-4D78-9233-EDB8C890ED70}" type="slidenum">
              <a:rPr lang="es-ES" smtClean="0"/>
              <a:t>11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6399611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La demostración debe durar unos tres minutos. Si falla OAuth, usar los EML sintéticos y las capturas de respaldo. En el acceso móvil solo se expone Streamlit a la LAN privada.
[Sources]
- docs/DEFENSE_SCREENSHOTS.md.
- defense_demo/README.md.
- README.md: acceso temporal desde la red local.
[/Sources]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FD20D0-E940-4D78-9233-EDB8C890ED70}" type="slidenum">
              <a:rPr lang="es-ES" smtClean="0"/>
              <a:t>12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392234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Responder con honestidad. La limitación científica principal es la falta de un corpus real reciente e independiente; no falta una función del prototipo, falta evidencia para extrapolar a producción.
[Sources]
- TFG.txt: Limitaciones y trabajo futuro.
- CLEANUP_PLAN.md: deuda técnica que no debe ocultarse.
[/Sources]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FD20D0-E940-4D78-9233-EDB8C890ED70}" type="slidenum">
              <a:rPr lang="es-ES" smtClean="0"/>
              <a:t>13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2695793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Cierre: volver a la tesis inicial. El valor no es solo detectar; es centralizar la decisión, conservar la explicación y permitir evolución controlada. Abrir el turno de preguntas.
[Sources]
- TFG.txt: conclusiones.
- README.md: arquitectura y alcance.
[/Sources]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FD20D0-E940-4D78-9233-EDB8C890ED70}" type="slidenum">
              <a:rPr lang="es-ES" smtClean="0"/>
              <a:t>14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087523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2535E9-EFC2-3B97-8881-3F2C01791A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FAE3B26-A6DF-7A04-EA95-78277D6783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FB99020-A05C-AC0A-1306-4D2654F381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40CE9B-84DE-4934-B0C9-67879BB15753}" type="datetimeFigureOut">
              <a:rPr lang="es-ES" smtClean="0"/>
              <a:t>30/08/2026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CE15150-6CCA-FE77-BDA6-E1F2E2A672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5A1B84F-282D-7891-9A67-5DDB623276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96C22A-0490-4AE3-AAE1-554C1C44C303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611674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BF06763-6F51-EABC-4DD3-E898C10DD3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FDEA16E-A8F0-1075-4221-98185F20B5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DBF8097-E857-B85E-DB5C-304159EDD8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40CE9B-84DE-4934-B0C9-67879BB15753}" type="datetimeFigureOut">
              <a:rPr lang="es-ES" smtClean="0"/>
              <a:t>30/08/2026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7FDF364-6DD9-61F1-6DDE-220325A2C5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04E2258-3CDD-8A87-2D8D-2D5D79AC38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96C22A-0490-4AE3-AAE1-554C1C44C303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054336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71D902-0F42-EC1D-6C1A-59BEDB38A9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3910AE6-50F3-BFB9-818D-1F0BACF5C7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7071205-E082-3D80-92C1-BDCB669CE2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40CE9B-84DE-4934-B0C9-67879BB15753}" type="datetimeFigureOut">
              <a:rPr lang="es-ES" smtClean="0"/>
              <a:t>30/08/2026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0E2AE7C-8684-B446-D8A2-BD15701D13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F59B10A-1035-E713-25EC-E64B2BBB2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96C22A-0490-4AE3-AAE1-554C1C44C303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843292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A53566-4438-B0F5-6672-7685BE984C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F3C066A-FE84-D6B9-7C05-C451E45A88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74D1EC28-8A7F-9FD4-122A-0AC42A01EE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2002C72-6382-C763-FFC5-722864E0CC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40CE9B-84DE-4934-B0C9-67879BB15753}" type="datetimeFigureOut">
              <a:rPr lang="es-ES" smtClean="0"/>
              <a:t>30/08/2026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05B87F4-C614-3F08-5F0F-4FA50AEFCC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83FC888-C8E5-86E8-5602-BA815C214B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96C22A-0490-4AE3-AAE1-554C1C44C303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580170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D904E71-1A2B-EAA2-6C6F-463E472DCB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C755DA9-9647-0AF2-DDE9-A358F4076A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FF45639D-F6C3-0643-F3CB-486EC29E6C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EAA9C0BA-259E-971C-354B-EA86BDF075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DF46F584-2449-7A44-09DA-3203FB6420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32E4FC6B-43F5-A4A2-31BD-672163AC2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40CE9B-84DE-4934-B0C9-67879BB15753}" type="datetimeFigureOut">
              <a:rPr lang="es-ES" smtClean="0"/>
              <a:t>30/08/2026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B465EA79-88BB-EA5B-2367-EF628481AA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708BC5FD-8676-5076-28B8-4BF5704FB7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96C22A-0490-4AE3-AAE1-554C1C44C303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617045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E57490A-D359-E2A3-2B4F-90F9C3B41E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A1497A1F-6855-6FD8-F057-4DFB26B6B0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40CE9B-84DE-4934-B0C9-67879BB15753}" type="datetimeFigureOut">
              <a:rPr lang="es-ES" smtClean="0"/>
              <a:t>30/08/2026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DA76D74C-B153-16DC-4891-C718B27F4B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B49894B-F7D7-01FC-9CB4-BE59890D9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96C22A-0490-4AE3-AAE1-554C1C44C303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453830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CF410731-03DD-9A08-269C-022A0C2A3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40CE9B-84DE-4934-B0C9-67879BB15753}" type="datetimeFigureOut">
              <a:rPr lang="es-ES" smtClean="0"/>
              <a:t>30/08/2026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720AF105-C795-651D-4B5D-659F0A2BC8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3FBE034-17C0-33CB-F1CA-0147CDC3E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96C22A-0490-4AE3-AAE1-554C1C44C303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237591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001ED9C-2039-EEA2-C362-9655ABCC58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8C2E474-192F-FE64-BDE8-0675911B3B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36277D89-08D8-3FBF-05A7-EC94679E05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85B180F-F396-792F-CC96-8AD542A92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40CE9B-84DE-4934-B0C9-67879BB15753}" type="datetimeFigureOut">
              <a:rPr lang="es-ES" smtClean="0"/>
              <a:t>30/08/2026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60FF24E-84C2-0DCC-DB02-5F15E7BC50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B633731-1CC8-5E0D-FBFA-796AB876DE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96C22A-0490-4AE3-AAE1-554C1C44C303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035807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FC28DEC-5530-E210-3110-BBAA43FB1B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A2DAEAF0-6A0D-CC40-FB90-CDCC319DCF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0D26D0E9-5887-9A5F-3541-A407F8FF68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68180B2-BB8E-6AC6-F4A3-698B1EE25C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40CE9B-84DE-4934-B0C9-67879BB15753}" type="datetimeFigureOut">
              <a:rPr lang="es-ES" smtClean="0"/>
              <a:t>30/08/2026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9B80B60-2CF8-64E7-162D-4E9A774886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F9CCC9E-4733-E7B0-B5D7-13BC02769F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96C22A-0490-4AE3-AAE1-554C1C44C303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054734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E842DD8-9F13-5ED6-1575-3EC163184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5ACA41DA-ABBD-57D9-D6BF-0DA2C54443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D3EA3E1-3393-4CA4-F565-00FD546D80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40CE9B-84DE-4934-B0C9-67879BB15753}" type="datetimeFigureOut">
              <a:rPr lang="es-ES" smtClean="0"/>
              <a:t>30/08/2026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8550410-87FF-CCD9-C5DD-6F2E0FD461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EA643A5-C645-3D97-D692-5150306E6E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96C22A-0490-4AE3-AAE1-554C1C44C303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175962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3EDC878A-42F5-8DCE-1F90-AB56EC4A9F0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1D6DF70-8128-B1F8-6D8E-EF10D58D45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02254E9-D41F-E93B-7FFA-03E5F92066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40CE9B-84DE-4934-B0C9-67879BB15753}" type="datetimeFigureOut">
              <a:rPr lang="es-ES" smtClean="0"/>
              <a:t>30/08/2026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6A8BC5C-0752-D349-2BF0-D957331587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E78135D-EE43-BA10-B434-DD9E423836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96C22A-0490-4AE3-AAE1-554C1C44C303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485776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82BE8166-94D0-518D-1682-6049B9A8F7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6687951-540F-BAA7-D773-3488E0F039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ED4D1C6-B4E1-866A-DC9E-0AF5A05C6D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40CE9B-84DE-4934-B0C9-67879BB15753}" type="datetimeFigureOut">
              <a:rPr lang="es-ES" smtClean="0"/>
              <a:t>30/08/2026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C886C8D-0ABC-C952-1221-9DDD33E77D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A7E723F-A1AF-6E56-F44C-945FBA274B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196C22A-0490-4AE3-AAE1-554C1C44C303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00088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3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field">
            <a:extLst>
              <a:ext uri="{FF2B5EF4-FFF2-40B4-BE49-F238E27FC236}">
                <a16:creationId xmlns:a16="http://schemas.microsoft.com/office/drawing/2014/main" id="{4D9E6F04-58CA-A0DB-149F-35DD41A208B1}"/>
              </a:ext>
            </a:extLst>
          </p:cNvPr>
          <p:cNvSpPr/>
          <p:nvPr/>
        </p:nvSpPr>
        <p:spPr>
          <a:xfrm>
            <a:off x="9245600" y="0"/>
            <a:ext cx="2946400" cy="6858000"/>
          </a:xfrm>
          <a:prstGeom prst="rect">
            <a:avLst/>
          </a:prstGeom>
          <a:solidFill>
            <a:srgbClr val="1230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cxnSp>
        <p:nvCxnSpPr>
          <p:cNvPr id="3" name="Cover accent">
            <a:extLst>
              <a:ext uri="{FF2B5EF4-FFF2-40B4-BE49-F238E27FC236}">
                <a16:creationId xmlns:a16="http://schemas.microsoft.com/office/drawing/2014/main" id="{73EB53BD-B7D1-B863-C003-B266DB7E4354}"/>
              </a:ext>
            </a:extLst>
          </p:cNvPr>
          <p:cNvCxnSpPr/>
          <p:nvPr/>
        </p:nvCxnSpPr>
        <p:spPr>
          <a:xfrm>
            <a:off x="9652000" y="1193800"/>
            <a:ext cx="1778000" cy="0"/>
          </a:xfrm>
          <a:prstGeom prst="line">
            <a:avLst/>
          </a:prstGeom>
          <a:ln w="63500">
            <a:solidFill>
              <a:srgbClr val="0D9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ver secondary accent">
            <a:extLst>
              <a:ext uri="{FF2B5EF4-FFF2-40B4-BE49-F238E27FC236}">
                <a16:creationId xmlns:a16="http://schemas.microsoft.com/office/drawing/2014/main" id="{7599C392-A1B0-06F5-54D5-5F40B4AF2E6B}"/>
              </a:ext>
            </a:extLst>
          </p:cNvPr>
          <p:cNvCxnSpPr/>
          <p:nvPr/>
        </p:nvCxnSpPr>
        <p:spPr>
          <a:xfrm>
            <a:off x="9652000" y="1498600"/>
            <a:ext cx="1397000" cy="0"/>
          </a:xfrm>
          <a:prstGeom prst="line">
            <a:avLst/>
          </a:prstGeom>
          <a:ln w="2540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Eyebrow">
            <a:extLst>
              <a:ext uri="{FF2B5EF4-FFF2-40B4-BE49-F238E27FC236}">
                <a16:creationId xmlns:a16="http://schemas.microsoft.com/office/drawing/2014/main" id="{3BC023BA-D014-D11D-4ACC-4A32B2B703F1}"/>
              </a:ext>
            </a:extLst>
          </p:cNvPr>
          <p:cNvSpPr txBox="1"/>
          <p:nvPr/>
        </p:nvSpPr>
        <p:spPr>
          <a:xfrm>
            <a:off x="736600" y="635000"/>
            <a:ext cx="533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200" b="1">
                <a:solidFill>
                  <a:srgbClr val="CCFBF1"/>
                </a:solidFill>
                <a:latin typeface="Arial" panose="020B0604020202020204" pitchFamily="34" charset="0"/>
              </a:rPr>
              <a:t>TRABAJO FIN DE GRADO · 2026</a:t>
            </a:r>
          </a:p>
        </p:txBody>
      </p:sp>
      <p:sp>
        <p:nvSpPr>
          <p:cNvPr id="6" name="Deck title">
            <a:extLst>
              <a:ext uri="{FF2B5EF4-FFF2-40B4-BE49-F238E27FC236}">
                <a16:creationId xmlns:a16="http://schemas.microsoft.com/office/drawing/2014/main" id="{D2C73854-723A-16EA-A295-4353FD9D0892}"/>
              </a:ext>
            </a:extLst>
          </p:cNvPr>
          <p:cNvSpPr txBox="1"/>
          <p:nvPr/>
        </p:nvSpPr>
        <p:spPr>
          <a:xfrm>
            <a:off x="736600" y="1752600"/>
            <a:ext cx="8128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5000" b="1">
                <a:solidFill>
                  <a:srgbClr val="FFFFFF"/>
                </a:solidFill>
                <a:latin typeface="Arial" panose="020B0604020202020204" pitchFamily="34" charset="0"/>
              </a:rPr>
              <a:t>Detección de phishing
en correos electrónicos</a:t>
            </a:r>
          </a:p>
        </p:txBody>
      </p:sp>
      <p:sp>
        <p:nvSpPr>
          <p:cNvPr id="7" name="Subtitle">
            <a:extLst>
              <a:ext uri="{FF2B5EF4-FFF2-40B4-BE49-F238E27FC236}">
                <a16:creationId xmlns:a16="http://schemas.microsoft.com/office/drawing/2014/main" id="{CDC30544-540F-A8F9-8A81-E936BC8176A4}"/>
              </a:ext>
            </a:extLst>
          </p:cNvPr>
          <p:cNvSpPr txBox="1"/>
          <p:nvPr/>
        </p:nvSpPr>
        <p:spPr>
          <a:xfrm>
            <a:off x="736600" y="3860800"/>
            <a:ext cx="749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2100">
                <a:solidFill>
                  <a:srgbClr val="C9D7E0"/>
                </a:solidFill>
                <a:latin typeface="Arial" panose="020B0604020202020204" pitchFamily="34" charset="0"/>
              </a:rPr>
              <a:t>Sistema cliente-servidor con análisis explicable y modelos centralizados</a:t>
            </a:r>
          </a:p>
        </p:txBody>
      </p:sp>
      <p:sp>
        <p:nvSpPr>
          <p:cNvPr id="8" name="Author">
            <a:extLst>
              <a:ext uri="{FF2B5EF4-FFF2-40B4-BE49-F238E27FC236}">
                <a16:creationId xmlns:a16="http://schemas.microsoft.com/office/drawing/2014/main" id="{C2159A97-D0E9-26BF-2F4B-8ED4D4F1D9D5}"/>
              </a:ext>
            </a:extLst>
          </p:cNvPr>
          <p:cNvSpPr txBox="1"/>
          <p:nvPr/>
        </p:nvSpPr>
        <p:spPr>
          <a:xfrm>
            <a:off x="736600" y="5461000"/>
            <a:ext cx="4826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600" b="1">
                <a:solidFill>
                  <a:srgbClr val="FFFFFF"/>
                </a:solidFill>
                <a:latin typeface="Arial" panose="020B0604020202020204" pitchFamily="34" charset="0"/>
              </a:rPr>
              <a:t>Alejandro Villarrubia García</a:t>
            </a:r>
          </a:p>
        </p:txBody>
      </p:sp>
      <p:sp>
        <p:nvSpPr>
          <p:cNvPr id="9" name="Tutor">
            <a:extLst>
              <a:ext uri="{FF2B5EF4-FFF2-40B4-BE49-F238E27FC236}">
                <a16:creationId xmlns:a16="http://schemas.microsoft.com/office/drawing/2014/main" id="{C2AE4C61-0507-276C-2804-E2C3798EC658}"/>
              </a:ext>
            </a:extLst>
          </p:cNvPr>
          <p:cNvSpPr txBox="1"/>
          <p:nvPr/>
        </p:nvSpPr>
        <p:spPr>
          <a:xfrm>
            <a:off x="736600" y="5842000"/>
            <a:ext cx="533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200">
                <a:solidFill>
                  <a:srgbClr val="A9BBC8"/>
                </a:solidFill>
                <a:latin typeface="Arial" panose="020B0604020202020204" pitchFamily="34" charset="0"/>
              </a:rPr>
              <a:t>Tutor: Carmelo González García · UEMC</a:t>
            </a:r>
          </a:p>
        </p:txBody>
      </p:sp>
      <p:sp>
        <p:nvSpPr>
          <p:cNvPr id="10" name="Cover mark">
            <a:extLst>
              <a:ext uri="{FF2B5EF4-FFF2-40B4-BE49-F238E27FC236}">
                <a16:creationId xmlns:a16="http://schemas.microsoft.com/office/drawing/2014/main" id="{A2D2735E-819B-A1D3-6C8D-FA4C4225E95C}"/>
              </a:ext>
            </a:extLst>
          </p:cNvPr>
          <p:cNvSpPr txBox="1"/>
          <p:nvPr/>
        </p:nvSpPr>
        <p:spPr>
          <a:xfrm>
            <a:off x="9753600" y="5080000"/>
            <a:ext cx="190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3800" b="1">
                <a:solidFill>
                  <a:srgbClr val="FFFFFF"/>
                </a:solidFill>
                <a:latin typeface="Arial" panose="020B0604020202020204" pitchFamily="34" charset="0"/>
              </a:rPr>
              <a:t>TFG</a:t>
            </a:r>
          </a:p>
        </p:txBody>
      </p:sp>
    </p:spTree>
    <p:extLst>
      <p:ext uri="{BB962C8B-B14F-4D97-AF65-F5344CB8AC3E}">
        <p14:creationId xmlns:p14="http://schemas.microsoft.com/office/powerpoint/2010/main" val="16618238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>
            <a:extLst>
              <a:ext uri="{FF2B5EF4-FFF2-40B4-BE49-F238E27FC236}">
                <a16:creationId xmlns:a16="http://schemas.microsoft.com/office/drawing/2014/main" id="{7889828B-2487-6D74-CF13-48C1F46FF23F}"/>
              </a:ext>
            </a:extLst>
          </p:cNvPr>
          <p:cNvSpPr txBox="1"/>
          <p:nvPr/>
        </p:nvSpPr>
        <p:spPr>
          <a:xfrm>
            <a:off x="711200" y="2540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000" b="1">
                <a:solidFill>
                  <a:srgbClr val="0F766E"/>
                </a:solidFill>
                <a:latin typeface="Arial" panose="020B0604020202020204" pitchFamily="34" charset="0"/>
              </a:rPr>
              <a:t>MOTIVACIÓN</a:t>
            </a:r>
          </a:p>
        </p:txBody>
      </p:sp>
      <p:sp>
        <p:nvSpPr>
          <p:cNvPr id="3" name="Slide title">
            <a:extLst>
              <a:ext uri="{FF2B5EF4-FFF2-40B4-BE49-F238E27FC236}">
                <a16:creationId xmlns:a16="http://schemas.microsoft.com/office/drawing/2014/main" id="{E8E0A7D3-959F-177D-E8D6-2D9A3982A7CB}"/>
              </a:ext>
            </a:extLst>
          </p:cNvPr>
          <p:cNvSpPr txBox="1"/>
          <p:nvPr/>
        </p:nvSpPr>
        <p:spPr>
          <a:xfrm>
            <a:off x="711200" y="533400"/>
            <a:ext cx="10769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3500" b="1">
                <a:solidFill>
                  <a:srgbClr val="07131F"/>
                </a:solidFill>
                <a:latin typeface="Arial" panose="020B0604020202020204" pitchFamily="34" charset="0"/>
              </a:rPr>
              <a:t>El problema exige una decisión explicable</a:t>
            </a:r>
          </a:p>
        </p:txBody>
      </p:sp>
      <p:cxnSp>
        <p:nvCxnSpPr>
          <p:cNvPr id="4" name="Accent rule">
            <a:extLst>
              <a:ext uri="{FF2B5EF4-FFF2-40B4-BE49-F238E27FC236}">
                <a16:creationId xmlns:a16="http://schemas.microsoft.com/office/drawing/2014/main" id="{705FE20D-2B9E-8F57-834D-D067CAB9A3B5}"/>
              </a:ext>
            </a:extLst>
          </p:cNvPr>
          <p:cNvCxnSpPr/>
          <p:nvPr/>
        </p:nvCxnSpPr>
        <p:spPr>
          <a:xfrm>
            <a:off x="711200" y="1282700"/>
            <a:ext cx="711200" cy="0"/>
          </a:xfrm>
          <a:prstGeom prst="line">
            <a:avLst/>
          </a:prstGeom>
          <a:ln w="50800">
            <a:solidFill>
              <a:srgbClr val="0D9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 author">
            <a:extLst>
              <a:ext uri="{FF2B5EF4-FFF2-40B4-BE49-F238E27FC236}">
                <a16:creationId xmlns:a16="http://schemas.microsoft.com/office/drawing/2014/main" id="{C7BAFBBD-C3C7-FA3C-0958-FDA2943AF103}"/>
              </a:ext>
            </a:extLst>
          </p:cNvPr>
          <p:cNvSpPr txBox="1"/>
          <p:nvPr/>
        </p:nvSpPr>
        <p:spPr>
          <a:xfrm>
            <a:off x="711200" y="65024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900">
                <a:solidFill>
                  <a:srgbClr val="6A8192"/>
                </a:solidFill>
                <a:latin typeface="Arial" panose="020B0604020202020204" pitchFamily="34" charset="0"/>
              </a:rPr>
              <a:t>Alejandro Villarrubia García · TFG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ECA098D8-DC85-F271-E306-FF01F0DCB6AE}"/>
              </a:ext>
            </a:extLst>
          </p:cNvPr>
          <p:cNvSpPr txBox="1"/>
          <p:nvPr/>
        </p:nvSpPr>
        <p:spPr>
          <a:xfrm>
            <a:off x="11201400" y="6477000"/>
            <a:ext cx="279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000" b="1">
                <a:solidFill>
                  <a:srgbClr val="6A8192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7" name="Question field">
            <a:extLst>
              <a:ext uri="{FF2B5EF4-FFF2-40B4-BE49-F238E27FC236}">
                <a16:creationId xmlns:a16="http://schemas.microsoft.com/office/drawing/2014/main" id="{DA7DF6BF-6092-4918-4ACB-153F2614FE04}"/>
              </a:ext>
            </a:extLst>
          </p:cNvPr>
          <p:cNvSpPr/>
          <p:nvPr/>
        </p:nvSpPr>
        <p:spPr>
          <a:xfrm>
            <a:off x="711200" y="1676400"/>
            <a:ext cx="3835400" cy="4089400"/>
          </a:xfrm>
          <a:prstGeom prst="rect">
            <a:avLst/>
          </a:prstGeom>
          <a:solidFill>
            <a:srgbClr val="07131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Question">
            <a:extLst>
              <a:ext uri="{FF2B5EF4-FFF2-40B4-BE49-F238E27FC236}">
                <a16:creationId xmlns:a16="http://schemas.microsoft.com/office/drawing/2014/main" id="{763EF413-5CE4-94D2-D37C-46F0947115B0}"/>
              </a:ext>
            </a:extLst>
          </p:cNvPr>
          <p:cNvSpPr txBox="1"/>
          <p:nvPr/>
        </p:nvSpPr>
        <p:spPr>
          <a:xfrm>
            <a:off x="1041400" y="2159000"/>
            <a:ext cx="317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3200" b="1">
                <a:solidFill>
                  <a:srgbClr val="FFFFFF"/>
                </a:solidFill>
                <a:latin typeface="Arial" panose="020B0604020202020204" pitchFamily="34" charset="0"/>
              </a:rPr>
              <a:t>¿Cómo detectar phishing sin perder la explicación?</a:t>
            </a:r>
          </a:p>
        </p:txBody>
      </p:sp>
      <p:sp>
        <p:nvSpPr>
          <p:cNvPr id="9" name="Question support">
            <a:extLst>
              <a:ext uri="{FF2B5EF4-FFF2-40B4-BE49-F238E27FC236}">
                <a16:creationId xmlns:a16="http://schemas.microsoft.com/office/drawing/2014/main" id="{02245197-4963-4EDC-76B2-743003BD0498}"/>
              </a:ext>
            </a:extLst>
          </p:cNvPr>
          <p:cNvSpPr txBox="1"/>
          <p:nvPr/>
        </p:nvSpPr>
        <p:spPr>
          <a:xfrm>
            <a:off x="1041400" y="4635500"/>
            <a:ext cx="3048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500">
                <a:solidFill>
                  <a:srgbClr val="C9D7E0"/>
                </a:solidFill>
                <a:latin typeface="Arial" panose="020B0604020202020204" pitchFamily="34" charset="0"/>
              </a:rPr>
              <a:t>Una etiqueta aislada no basta para revisar un correo sospechoso.</a:t>
            </a:r>
          </a:p>
        </p:txBody>
      </p:sp>
      <p:sp>
        <p:nvSpPr>
          <p:cNvPr id="10" name="Index 01">
            <a:extLst>
              <a:ext uri="{FF2B5EF4-FFF2-40B4-BE49-F238E27FC236}">
                <a16:creationId xmlns:a16="http://schemas.microsoft.com/office/drawing/2014/main" id="{14C2D996-E6BB-1516-7C8D-369F4CEB80CD}"/>
              </a:ext>
            </a:extLst>
          </p:cNvPr>
          <p:cNvSpPr txBox="1"/>
          <p:nvPr/>
        </p:nvSpPr>
        <p:spPr>
          <a:xfrm>
            <a:off x="5207000" y="1803400"/>
            <a:ext cx="533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200" b="1">
                <a:solidFill>
                  <a:srgbClr val="0F766E"/>
                </a:solidFill>
                <a:latin typeface="Arial" panose="020B0604020202020204" pitchFamily="34" charset="0"/>
              </a:rPr>
              <a:t>01</a:t>
            </a:r>
          </a:p>
        </p:txBody>
      </p:sp>
      <p:sp>
        <p:nvSpPr>
          <p:cNvPr id="11" name="Problem 01">
            <a:extLst>
              <a:ext uri="{FF2B5EF4-FFF2-40B4-BE49-F238E27FC236}">
                <a16:creationId xmlns:a16="http://schemas.microsoft.com/office/drawing/2014/main" id="{BB971581-20BC-FF84-FEFA-1CAC0A3CBBFB}"/>
              </a:ext>
            </a:extLst>
          </p:cNvPr>
          <p:cNvSpPr txBox="1"/>
          <p:nvPr/>
        </p:nvSpPr>
        <p:spPr>
          <a:xfrm>
            <a:off x="5943600" y="1803400"/>
            <a:ext cx="4191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2100" b="1">
                <a:solidFill>
                  <a:srgbClr val="07131F"/>
                </a:solidFill>
                <a:latin typeface="Arial" panose="020B0604020202020204" pitchFamily="34" charset="0"/>
              </a:rPr>
              <a:t>Señales técnicas</a:t>
            </a:r>
          </a:p>
        </p:txBody>
      </p:sp>
      <p:sp>
        <p:nvSpPr>
          <p:cNvPr id="12" name="Problem detail 01">
            <a:extLst>
              <a:ext uri="{FF2B5EF4-FFF2-40B4-BE49-F238E27FC236}">
                <a16:creationId xmlns:a16="http://schemas.microsoft.com/office/drawing/2014/main" id="{9B3DDA20-E479-03F7-85B1-B85C99074A1B}"/>
              </a:ext>
            </a:extLst>
          </p:cNvPr>
          <p:cNvSpPr txBox="1"/>
          <p:nvPr/>
        </p:nvSpPr>
        <p:spPr>
          <a:xfrm>
            <a:off x="5943600" y="2235200"/>
            <a:ext cx="495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500">
                <a:solidFill>
                  <a:srgbClr val="49657A"/>
                </a:solidFill>
                <a:latin typeface="Arial" panose="020B0604020202020204" pitchFamily="34" charset="0"/>
              </a:rPr>
              <a:t>SPF, DKIM, DMARC, dominios, URLs, HTML y adjuntos.</a:t>
            </a:r>
          </a:p>
        </p:txBody>
      </p:sp>
      <p:cxnSp>
        <p:nvCxnSpPr>
          <p:cNvPr id="13" name="Problem divider">
            <a:extLst>
              <a:ext uri="{FF2B5EF4-FFF2-40B4-BE49-F238E27FC236}">
                <a16:creationId xmlns:a16="http://schemas.microsoft.com/office/drawing/2014/main" id="{56B804AC-B37F-2A26-BFCE-EAE9D7F2EEBA}"/>
              </a:ext>
            </a:extLst>
          </p:cNvPr>
          <p:cNvCxnSpPr/>
          <p:nvPr/>
        </p:nvCxnSpPr>
        <p:spPr>
          <a:xfrm>
            <a:off x="5207000" y="2959100"/>
            <a:ext cx="5842000" cy="0"/>
          </a:xfrm>
          <a:prstGeom prst="line">
            <a:avLst/>
          </a:prstGeom>
          <a:ln w="12700">
            <a:solidFill>
              <a:srgbClr val="DC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Index 02">
            <a:extLst>
              <a:ext uri="{FF2B5EF4-FFF2-40B4-BE49-F238E27FC236}">
                <a16:creationId xmlns:a16="http://schemas.microsoft.com/office/drawing/2014/main" id="{F5647330-A02C-3834-A35C-DCCFCDD80EFD}"/>
              </a:ext>
            </a:extLst>
          </p:cNvPr>
          <p:cNvSpPr txBox="1"/>
          <p:nvPr/>
        </p:nvSpPr>
        <p:spPr>
          <a:xfrm>
            <a:off x="5207000" y="3175000"/>
            <a:ext cx="533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200" b="1">
                <a:solidFill>
                  <a:srgbClr val="0F766E"/>
                </a:solidFill>
                <a:latin typeface="Arial" panose="020B0604020202020204" pitchFamily="34" charset="0"/>
              </a:rPr>
              <a:t>02</a:t>
            </a:r>
          </a:p>
        </p:txBody>
      </p:sp>
      <p:sp>
        <p:nvSpPr>
          <p:cNvPr id="15" name="Problem 02">
            <a:extLst>
              <a:ext uri="{FF2B5EF4-FFF2-40B4-BE49-F238E27FC236}">
                <a16:creationId xmlns:a16="http://schemas.microsoft.com/office/drawing/2014/main" id="{B099714F-E501-181C-2E67-DCB02BB8D66E}"/>
              </a:ext>
            </a:extLst>
          </p:cNvPr>
          <p:cNvSpPr txBox="1"/>
          <p:nvPr/>
        </p:nvSpPr>
        <p:spPr>
          <a:xfrm>
            <a:off x="5943600" y="3175000"/>
            <a:ext cx="4191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2100" b="1">
                <a:solidFill>
                  <a:srgbClr val="07131F"/>
                </a:solidFill>
                <a:latin typeface="Arial" panose="020B0604020202020204" pitchFamily="34" charset="0"/>
              </a:rPr>
              <a:t>Ingeniería social</a:t>
            </a:r>
          </a:p>
        </p:txBody>
      </p:sp>
      <p:sp>
        <p:nvSpPr>
          <p:cNvPr id="16" name="Problem detail 02">
            <a:extLst>
              <a:ext uri="{FF2B5EF4-FFF2-40B4-BE49-F238E27FC236}">
                <a16:creationId xmlns:a16="http://schemas.microsoft.com/office/drawing/2014/main" id="{B16975EB-F584-D24B-AF99-47A7A6138C64}"/>
              </a:ext>
            </a:extLst>
          </p:cNvPr>
          <p:cNvSpPr txBox="1"/>
          <p:nvPr/>
        </p:nvSpPr>
        <p:spPr>
          <a:xfrm>
            <a:off x="5943600" y="3606800"/>
            <a:ext cx="495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500">
                <a:solidFill>
                  <a:srgbClr val="49657A"/>
                </a:solidFill>
                <a:latin typeface="Arial" panose="020B0604020202020204" pitchFamily="34" charset="0"/>
              </a:rPr>
              <a:t>Urgencia, autoridad, credenciales y patrones BEC.</a:t>
            </a:r>
          </a:p>
        </p:txBody>
      </p:sp>
      <p:cxnSp>
        <p:nvCxnSpPr>
          <p:cNvPr id="17" name="Problem divider">
            <a:extLst>
              <a:ext uri="{FF2B5EF4-FFF2-40B4-BE49-F238E27FC236}">
                <a16:creationId xmlns:a16="http://schemas.microsoft.com/office/drawing/2014/main" id="{0C438256-B45A-73C9-0E91-5D39896FCEBE}"/>
              </a:ext>
            </a:extLst>
          </p:cNvPr>
          <p:cNvCxnSpPr/>
          <p:nvPr/>
        </p:nvCxnSpPr>
        <p:spPr>
          <a:xfrm>
            <a:off x="5207000" y="4330700"/>
            <a:ext cx="5842000" cy="0"/>
          </a:xfrm>
          <a:prstGeom prst="line">
            <a:avLst/>
          </a:prstGeom>
          <a:ln w="12700">
            <a:solidFill>
              <a:srgbClr val="DC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ndex 03">
            <a:extLst>
              <a:ext uri="{FF2B5EF4-FFF2-40B4-BE49-F238E27FC236}">
                <a16:creationId xmlns:a16="http://schemas.microsoft.com/office/drawing/2014/main" id="{2077FEA8-5005-B3B4-7E37-B45621D4FB0B}"/>
              </a:ext>
            </a:extLst>
          </p:cNvPr>
          <p:cNvSpPr txBox="1"/>
          <p:nvPr/>
        </p:nvSpPr>
        <p:spPr>
          <a:xfrm>
            <a:off x="5207000" y="4546600"/>
            <a:ext cx="533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200" b="1">
                <a:solidFill>
                  <a:srgbClr val="0F766E"/>
                </a:solidFill>
                <a:latin typeface="Arial" panose="020B0604020202020204" pitchFamily="34" charset="0"/>
              </a:rPr>
              <a:t>03</a:t>
            </a:r>
          </a:p>
        </p:txBody>
      </p:sp>
      <p:sp>
        <p:nvSpPr>
          <p:cNvPr id="19" name="Problem 03">
            <a:extLst>
              <a:ext uri="{FF2B5EF4-FFF2-40B4-BE49-F238E27FC236}">
                <a16:creationId xmlns:a16="http://schemas.microsoft.com/office/drawing/2014/main" id="{25C28981-B867-3B2C-A4FA-DCFAAEB9F668}"/>
              </a:ext>
            </a:extLst>
          </p:cNvPr>
          <p:cNvSpPr txBox="1"/>
          <p:nvPr/>
        </p:nvSpPr>
        <p:spPr>
          <a:xfrm>
            <a:off x="5943600" y="4546600"/>
            <a:ext cx="4191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2100" b="1">
                <a:solidFill>
                  <a:srgbClr val="07131F"/>
                </a:solidFill>
                <a:latin typeface="Arial" panose="020B0604020202020204" pitchFamily="34" charset="0"/>
              </a:rPr>
              <a:t>Decisión trazable</a:t>
            </a:r>
          </a:p>
        </p:txBody>
      </p:sp>
      <p:sp>
        <p:nvSpPr>
          <p:cNvPr id="20" name="Problem detail 03">
            <a:extLst>
              <a:ext uri="{FF2B5EF4-FFF2-40B4-BE49-F238E27FC236}">
                <a16:creationId xmlns:a16="http://schemas.microsoft.com/office/drawing/2014/main" id="{1EB55799-B3C1-8BD7-E59D-42305FB84E3C}"/>
              </a:ext>
            </a:extLst>
          </p:cNvPr>
          <p:cNvSpPr txBox="1"/>
          <p:nvPr/>
        </p:nvSpPr>
        <p:spPr>
          <a:xfrm>
            <a:off x="5943600" y="4978400"/>
            <a:ext cx="495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500">
                <a:solidFill>
                  <a:srgbClr val="49657A"/>
                </a:solidFill>
                <a:latin typeface="Arial" panose="020B0604020202020204" pitchFamily="34" charset="0"/>
              </a:rPr>
              <a:t>Riesgo, señales activadas y explicación para el usuario.</a:t>
            </a:r>
          </a:p>
        </p:txBody>
      </p:sp>
    </p:spTree>
    <p:extLst>
      <p:ext uri="{BB962C8B-B14F-4D97-AF65-F5344CB8AC3E}">
        <p14:creationId xmlns:p14="http://schemas.microsoft.com/office/powerpoint/2010/main" val="33498403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>
            <a:extLst>
              <a:ext uri="{FF2B5EF4-FFF2-40B4-BE49-F238E27FC236}">
                <a16:creationId xmlns:a16="http://schemas.microsoft.com/office/drawing/2014/main" id="{8A6CC509-976C-F262-F531-46CEB847FD04}"/>
              </a:ext>
            </a:extLst>
          </p:cNvPr>
          <p:cNvSpPr txBox="1"/>
          <p:nvPr/>
        </p:nvSpPr>
        <p:spPr>
          <a:xfrm>
            <a:off x="711200" y="2540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000" b="1">
                <a:solidFill>
                  <a:srgbClr val="0F766E"/>
                </a:solidFill>
                <a:latin typeface="Arial" panose="020B0604020202020204" pitchFamily="34" charset="0"/>
              </a:rPr>
              <a:t>OBJETIVOS</a:t>
            </a:r>
          </a:p>
        </p:txBody>
      </p:sp>
      <p:sp>
        <p:nvSpPr>
          <p:cNvPr id="3" name="Slide title">
            <a:extLst>
              <a:ext uri="{FF2B5EF4-FFF2-40B4-BE49-F238E27FC236}">
                <a16:creationId xmlns:a16="http://schemas.microsoft.com/office/drawing/2014/main" id="{7A8A68AE-D361-352B-8585-B017C45F720D}"/>
              </a:ext>
            </a:extLst>
          </p:cNvPr>
          <p:cNvSpPr txBox="1"/>
          <p:nvPr/>
        </p:nvSpPr>
        <p:spPr>
          <a:xfrm>
            <a:off x="711200" y="533400"/>
            <a:ext cx="10769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3500" b="1">
                <a:solidFill>
                  <a:srgbClr val="07131F"/>
                </a:solidFill>
                <a:latin typeface="Arial" panose="020B0604020202020204" pitchFamily="34" charset="0"/>
              </a:rPr>
              <a:t>Un backend central cumple cuatro objetivos</a:t>
            </a:r>
          </a:p>
        </p:txBody>
      </p:sp>
      <p:cxnSp>
        <p:nvCxnSpPr>
          <p:cNvPr id="4" name="Accent rule">
            <a:extLst>
              <a:ext uri="{FF2B5EF4-FFF2-40B4-BE49-F238E27FC236}">
                <a16:creationId xmlns:a16="http://schemas.microsoft.com/office/drawing/2014/main" id="{73B5AF60-E166-B3A8-ACA5-9E809DD9D847}"/>
              </a:ext>
            </a:extLst>
          </p:cNvPr>
          <p:cNvCxnSpPr/>
          <p:nvPr/>
        </p:nvCxnSpPr>
        <p:spPr>
          <a:xfrm>
            <a:off x="711200" y="1282700"/>
            <a:ext cx="711200" cy="0"/>
          </a:xfrm>
          <a:prstGeom prst="line">
            <a:avLst/>
          </a:prstGeom>
          <a:ln w="50800">
            <a:solidFill>
              <a:srgbClr val="0D9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 author">
            <a:extLst>
              <a:ext uri="{FF2B5EF4-FFF2-40B4-BE49-F238E27FC236}">
                <a16:creationId xmlns:a16="http://schemas.microsoft.com/office/drawing/2014/main" id="{DE00DBCF-07E9-E280-12A3-9333D7024FC8}"/>
              </a:ext>
            </a:extLst>
          </p:cNvPr>
          <p:cNvSpPr txBox="1"/>
          <p:nvPr/>
        </p:nvSpPr>
        <p:spPr>
          <a:xfrm>
            <a:off x="711200" y="65024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900">
                <a:solidFill>
                  <a:srgbClr val="6A8192"/>
                </a:solidFill>
                <a:latin typeface="Arial" panose="020B0604020202020204" pitchFamily="34" charset="0"/>
              </a:rPr>
              <a:t>Alejandro Villarrubia García · TFG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BA2E0668-213E-D609-1A0A-E2954777D714}"/>
              </a:ext>
            </a:extLst>
          </p:cNvPr>
          <p:cNvSpPr txBox="1"/>
          <p:nvPr/>
        </p:nvSpPr>
        <p:spPr>
          <a:xfrm>
            <a:off x="11201400" y="6477000"/>
            <a:ext cx="279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000" b="1">
                <a:solidFill>
                  <a:srgbClr val="6A8192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7" name="Thesis">
            <a:extLst>
              <a:ext uri="{FF2B5EF4-FFF2-40B4-BE49-F238E27FC236}">
                <a16:creationId xmlns:a16="http://schemas.microsoft.com/office/drawing/2014/main" id="{937E204C-95C7-9476-0B4E-290D42A55F4F}"/>
              </a:ext>
            </a:extLst>
          </p:cNvPr>
          <p:cNvSpPr txBox="1"/>
          <p:nvPr/>
        </p:nvSpPr>
        <p:spPr>
          <a:xfrm>
            <a:off x="711200" y="1625600"/>
            <a:ext cx="660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2500" b="1">
                <a:solidFill>
                  <a:srgbClr val="12304A"/>
                </a:solidFill>
                <a:latin typeface="Arial" panose="020B0604020202020204" pitchFamily="34" charset="0"/>
              </a:rPr>
              <a:t>Una única lógica de análisis; varias formas de usarla.</a:t>
            </a:r>
          </a:p>
        </p:txBody>
      </p:sp>
      <p:sp>
        <p:nvSpPr>
          <p:cNvPr id="8" name="Thesis detail">
            <a:extLst>
              <a:ext uri="{FF2B5EF4-FFF2-40B4-BE49-F238E27FC236}">
                <a16:creationId xmlns:a16="http://schemas.microsoft.com/office/drawing/2014/main" id="{8C563AD7-1458-8BE7-52DF-97D9E84780D7}"/>
              </a:ext>
            </a:extLst>
          </p:cNvPr>
          <p:cNvSpPr txBox="1"/>
          <p:nvPr/>
        </p:nvSpPr>
        <p:spPr>
          <a:xfrm>
            <a:off x="711200" y="2298700"/>
            <a:ext cx="635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700">
                <a:solidFill>
                  <a:srgbClr val="49657A"/>
                </a:solidFill>
                <a:latin typeface="Arial" panose="020B0604020202020204" pitchFamily="34" charset="0"/>
              </a:rPr>
              <a:t>El cliente recoge datos y presenta resultados. El servidor concentra parser, detectores, entrenamiento y versiones.</a:t>
            </a:r>
          </a:p>
        </p:txBody>
      </p:sp>
      <p:sp>
        <p:nvSpPr>
          <p:cNvPr id="9" name="Objective index">
            <a:extLst>
              <a:ext uri="{FF2B5EF4-FFF2-40B4-BE49-F238E27FC236}">
                <a16:creationId xmlns:a16="http://schemas.microsoft.com/office/drawing/2014/main" id="{B5AF3FC0-EDE3-6D2F-604F-19918C709A40}"/>
              </a:ext>
            </a:extLst>
          </p:cNvPr>
          <p:cNvSpPr txBox="1"/>
          <p:nvPr/>
        </p:nvSpPr>
        <p:spPr>
          <a:xfrm>
            <a:off x="7874000" y="1574800"/>
            <a:ext cx="584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400" b="1">
                <a:solidFill>
                  <a:srgbClr val="0F766E"/>
                </a:solidFill>
                <a:latin typeface="Arial" panose="020B0604020202020204" pitchFamily="34" charset="0"/>
              </a:rPr>
              <a:t>01</a:t>
            </a:r>
          </a:p>
        </p:txBody>
      </p:sp>
      <p:sp>
        <p:nvSpPr>
          <p:cNvPr id="10" name="Objective">
            <a:extLst>
              <a:ext uri="{FF2B5EF4-FFF2-40B4-BE49-F238E27FC236}">
                <a16:creationId xmlns:a16="http://schemas.microsoft.com/office/drawing/2014/main" id="{0C9A7DB5-9B6C-6D20-13CA-583129EB7D6D}"/>
              </a:ext>
            </a:extLst>
          </p:cNvPr>
          <p:cNvSpPr txBox="1"/>
          <p:nvPr/>
        </p:nvSpPr>
        <p:spPr>
          <a:xfrm>
            <a:off x="8686800" y="15748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b="1">
                <a:solidFill>
                  <a:srgbClr val="07131F"/>
                </a:solidFill>
                <a:latin typeface="Arial" panose="020B0604020202020204" pitchFamily="34" charset="0"/>
              </a:rPr>
              <a:t>Aceptar varias entradas</a:t>
            </a:r>
          </a:p>
        </p:txBody>
      </p:sp>
      <p:sp>
        <p:nvSpPr>
          <p:cNvPr id="11" name="Objective detail">
            <a:extLst>
              <a:ext uri="{FF2B5EF4-FFF2-40B4-BE49-F238E27FC236}">
                <a16:creationId xmlns:a16="http://schemas.microsoft.com/office/drawing/2014/main" id="{949262D4-C1B1-E99B-0CDF-7E9D03A479A4}"/>
              </a:ext>
            </a:extLst>
          </p:cNvPr>
          <p:cNvSpPr txBox="1"/>
          <p:nvPr/>
        </p:nvSpPr>
        <p:spPr>
          <a:xfrm>
            <a:off x="8686800" y="19558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300">
                <a:solidFill>
                  <a:srgbClr val="49657A"/>
                </a:solidFill>
                <a:latin typeface="Arial" panose="020B0604020202020204" pitchFamily="34" charset="0"/>
              </a:rPr>
              <a:t>Texto, EML, Gmail, extensión y monitor.</a:t>
            </a:r>
          </a:p>
        </p:txBody>
      </p:sp>
      <p:cxnSp>
        <p:nvCxnSpPr>
          <p:cNvPr id="12" name="Objective divider">
            <a:extLst>
              <a:ext uri="{FF2B5EF4-FFF2-40B4-BE49-F238E27FC236}">
                <a16:creationId xmlns:a16="http://schemas.microsoft.com/office/drawing/2014/main" id="{5E0CA286-22B2-264E-C8B7-2256701A4CE5}"/>
              </a:ext>
            </a:extLst>
          </p:cNvPr>
          <p:cNvCxnSpPr/>
          <p:nvPr/>
        </p:nvCxnSpPr>
        <p:spPr>
          <a:xfrm>
            <a:off x="7874000" y="2616200"/>
            <a:ext cx="3606800" cy="0"/>
          </a:xfrm>
          <a:prstGeom prst="line">
            <a:avLst/>
          </a:prstGeom>
          <a:ln w="12700">
            <a:solidFill>
              <a:srgbClr val="DC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bjective index">
            <a:extLst>
              <a:ext uri="{FF2B5EF4-FFF2-40B4-BE49-F238E27FC236}">
                <a16:creationId xmlns:a16="http://schemas.microsoft.com/office/drawing/2014/main" id="{1F1C87B0-96CA-F222-4E41-5FEE6794D6E7}"/>
              </a:ext>
            </a:extLst>
          </p:cNvPr>
          <p:cNvSpPr txBox="1"/>
          <p:nvPr/>
        </p:nvSpPr>
        <p:spPr>
          <a:xfrm>
            <a:off x="7874000" y="2743200"/>
            <a:ext cx="584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400" b="1">
                <a:solidFill>
                  <a:srgbClr val="0F766E"/>
                </a:solidFill>
                <a:latin typeface="Arial" panose="020B0604020202020204" pitchFamily="34" charset="0"/>
              </a:rPr>
              <a:t>02</a:t>
            </a:r>
          </a:p>
        </p:txBody>
      </p:sp>
      <p:sp>
        <p:nvSpPr>
          <p:cNvPr id="14" name="Objective">
            <a:extLst>
              <a:ext uri="{FF2B5EF4-FFF2-40B4-BE49-F238E27FC236}">
                <a16:creationId xmlns:a16="http://schemas.microsoft.com/office/drawing/2014/main" id="{76F0271B-FE91-5A52-D396-D459DC8BDEEF}"/>
              </a:ext>
            </a:extLst>
          </p:cNvPr>
          <p:cNvSpPr txBox="1"/>
          <p:nvPr/>
        </p:nvSpPr>
        <p:spPr>
          <a:xfrm>
            <a:off x="8686800" y="27432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b="1">
                <a:solidFill>
                  <a:srgbClr val="07131F"/>
                </a:solidFill>
                <a:latin typeface="Arial" panose="020B0604020202020204" pitchFamily="34" charset="0"/>
              </a:rPr>
              <a:t>Combinar dos enfoques</a:t>
            </a:r>
          </a:p>
        </p:txBody>
      </p:sp>
      <p:sp>
        <p:nvSpPr>
          <p:cNvPr id="15" name="Objective detail">
            <a:extLst>
              <a:ext uri="{FF2B5EF4-FFF2-40B4-BE49-F238E27FC236}">
                <a16:creationId xmlns:a16="http://schemas.microsoft.com/office/drawing/2014/main" id="{74CF7BC8-4A33-8E2A-819B-7BC81E2ACA84}"/>
              </a:ext>
            </a:extLst>
          </p:cNvPr>
          <p:cNvSpPr txBox="1"/>
          <p:nvPr/>
        </p:nvSpPr>
        <p:spPr>
          <a:xfrm>
            <a:off x="8686800" y="31242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300">
                <a:solidFill>
                  <a:srgbClr val="49657A"/>
                </a:solidFill>
                <a:latin typeface="Arial" panose="020B0604020202020204" pitchFamily="34" charset="0"/>
              </a:rPr>
              <a:t>Heurística explicable + TF-IDF y MLP bilingüe.</a:t>
            </a:r>
          </a:p>
        </p:txBody>
      </p:sp>
      <p:cxnSp>
        <p:nvCxnSpPr>
          <p:cNvPr id="16" name="Objective divider">
            <a:extLst>
              <a:ext uri="{FF2B5EF4-FFF2-40B4-BE49-F238E27FC236}">
                <a16:creationId xmlns:a16="http://schemas.microsoft.com/office/drawing/2014/main" id="{D0AE6C22-EF2B-D834-3D09-B2FAA737D4D0}"/>
              </a:ext>
            </a:extLst>
          </p:cNvPr>
          <p:cNvCxnSpPr/>
          <p:nvPr/>
        </p:nvCxnSpPr>
        <p:spPr>
          <a:xfrm>
            <a:off x="7874000" y="3784600"/>
            <a:ext cx="3606800" cy="0"/>
          </a:xfrm>
          <a:prstGeom prst="line">
            <a:avLst/>
          </a:prstGeom>
          <a:ln w="12700">
            <a:solidFill>
              <a:srgbClr val="DC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bjective index">
            <a:extLst>
              <a:ext uri="{FF2B5EF4-FFF2-40B4-BE49-F238E27FC236}">
                <a16:creationId xmlns:a16="http://schemas.microsoft.com/office/drawing/2014/main" id="{A0E94BA9-4EDC-BA99-6927-64649BFAAFFA}"/>
              </a:ext>
            </a:extLst>
          </p:cNvPr>
          <p:cNvSpPr txBox="1"/>
          <p:nvPr/>
        </p:nvSpPr>
        <p:spPr>
          <a:xfrm>
            <a:off x="7874000" y="3911600"/>
            <a:ext cx="584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400" b="1">
                <a:solidFill>
                  <a:srgbClr val="0F766E"/>
                </a:solidFill>
                <a:latin typeface="Arial" panose="020B0604020202020204" pitchFamily="34" charset="0"/>
              </a:rPr>
              <a:t>03</a:t>
            </a:r>
          </a:p>
        </p:txBody>
      </p:sp>
      <p:sp>
        <p:nvSpPr>
          <p:cNvPr id="18" name="Objective">
            <a:extLst>
              <a:ext uri="{FF2B5EF4-FFF2-40B4-BE49-F238E27FC236}">
                <a16:creationId xmlns:a16="http://schemas.microsoft.com/office/drawing/2014/main" id="{3052EF47-0A26-9AE8-30FD-26734D3E4176}"/>
              </a:ext>
            </a:extLst>
          </p:cNvPr>
          <p:cNvSpPr txBox="1"/>
          <p:nvPr/>
        </p:nvSpPr>
        <p:spPr>
          <a:xfrm>
            <a:off x="8686800" y="39116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b="1">
                <a:solidFill>
                  <a:srgbClr val="07131F"/>
                </a:solidFill>
                <a:latin typeface="Arial" panose="020B0604020202020204" pitchFamily="34" charset="0"/>
              </a:rPr>
              <a:t>Compartir los modelos</a:t>
            </a:r>
          </a:p>
        </p:txBody>
      </p:sp>
      <p:sp>
        <p:nvSpPr>
          <p:cNvPr id="19" name="Objective detail">
            <a:extLst>
              <a:ext uri="{FF2B5EF4-FFF2-40B4-BE49-F238E27FC236}">
                <a16:creationId xmlns:a16="http://schemas.microsoft.com/office/drawing/2014/main" id="{F47A198F-B0A5-2E5B-4254-DCAD2BA3A6FA}"/>
              </a:ext>
            </a:extLst>
          </p:cNvPr>
          <p:cNvSpPr txBox="1"/>
          <p:nvPr/>
        </p:nvSpPr>
        <p:spPr>
          <a:xfrm>
            <a:off x="8686800" y="42926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300">
                <a:solidFill>
                  <a:srgbClr val="49657A"/>
                </a:solidFill>
                <a:latin typeface="Arial" panose="020B0604020202020204" pitchFamily="34" charset="0"/>
              </a:rPr>
              <a:t>Una versión activa ES/EN para todos los clientes.</a:t>
            </a:r>
          </a:p>
        </p:txBody>
      </p:sp>
      <p:cxnSp>
        <p:nvCxnSpPr>
          <p:cNvPr id="20" name="Objective divider">
            <a:extLst>
              <a:ext uri="{FF2B5EF4-FFF2-40B4-BE49-F238E27FC236}">
                <a16:creationId xmlns:a16="http://schemas.microsoft.com/office/drawing/2014/main" id="{64A2F3F6-8B3B-5861-09B7-B7307C148C1F}"/>
              </a:ext>
            </a:extLst>
          </p:cNvPr>
          <p:cNvCxnSpPr/>
          <p:nvPr/>
        </p:nvCxnSpPr>
        <p:spPr>
          <a:xfrm>
            <a:off x="7874000" y="4953000"/>
            <a:ext cx="3606800" cy="0"/>
          </a:xfrm>
          <a:prstGeom prst="line">
            <a:avLst/>
          </a:prstGeom>
          <a:ln w="12700">
            <a:solidFill>
              <a:srgbClr val="DC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bjective index">
            <a:extLst>
              <a:ext uri="{FF2B5EF4-FFF2-40B4-BE49-F238E27FC236}">
                <a16:creationId xmlns:a16="http://schemas.microsoft.com/office/drawing/2014/main" id="{72F2C980-55C7-F1F5-8CBB-6566313010B0}"/>
              </a:ext>
            </a:extLst>
          </p:cNvPr>
          <p:cNvSpPr txBox="1"/>
          <p:nvPr/>
        </p:nvSpPr>
        <p:spPr>
          <a:xfrm>
            <a:off x="7874000" y="5080000"/>
            <a:ext cx="584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400" b="1">
                <a:solidFill>
                  <a:srgbClr val="0F766E"/>
                </a:solidFill>
                <a:latin typeface="Arial" panose="020B0604020202020204" pitchFamily="34" charset="0"/>
              </a:rPr>
              <a:t>04</a:t>
            </a:r>
          </a:p>
        </p:txBody>
      </p:sp>
      <p:sp>
        <p:nvSpPr>
          <p:cNvPr id="22" name="Objective">
            <a:extLst>
              <a:ext uri="{FF2B5EF4-FFF2-40B4-BE49-F238E27FC236}">
                <a16:creationId xmlns:a16="http://schemas.microsoft.com/office/drawing/2014/main" id="{87CC89C0-0383-3629-E5CC-7861975B4AEC}"/>
              </a:ext>
            </a:extLst>
          </p:cNvPr>
          <p:cNvSpPr txBox="1"/>
          <p:nvPr/>
        </p:nvSpPr>
        <p:spPr>
          <a:xfrm>
            <a:off x="8686800" y="50800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b="1">
                <a:solidFill>
                  <a:srgbClr val="07131F"/>
                </a:solidFill>
                <a:latin typeface="Arial" panose="020B0604020202020204" pitchFamily="34" charset="0"/>
              </a:rPr>
              <a:t>Evaluar con trazabilidad</a:t>
            </a:r>
          </a:p>
        </p:txBody>
      </p:sp>
      <p:sp>
        <p:nvSpPr>
          <p:cNvPr id="23" name="Objective detail">
            <a:extLst>
              <a:ext uri="{FF2B5EF4-FFF2-40B4-BE49-F238E27FC236}">
                <a16:creationId xmlns:a16="http://schemas.microsoft.com/office/drawing/2014/main" id="{93C1EB64-DF4F-B06E-E67C-B505043C3C58}"/>
              </a:ext>
            </a:extLst>
          </p:cNvPr>
          <p:cNvSpPr txBox="1"/>
          <p:nvPr/>
        </p:nvSpPr>
        <p:spPr>
          <a:xfrm>
            <a:off x="8686800" y="54610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300">
                <a:solidFill>
                  <a:srgbClr val="49657A"/>
                </a:solidFill>
                <a:latin typeface="Arial" panose="020B0604020202020204" pitchFamily="34" charset="0"/>
              </a:rPr>
              <a:t>Calibración separada, EML reservados y pruebas reproducibles.</a:t>
            </a:r>
          </a:p>
        </p:txBody>
      </p:sp>
    </p:spTree>
    <p:extLst>
      <p:ext uri="{BB962C8B-B14F-4D97-AF65-F5344CB8AC3E}">
        <p14:creationId xmlns:p14="http://schemas.microsoft.com/office/powerpoint/2010/main" val="6993936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>
            <a:extLst>
              <a:ext uri="{FF2B5EF4-FFF2-40B4-BE49-F238E27FC236}">
                <a16:creationId xmlns:a16="http://schemas.microsoft.com/office/drawing/2014/main" id="{2E41275C-9E4B-C10C-68DD-41E2D45D175D}"/>
              </a:ext>
            </a:extLst>
          </p:cNvPr>
          <p:cNvSpPr txBox="1"/>
          <p:nvPr/>
        </p:nvSpPr>
        <p:spPr>
          <a:xfrm>
            <a:off x="711200" y="2540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000" b="1">
                <a:solidFill>
                  <a:srgbClr val="0F766E"/>
                </a:solidFill>
                <a:latin typeface="Arial" panose="020B0604020202020204" pitchFamily="34" charset="0"/>
              </a:rPr>
              <a:t>ARQUITECTURA</a:t>
            </a:r>
          </a:p>
        </p:txBody>
      </p:sp>
      <p:sp>
        <p:nvSpPr>
          <p:cNvPr id="3" name="Slide title">
            <a:extLst>
              <a:ext uri="{FF2B5EF4-FFF2-40B4-BE49-F238E27FC236}">
                <a16:creationId xmlns:a16="http://schemas.microsoft.com/office/drawing/2014/main" id="{B6AF7868-ACD9-8A8A-78FE-3A47B3F7C977}"/>
              </a:ext>
            </a:extLst>
          </p:cNvPr>
          <p:cNvSpPr txBox="1"/>
          <p:nvPr/>
        </p:nvSpPr>
        <p:spPr>
          <a:xfrm>
            <a:off x="711200" y="533400"/>
            <a:ext cx="10769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3500" b="1">
                <a:solidFill>
                  <a:srgbClr val="07131F"/>
                </a:solidFill>
                <a:latin typeface="Arial" panose="020B0604020202020204" pitchFamily="34" charset="0"/>
              </a:rPr>
              <a:t>Sí: es una arquitectura cliente-servidor</a:t>
            </a:r>
          </a:p>
        </p:txBody>
      </p:sp>
      <p:cxnSp>
        <p:nvCxnSpPr>
          <p:cNvPr id="4" name="Accent rule">
            <a:extLst>
              <a:ext uri="{FF2B5EF4-FFF2-40B4-BE49-F238E27FC236}">
                <a16:creationId xmlns:a16="http://schemas.microsoft.com/office/drawing/2014/main" id="{02B8CCF5-E4C1-A42A-B25B-C29F495BB5BC}"/>
              </a:ext>
            </a:extLst>
          </p:cNvPr>
          <p:cNvCxnSpPr/>
          <p:nvPr/>
        </p:nvCxnSpPr>
        <p:spPr>
          <a:xfrm>
            <a:off x="711200" y="1282700"/>
            <a:ext cx="711200" cy="0"/>
          </a:xfrm>
          <a:prstGeom prst="line">
            <a:avLst/>
          </a:prstGeom>
          <a:ln w="50800">
            <a:solidFill>
              <a:srgbClr val="0D9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 author">
            <a:extLst>
              <a:ext uri="{FF2B5EF4-FFF2-40B4-BE49-F238E27FC236}">
                <a16:creationId xmlns:a16="http://schemas.microsoft.com/office/drawing/2014/main" id="{B9660DF8-9651-92FD-08F5-8973B355A43B}"/>
              </a:ext>
            </a:extLst>
          </p:cNvPr>
          <p:cNvSpPr txBox="1"/>
          <p:nvPr/>
        </p:nvSpPr>
        <p:spPr>
          <a:xfrm>
            <a:off x="711200" y="65024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900">
                <a:solidFill>
                  <a:srgbClr val="6A8192"/>
                </a:solidFill>
                <a:latin typeface="Arial" panose="020B0604020202020204" pitchFamily="34" charset="0"/>
              </a:rPr>
              <a:t>Alejandro Villarrubia García · TFG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FEB6FF0D-7F5E-9A2B-F799-021819EDDBF7}"/>
              </a:ext>
            </a:extLst>
          </p:cNvPr>
          <p:cNvSpPr txBox="1"/>
          <p:nvPr/>
        </p:nvSpPr>
        <p:spPr>
          <a:xfrm>
            <a:off x="11201400" y="6477000"/>
            <a:ext cx="279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000" b="1">
                <a:solidFill>
                  <a:srgbClr val="6A8192"/>
                </a:solidFill>
                <a:latin typeface="Arial" panose="020B0604020202020204" pitchFamily="34" charset="0"/>
              </a:rPr>
              <a:t>4</a:t>
            </a:r>
          </a:p>
        </p:txBody>
      </p:sp>
      <p:cxnSp>
        <p:nvCxnSpPr>
          <p:cNvPr id="7" name="Browser to web">
            <a:extLst>
              <a:ext uri="{FF2B5EF4-FFF2-40B4-BE49-F238E27FC236}">
                <a16:creationId xmlns:a16="http://schemas.microsoft.com/office/drawing/2014/main" id="{0504A464-E746-1E5D-66B0-8DF2983DD0A7}"/>
              </a:ext>
            </a:extLst>
          </p:cNvPr>
          <p:cNvCxnSpPr/>
          <p:nvPr/>
        </p:nvCxnSpPr>
        <p:spPr>
          <a:xfrm>
            <a:off x="2476500" y="2489200"/>
            <a:ext cx="0" cy="139700"/>
          </a:xfrm>
          <a:prstGeom prst="line">
            <a:avLst/>
          </a:prstGeom>
          <a:ln w="19050">
            <a:solidFill>
              <a:srgbClr val="49657A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Web to backend">
            <a:extLst>
              <a:ext uri="{FF2B5EF4-FFF2-40B4-BE49-F238E27FC236}">
                <a16:creationId xmlns:a16="http://schemas.microsoft.com/office/drawing/2014/main" id="{1DA21616-3D49-7367-EAA5-861C96287451}"/>
              </a:ext>
            </a:extLst>
          </p:cNvPr>
          <p:cNvCxnSpPr/>
          <p:nvPr/>
        </p:nvCxnSpPr>
        <p:spPr>
          <a:xfrm>
            <a:off x="3632200" y="3187700"/>
            <a:ext cx="2971800" cy="0"/>
          </a:xfrm>
          <a:prstGeom prst="line">
            <a:avLst/>
          </a:prstGeom>
          <a:ln w="29210">
            <a:solidFill>
              <a:srgbClr val="0F766E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Extension to backend">
            <a:extLst>
              <a:ext uri="{FF2B5EF4-FFF2-40B4-BE49-F238E27FC236}">
                <a16:creationId xmlns:a16="http://schemas.microsoft.com/office/drawing/2014/main" id="{9B0D730C-1FCF-F796-2CA9-2ED27B116B22}"/>
              </a:ext>
            </a:extLst>
          </p:cNvPr>
          <p:cNvCxnSpPr/>
          <p:nvPr/>
        </p:nvCxnSpPr>
        <p:spPr>
          <a:xfrm flipV="1">
            <a:off x="3632200" y="3848100"/>
            <a:ext cx="2971800" cy="444500"/>
          </a:xfrm>
          <a:prstGeom prst="line">
            <a:avLst/>
          </a:prstGeom>
          <a:ln w="29210">
            <a:solidFill>
              <a:srgbClr val="0F766E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Monitor to backend">
            <a:extLst>
              <a:ext uri="{FF2B5EF4-FFF2-40B4-BE49-F238E27FC236}">
                <a16:creationId xmlns:a16="http://schemas.microsoft.com/office/drawing/2014/main" id="{15728B0D-869F-1254-C3EC-E4D055F44A19}"/>
              </a:ext>
            </a:extLst>
          </p:cNvPr>
          <p:cNvCxnSpPr/>
          <p:nvPr/>
        </p:nvCxnSpPr>
        <p:spPr>
          <a:xfrm flipV="1">
            <a:off x="3632200" y="4508500"/>
            <a:ext cx="2971800" cy="889000"/>
          </a:xfrm>
          <a:prstGeom prst="line">
            <a:avLst/>
          </a:prstGeom>
          <a:ln w="29210">
            <a:solidFill>
              <a:srgbClr val="0F766E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Browser">
            <a:extLst>
              <a:ext uri="{FF2B5EF4-FFF2-40B4-BE49-F238E27FC236}">
                <a16:creationId xmlns:a16="http://schemas.microsoft.com/office/drawing/2014/main" id="{A70FF2BF-DD2E-A86C-6769-F58C0B185DD1}"/>
              </a:ext>
            </a:extLst>
          </p:cNvPr>
          <p:cNvSpPr/>
          <p:nvPr/>
        </p:nvSpPr>
        <p:spPr>
          <a:xfrm>
            <a:off x="1371600" y="1676400"/>
            <a:ext cx="2209800" cy="812800"/>
          </a:xfrm>
          <a:prstGeom prst="roundRect">
            <a:avLst/>
          </a:prstGeom>
          <a:solidFill>
            <a:srgbClr val="EAF0F3"/>
          </a:solidFill>
          <a:ln w="12700">
            <a:solidFill>
              <a:srgbClr val="DCE5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Browser title">
            <a:extLst>
              <a:ext uri="{FF2B5EF4-FFF2-40B4-BE49-F238E27FC236}">
                <a16:creationId xmlns:a16="http://schemas.microsoft.com/office/drawing/2014/main" id="{AB485445-8C65-B87F-CB5C-2628F18A512F}"/>
              </a:ext>
            </a:extLst>
          </p:cNvPr>
          <p:cNvSpPr txBox="1"/>
          <p:nvPr/>
        </p:nvSpPr>
        <p:spPr>
          <a:xfrm>
            <a:off x="1549400" y="1828800"/>
            <a:ext cx="1854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700" b="1">
                <a:solidFill>
                  <a:srgbClr val="07131F"/>
                </a:solidFill>
                <a:latin typeface="Arial" panose="020B0604020202020204" pitchFamily="34" charset="0"/>
              </a:rPr>
              <a:t>Navegador</a:t>
            </a:r>
          </a:p>
        </p:txBody>
      </p:sp>
      <p:sp>
        <p:nvSpPr>
          <p:cNvPr id="13" name="Browser body">
            <a:extLst>
              <a:ext uri="{FF2B5EF4-FFF2-40B4-BE49-F238E27FC236}">
                <a16:creationId xmlns:a16="http://schemas.microsoft.com/office/drawing/2014/main" id="{2EDBFCE8-A08E-6955-5C7D-0290CC3D1C72}"/>
              </a:ext>
            </a:extLst>
          </p:cNvPr>
          <p:cNvSpPr txBox="1"/>
          <p:nvPr/>
        </p:nvSpPr>
        <p:spPr>
          <a:xfrm>
            <a:off x="1549400" y="2171700"/>
            <a:ext cx="1854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200">
                <a:solidFill>
                  <a:srgbClr val="07131F"/>
                </a:solidFill>
                <a:latin typeface="Arial" panose="020B0604020202020204" pitchFamily="34" charset="0"/>
              </a:rPr>
              <a:t>Interfaz visible</a:t>
            </a:r>
          </a:p>
        </p:txBody>
      </p:sp>
      <p:sp>
        <p:nvSpPr>
          <p:cNvPr id="14" name="Streamlit">
            <a:extLst>
              <a:ext uri="{FF2B5EF4-FFF2-40B4-BE49-F238E27FC236}">
                <a16:creationId xmlns:a16="http://schemas.microsoft.com/office/drawing/2014/main" id="{4BA9F7A5-EA6E-796F-5821-81E332931D6D}"/>
              </a:ext>
            </a:extLst>
          </p:cNvPr>
          <p:cNvSpPr/>
          <p:nvPr/>
        </p:nvSpPr>
        <p:spPr>
          <a:xfrm>
            <a:off x="1219200" y="2628900"/>
            <a:ext cx="24130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5" name="Streamlit title">
            <a:extLst>
              <a:ext uri="{FF2B5EF4-FFF2-40B4-BE49-F238E27FC236}">
                <a16:creationId xmlns:a16="http://schemas.microsoft.com/office/drawing/2014/main" id="{8E768849-0822-84CA-7DCA-20805FCE3B71}"/>
              </a:ext>
            </a:extLst>
          </p:cNvPr>
          <p:cNvSpPr txBox="1"/>
          <p:nvPr/>
        </p:nvSpPr>
        <p:spPr>
          <a:xfrm>
            <a:off x="1397000" y="2781300"/>
            <a:ext cx="2057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700" b="1">
                <a:solidFill>
                  <a:srgbClr val="07131F"/>
                </a:solidFill>
                <a:latin typeface="Arial" panose="020B0604020202020204" pitchFamily="34" charset="0"/>
              </a:rPr>
              <a:t>Streamlit</a:t>
            </a:r>
          </a:p>
        </p:txBody>
      </p:sp>
      <p:sp>
        <p:nvSpPr>
          <p:cNvPr id="16" name="Streamlit body">
            <a:extLst>
              <a:ext uri="{FF2B5EF4-FFF2-40B4-BE49-F238E27FC236}">
                <a16:creationId xmlns:a16="http://schemas.microsoft.com/office/drawing/2014/main" id="{86F912DA-8245-9883-E3AF-E6A3E0277D89}"/>
              </a:ext>
            </a:extLst>
          </p:cNvPr>
          <p:cNvSpPr txBox="1"/>
          <p:nvPr/>
        </p:nvSpPr>
        <p:spPr>
          <a:xfrm>
            <a:off x="1397000" y="3124200"/>
            <a:ext cx="2057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200">
                <a:solidFill>
                  <a:srgbClr val="07131F"/>
                </a:solidFill>
                <a:latin typeface="Arial" panose="020B0604020202020204" pitchFamily="34" charset="0"/>
              </a:rPr>
              <a:t>Presentación y cliente HTTP</a:t>
            </a:r>
          </a:p>
        </p:txBody>
      </p:sp>
      <p:sp>
        <p:nvSpPr>
          <p:cNvPr id="17" name="Extension">
            <a:extLst>
              <a:ext uri="{FF2B5EF4-FFF2-40B4-BE49-F238E27FC236}">
                <a16:creationId xmlns:a16="http://schemas.microsoft.com/office/drawing/2014/main" id="{5ED47F8C-7EEE-FC22-91A2-50C4CF9A78A6}"/>
              </a:ext>
            </a:extLst>
          </p:cNvPr>
          <p:cNvSpPr/>
          <p:nvPr/>
        </p:nvSpPr>
        <p:spPr>
          <a:xfrm>
            <a:off x="1219200" y="3835400"/>
            <a:ext cx="24130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5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8" name="Extension title">
            <a:extLst>
              <a:ext uri="{FF2B5EF4-FFF2-40B4-BE49-F238E27FC236}">
                <a16:creationId xmlns:a16="http://schemas.microsoft.com/office/drawing/2014/main" id="{4C138AF6-7AC6-024D-CF8C-2ACE62E67B1E}"/>
              </a:ext>
            </a:extLst>
          </p:cNvPr>
          <p:cNvSpPr txBox="1"/>
          <p:nvPr/>
        </p:nvSpPr>
        <p:spPr>
          <a:xfrm>
            <a:off x="1397000" y="3987800"/>
            <a:ext cx="2057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700" b="1">
                <a:solidFill>
                  <a:srgbClr val="07131F"/>
                </a:solidFill>
                <a:latin typeface="Arial" panose="020B0604020202020204" pitchFamily="34" charset="0"/>
              </a:rPr>
              <a:t>Extensión Gmail</a:t>
            </a:r>
          </a:p>
        </p:txBody>
      </p:sp>
      <p:sp>
        <p:nvSpPr>
          <p:cNvPr id="19" name="Extension body">
            <a:extLst>
              <a:ext uri="{FF2B5EF4-FFF2-40B4-BE49-F238E27FC236}">
                <a16:creationId xmlns:a16="http://schemas.microsoft.com/office/drawing/2014/main" id="{4D06F6B0-BDFD-D1E2-70DC-DA9B24F09EB4}"/>
              </a:ext>
            </a:extLst>
          </p:cNvPr>
          <p:cNvSpPr txBox="1"/>
          <p:nvPr/>
        </p:nvSpPr>
        <p:spPr>
          <a:xfrm>
            <a:off x="1397000" y="4330700"/>
            <a:ext cx="2057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200">
                <a:solidFill>
                  <a:srgbClr val="07131F"/>
                </a:solidFill>
                <a:latin typeface="Arial" panose="020B0604020202020204" pitchFamily="34" charset="0"/>
              </a:rPr>
              <a:t>Correo visible → /analyze</a:t>
            </a:r>
          </a:p>
        </p:txBody>
      </p:sp>
      <p:sp>
        <p:nvSpPr>
          <p:cNvPr id="20" name="Monitor">
            <a:extLst>
              <a:ext uri="{FF2B5EF4-FFF2-40B4-BE49-F238E27FC236}">
                <a16:creationId xmlns:a16="http://schemas.microsoft.com/office/drawing/2014/main" id="{E1052369-FEDE-ECEA-ABE6-4464B4F85A71}"/>
              </a:ext>
            </a:extLst>
          </p:cNvPr>
          <p:cNvSpPr/>
          <p:nvPr/>
        </p:nvSpPr>
        <p:spPr>
          <a:xfrm>
            <a:off x="1219200" y="5041900"/>
            <a:ext cx="24130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5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1" name="Monitor title">
            <a:extLst>
              <a:ext uri="{FF2B5EF4-FFF2-40B4-BE49-F238E27FC236}">
                <a16:creationId xmlns:a16="http://schemas.microsoft.com/office/drawing/2014/main" id="{4CFCABB5-4C66-26DE-1875-85F832832199}"/>
              </a:ext>
            </a:extLst>
          </p:cNvPr>
          <p:cNvSpPr txBox="1"/>
          <p:nvPr/>
        </p:nvSpPr>
        <p:spPr>
          <a:xfrm>
            <a:off x="1397000" y="5194300"/>
            <a:ext cx="2057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700" b="1">
                <a:solidFill>
                  <a:srgbClr val="07131F"/>
                </a:solidFill>
                <a:latin typeface="Arial" panose="020B0604020202020204" pitchFamily="34" charset="0"/>
              </a:rPr>
              <a:t>Monitor Gmail</a:t>
            </a:r>
          </a:p>
        </p:txBody>
      </p:sp>
      <p:sp>
        <p:nvSpPr>
          <p:cNvPr id="22" name="Monitor body">
            <a:extLst>
              <a:ext uri="{FF2B5EF4-FFF2-40B4-BE49-F238E27FC236}">
                <a16:creationId xmlns:a16="http://schemas.microsoft.com/office/drawing/2014/main" id="{3106C830-9D84-6168-8947-8966B481DBB9}"/>
              </a:ext>
            </a:extLst>
          </p:cNvPr>
          <p:cNvSpPr txBox="1"/>
          <p:nvPr/>
        </p:nvSpPr>
        <p:spPr>
          <a:xfrm>
            <a:off x="1397000" y="5537200"/>
            <a:ext cx="2057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200">
                <a:solidFill>
                  <a:srgbClr val="07131F"/>
                </a:solidFill>
                <a:latin typeface="Arial" panose="020B0604020202020204" pitchFamily="34" charset="0"/>
              </a:rPr>
              <a:t>Lote + alerta Telegram</a:t>
            </a:r>
          </a:p>
        </p:txBody>
      </p:sp>
      <p:sp>
        <p:nvSpPr>
          <p:cNvPr id="23" name="Backend central">
            <a:extLst>
              <a:ext uri="{FF2B5EF4-FFF2-40B4-BE49-F238E27FC236}">
                <a16:creationId xmlns:a16="http://schemas.microsoft.com/office/drawing/2014/main" id="{B4FAF8EE-FA5D-DCD2-6F00-1C9B3BC04149}"/>
              </a:ext>
            </a:extLst>
          </p:cNvPr>
          <p:cNvSpPr/>
          <p:nvPr/>
        </p:nvSpPr>
        <p:spPr>
          <a:xfrm>
            <a:off x="6604000" y="2006600"/>
            <a:ext cx="4394200" cy="3708400"/>
          </a:xfrm>
          <a:prstGeom prst="roundRect">
            <a:avLst/>
          </a:prstGeom>
          <a:solidFill>
            <a:srgbClr val="07131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4" name="Backend title">
            <a:extLst>
              <a:ext uri="{FF2B5EF4-FFF2-40B4-BE49-F238E27FC236}">
                <a16:creationId xmlns:a16="http://schemas.microsoft.com/office/drawing/2014/main" id="{190B08A2-848E-2A6A-4B7B-EE9009AF0433}"/>
              </a:ext>
            </a:extLst>
          </p:cNvPr>
          <p:cNvSpPr txBox="1"/>
          <p:nvPr/>
        </p:nvSpPr>
        <p:spPr>
          <a:xfrm>
            <a:off x="6959600" y="2298700"/>
            <a:ext cx="3581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2000" b="1">
                <a:solidFill>
                  <a:srgbClr val="CCFBF1"/>
                </a:solidFill>
                <a:latin typeface="Arial" panose="020B0604020202020204" pitchFamily="34" charset="0"/>
              </a:rPr>
              <a:t>BACKEND CENTRAL · :8766</a:t>
            </a:r>
          </a:p>
        </p:txBody>
      </p:sp>
      <p:sp>
        <p:nvSpPr>
          <p:cNvPr id="25" name="Backend contents">
            <a:extLst>
              <a:ext uri="{FF2B5EF4-FFF2-40B4-BE49-F238E27FC236}">
                <a16:creationId xmlns:a16="http://schemas.microsoft.com/office/drawing/2014/main" id="{4E4A4DF3-4914-8303-074A-3BC8AF01CB08}"/>
              </a:ext>
            </a:extLst>
          </p:cNvPr>
          <p:cNvSpPr txBox="1"/>
          <p:nvPr/>
        </p:nvSpPr>
        <p:spPr>
          <a:xfrm>
            <a:off x="6959600" y="2908300"/>
            <a:ext cx="3429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600">
                <a:solidFill>
                  <a:srgbClr val="FFFFFF"/>
                </a:solidFill>
                <a:latin typeface="Arial" panose="020B0604020202020204" pitchFamily="34" charset="0"/>
              </a:rPr>
              <a:t>• Parser MIME / EML
• Señales heurísticas
• Modelo neuronal ES activo
• Modelo neuronal EN activo
• Entrenamiento y versionado</a:t>
            </a:r>
          </a:p>
        </p:txBody>
      </p:sp>
      <p:sp>
        <p:nvSpPr>
          <p:cNvPr id="26" name="Protocol">
            <a:extLst>
              <a:ext uri="{FF2B5EF4-FFF2-40B4-BE49-F238E27FC236}">
                <a16:creationId xmlns:a16="http://schemas.microsoft.com/office/drawing/2014/main" id="{E3809D6C-9C94-AE72-07F7-BA9DF28E81EB}"/>
              </a:ext>
            </a:extLst>
          </p:cNvPr>
          <p:cNvSpPr txBox="1"/>
          <p:nvPr/>
        </p:nvSpPr>
        <p:spPr>
          <a:xfrm>
            <a:off x="4927600" y="2819400"/>
            <a:ext cx="1168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100" b="1">
                <a:solidFill>
                  <a:srgbClr val="0F766E"/>
                </a:solidFill>
                <a:latin typeface="Arial" panose="020B0604020202020204" pitchFamily="34" charset="0"/>
              </a:rPr>
              <a:t>HTTP / JSON</a:t>
            </a:r>
          </a:p>
        </p:txBody>
      </p:sp>
      <p:sp>
        <p:nvSpPr>
          <p:cNvPr id="27" name="Architecture note">
            <a:extLst>
              <a:ext uri="{FF2B5EF4-FFF2-40B4-BE49-F238E27FC236}">
                <a16:creationId xmlns:a16="http://schemas.microsoft.com/office/drawing/2014/main" id="{4134A1BD-B508-86DB-6D5E-65A8CCD553FB}"/>
              </a:ext>
            </a:extLst>
          </p:cNvPr>
          <p:cNvSpPr txBox="1"/>
          <p:nvPr/>
        </p:nvSpPr>
        <p:spPr>
          <a:xfrm>
            <a:off x="6604000" y="5867400"/>
            <a:ext cx="4394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300">
                <a:solidFill>
                  <a:srgbClr val="49657A"/>
                </a:solidFill>
                <a:latin typeface="Arial" panose="020B0604020202020204" pitchFamily="34" charset="0"/>
              </a:rPr>
              <a:t>En la defensa ambos procesos pueden estar en el mismo equipo; siguen separados por un contrato HTTP.</a:t>
            </a:r>
          </a:p>
        </p:txBody>
      </p:sp>
    </p:spTree>
    <p:extLst>
      <p:ext uri="{BB962C8B-B14F-4D97-AF65-F5344CB8AC3E}">
        <p14:creationId xmlns:p14="http://schemas.microsoft.com/office/powerpoint/2010/main" val="24905842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>
            <a:extLst>
              <a:ext uri="{FF2B5EF4-FFF2-40B4-BE49-F238E27FC236}">
                <a16:creationId xmlns:a16="http://schemas.microsoft.com/office/drawing/2014/main" id="{466F4DAE-6965-2085-05B7-665C2CA47FB3}"/>
              </a:ext>
            </a:extLst>
          </p:cNvPr>
          <p:cNvSpPr txBox="1"/>
          <p:nvPr/>
        </p:nvSpPr>
        <p:spPr>
          <a:xfrm>
            <a:off x="711200" y="2540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000" b="1">
                <a:solidFill>
                  <a:srgbClr val="0F766E"/>
                </a:solidFill>
                <a:latin typeface="Arial" panose="020B0604020202020204" pitchFamily="34" charset="0"/>
              </a:rPr>
              <a:t>FUNCIONAMIENTO</a:t>
            </a:r>
          </a:p>
        </p:txBody>
      </p:sp>
      <p:sp>
        <p:nvSpPr>
          <p:cNvPr id="3" name="Slide title">
            <a:extLst>
              <a:ext uri="{FF2B5EF4-FFF2-40B4-BE49-F238E27FC236}">
                <a16:creationId xmlns:a16="http://schemas.microsoft.com/office/drawing/2014/main" id="{F07204E6-B6F7-E3E1-DB12-9F3447EC0DE5}"/>
              </a:ext>
            </a:extLst>
          </p:cNvPr>
          <p:cNvSpPr txBox="1"/>
          <p:nvPr/>
        </p:nvSpPr>
        <p:spPr>
          <a:xfrm>
            <a:off x="711200" y="533400"/>
            <a:ext cx="10769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3500" b="1">
                <a:solidFill>
                  <a:srgbClr val="07131F"/>
                </a:solidFill>
                <a:latin typeface="Arial" panose="020B0604020202020204" pitchFamily="34" charset="0"/>
              </a:rPr>
              <a:t>Cada correo sigue un flujo único y trazable</a:t>
            </a:r>
          </a:p>
        </p:txBody>
      </p:sp>
      <p:cxnSp>
        <p:nvCxnSpPr>
          <p:cNvPr id="4" name="Accent rule">
            <a:extLst>
              <a:ext uri="{FF2B5EF4-FFF2-40B4-BE49-F238E27FC236}">
                <a16:creationId xmlns:a16="http://schemas.microsoft.com/office/drawing/2014/main" id="{350B9602-1102-C782-29E0-10AFFCF238DB}"/>
              </a:ext>
            </a:extLst>
          </p:cNvPr>
          <p:cNvCxnSpPr/>
          <p:nvPr/>
        </p:nvCxnSpPr>
        <p:spPr>
          <a:xfrm>
            <a:off x="711200" y="1282700"/>
            <a:ext cx="711200" cy="0"/>
          </a:xfrm>
          <a:prstGeom prst="line">
            <a:avLst/>
          </a:prstGeom>
          <a:ln w="50800">
            <a:solidFill>
              <a:srgbClr val="0D9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 author">
            <a:extLst>
              <a:ext uri="{FF2B5EF4-FFF2-40B4-BE49-F238E27FC236}">
                <a16:creationId xmlns:a16="http://schemas.microsoft.com/office/drawing/2014/main" id="{EA169DE2-838B-F169-13D8-11112B5AA438}"/>
              </a:ext>
            </a:extLst>
          </p:cNvPr>
          <p:cNvSpPr txBox="1"/>
          <p:nvPr/>
        </p:nvSpPr>
        <p:spPr>
          <a:xfrm>
            <a:off x="711200" y="65024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900">
                <a:solidFill>
                  <a:srgbClr val="6A8192"/>
                </a:solidFill>
                <a:latin typeface="Arial" panose="020B0604020202020204" pitchFamily="34" charset="0"/>
              </a:rPr>
              <a:t>Alejandro Villarrubia García · TFG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59C60BCE-8471-3783-3B9B-14598AB32516}"/>
              </a:ext>
            </a:extLst>
          </p:cNvPr>
          <p:cNvSpPr txBox="1"/>
          <p:nvPr/>
        </p:nvSpPr>
        <p:spPr>
          <a:xfrm>
            <a:off x="11201400" y="6477000"/>
            <a:ext cx="279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000" b="1">
                <a:solidFill>
                  <a:srgbClr val="6A8192"/>
                </a:solidFill>
                <a:latin typeface="Arial" panose="020B0604020202020204" pitchFamily="34" charset="0"/>
              </a:rPr>
              <a:t>5</a:t>
            </a:r>
          </a:p>
        </p:txBody>
      </p:sp>
      <p:cxnSp>
        <p:nvCxnSpPr>
          <p:cNvPr id="7" name="Flow arrow 0">
            <a:extLst>
              <a:ext uri="{FF2B5EF4-FFF2-40B4-BE49-F238E27FC236}">
                <a16:creationId xmlns:a16="http://schemas.microsoft.com/office/drawing/2014/main" id="{782344CA-9CE5-728C-0351-2820976B1E34}"/>
              </a:ext>
            </a:extLst>
          </p:cNvPr>
          <p:cNvCxnSpPr/>
          <p:nvPr/>
        </p:nvCxnSpPr>
        <p:spPr>
          <a:xfrm>
            <a:off x="2540000" y="3416300"/>
            <a:ext cx="431800" cy="0"/>
          </a:xfrm>
          <a:prstGeom prst="line">
            <a:avLst/>
          </a:prstGeom>
          <a:ln w="25400">
            <a:solidFill>
              <a:srgbClr val="0D9488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Flow arrow 1">
            <a:extLst>
              <a:ext uri="{FF2B5EF4-FFF2-40B4-BE49-F238E27FC236}">
                <a16:creationId xmlns:a16="http://schemas.microsoft.com/office/drawing/2014/main" id="{99E9BEFA-3853-F14E-2967-771115D20719}"/>
              </a:ext>
            </a:extLst>
          </p:cNvPr>
          <p:cNvCxnSpPr/>
          <p:nvPr/>
        </p:nvCxnSpPr>
        <p:spPr>
          <a:xfrm>
            <a:off x="4699000" y="3416300"/>
            <a:ext cx="431800" cy="0"/>
          </a:xfrm>
          <a:prstGeom prst="line">
            <a:avLst/>
          </a:prstGeom>
          <a:ln w="25400">
            <a:solidFill>
              <a:srgbClr val="0D9488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Flow arrow 2">
            <a:extLst>
              <a:ext uri="{FF2B5EF4-FFF2-40B4-BE49-F238E27FC236}">
                <a16:creationId xmlns:a16="http://schemas.microsoft.com/office/drawing/2014/main" id="{4B9F8D7F-65E8-C038-7AB8-1989CC5048C6}"/>
              </a:ext>
            </a:extLst>
          </p:cNvPr>
          <p:cNvCxnSpPr/>
          <p:nvPr/>
        </p:nvCxnSpPr>
        <p:spPr>
          <a:xfrm>
            <a:off x="6858000" y="3416300"/>
            <a:ext cx="431800" cy="0"/>
          </a:xfrm>
          <a:prstGeom prst="line">
            <a:avLst/>
          </a:prstGeom>
          <a:ln w="25400">
            <a:solidFill>
              <a:srgbClr val="0D9488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Flow arrow 3">
            <a:extLst>
              <a:ext uri="{FF2B5EF4-FFF2-40B4-BE49-F238E27FC236}">
                <a16:creationId xmlns:a16="http://schemas.microsoft.com/office/drawing/2014/main" id="{E2B971FB-624B-C26A-7385-9CCE73662497}"/>
              </a:ext>
            </a:extLst>
          </p:cNvPr>
          <p:cNvCxnSpPr/>
          <p:nvPr/>
        </p:nvCxnSpPr>
        <p:spPr>
          <a:xfrm>
            <a:off x="9017000" y="3416300"/>
            <a:ext cx="431800" cy="0"/>
          </a:xfrm>
          <a:prstGeom prst="line">
            <a:avLst/>
          </a:prstGeom>
          <a:ln w="25400">
            <a:solidFill>
              <a:srgbClr val="0D9488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Flow node 0">
            <a:extLst>
              <a:ext uri="{FF2B5EF4-FFF2-40B4-BE49-F238E27FC236}">
                <a16:creationId xmlns:a16="http://schemas.microsoft.com/office/drawing/2014/main" id="{9473CB50-7B2F-D3F2-C88F-61230C4FAF28}"/>
              </a:ext>
            </a:extLst>
          </p:cNvPr>
          <p:cNvSpPr/>
          <p:nvPr/>
        </p:nvSpPr>
        <p:spPr>
          <a:xfrm>
            <a:off x="939800" y="3149600"/>
            <a:ext cx="533400" cy="533400"/>
          </a:xfrm>
          <a:prstGeom prst="ellipse">
            <a:avLst/>
          </a:prstGeom>
          <a:solidFill>
            <a:srgbClr val="07131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Flow number">
            <a:extLst>
              <a:ext uri="{FF2B5EF4-FFF2-40B4-BE49-F238E27FC236}">
                <a16:creationId xmlns:a16="http://schemas.microsoft.com/office/drawing/2014/main" id="{4EB1A3E8-38C5-3D93-03FA-4D6F9A84CC9A}"/>
              </a:ext>
            </a:extLst>
          </p:cNvPr>
          <p:cNvSpPr txBox="1"/>
          <p:nvPr/>
        </p:nvSpPr>
        <p:spPr>
          <a:xfrm>
            <a:off x="1028700" y="3289300"/>
            <a:ext cx="355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000" b="1">
                <a:solidFill>
                  <a:srgbClr val="FFFFFF"/>
                </a:solidFill>
                <a:latin typeface="Arial" panose="020B0604020202020204" pitchFamily="34" charset="0"/>
              </a:rPr>
              <a:t>01</a:t>
            </a:r>
          </a:p>
        </p:txBody>
      </p:sp>
      <p:sp>
        <p:nvSpPr>
          <p:cNvPr id="13" name="Flow title">
            <a:extLst>
              <a:ext uri="{FF2B5EF4-FFF2-40B4-BE49-F238E27FC236}">
                <a16:creationId xmlns:a16="http://schemas.microsoft.com/office/drawing/2014/main" id="{E02F5C4F-C9EF-98BC-6B44-2074F2B15316}"/>
              </a:ext>
            </a:extLst>
          </p:cNvPr>
          <p:cNvSpPr txBox="1"/>
          <p:nvPr/>
        </p:nvSpPr>
        <p:spPr>
          <a:xfrm>
            <a:off x="812800" y="3987800"/>
            <a:ext cx="1676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700" b="1">
                <a:solidFill>
                  <a:srgbClr val="07131F"/>
                </a:solidFill>
                <a:latin typeface="Arial" panose="020B0604020202020204" pitchFamily="34" charset="0"/>
              </a:rPr>
              <a:t>Entrada</a:t>
            </a:r>
          </a:p>
        </p:txBody>
      </p:sp>
      <p:sp>
        <p:nvSpPr>
          <p:cNvPr id="14" name="Flow detail">
            <a:extLst>
              <a:ext uri="{FF2B5EF4-FFF2-40B4-BE49-F238E27FC236}">
                <a16:creationId xmlns:a16="http://schemas.microsoft.com/office/drawing/2014/main" id="{989E0B2A-4382-4E5D-6994-B8C7C8A472A2}"/>
              </a:ext>
            </a:extLst>
          </p:cNvPr>
          <p:cNvSpPr txBox="1"/>
          <p:nvPr/>
        </p:nvSpPr>
        <p:spPr>
          <a:xfrm>
            <a:off x="736600" y="4445000"/>
            <a:ext cx="18288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pt-BR" sz="1200">
                <a:solidFill>
                  <a:srgbClr val="49657A"/>
                </a:solidFill>
                <a:latin typeface="Arial" panose="020B0604020202020204" pitchFamily="34" charset="0"/>
              </a:rPr>
              <a:t>Texto, EML o campos JSON</a:t>
            </a:r>
            <a:endParaRPr lang="es-ES" sz="1200">
              <a:solidFill>
                <a:srgbClr val="49657A"/>
              </a:solidFill>
              <a:latin typeface="Arial" panose="020B0604020202020204" pitchFamily="34" charset="0"/>
            </a:endParaRPr>
          </a:p>
        </p:txBody>
      </p:sp>
      <p:sp>
        <p:nvSpPr>
          <p:cNvPr id="15" name="Flow node 1">
            <a:extLst>
              <a:ext uri="{FF2B5EF4-FFF2-40B4-BE49-F238E27FC236}">
                <a16:creationId xmlns:a16="http://schemas.microsoft.com/office/drawing/2014/main" id="{D8701D28-290E-9E81-A8A9-E9D1C77D63CC}"/>
              </a:ext>
            </a:extLst>
          </p:cNvPr>
          <p:cNvSpPr/>
          <p:nvPr/>
        </p:nvSpPr>
        <p:spPr>
          <a:xfrm>
            <a:off x="3098800" y="3149600"/>
            <a:ext cx="533400" cy="533400"/>
          </a:xfrm>
          <a:prstGeom prst="ellipse">
            <a:avLst/>
          </a:prstGeom>
          <a:solidFill>
            <a:srgbClr val="07131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6" name="Flow number">
            <a:extLst>
              <a:ext uri="{FF2B5EF4-FFF2-40B4-BE49-F238E27FC236}">
                <a16:creationId xmlns:a16="http://schemas.microsoft.com/office/drawing/2014/main" id="{1DD05CAC-A690-FC13-E138-5E3EAEDA4BA4}"/>
              </a:ext>
            </a:extLst>
          </p:cNvPr>
          <p:cNvSpPr txBox="1"/>
          <p:nvPr/>
        </p:nvSpPr>
        <p:spPr>
          <a:xfrm>
            <a:off x="3187700" y="3289300"/>
            <a:ext cx="355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000" b="1">
                <a:solidFill>
                  <a:srgbClr val="FFFFFF"/>
                </a:solidFill>
                <a:latin typeface="Arial" panose="020B0604020202020204" pitchFamily="34" charset="0"/>
              </a:rPr>
              <a:t>02</a:t>
            </a:r>
          </a:p>
        </p:txBody>
      </p:sp>
      <p:sp>
        <p:nvSpPr>
          <p:cNvPr id="17" name="Flow title">
            <a:extLst>
              <a:ext uri="{FF2B5EF4-FFF2-40B4-BE49-F238E27FC236}">
                <a16:creationId xmlns:a16="http://schemas.microsoft.com/office/drawing/2014/main" id="{FAEBF1D3-D8A1-71BD-FF0A-97E41A4F0A8A}"/>
              </a:ext>
            </a:extLst>
          </p:cNvPr>
          <p:cNvSpPr txBox="1"/>
          <p:nvPr/>
        </p:nvSpPr>
        <p:spPr>
          <a:xfrm>
            <a:off x="2971800" y="3987800"/>
            <a:ext cx="1676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700" b="1">
                <a:solidFill>
                  <a:srgbClr val="07131F"/>
                </a:solidFill>
                <a:latin typeface="Arial" panose="020B0604020202020204" pitchFamily="34" charset="0"/>
              </a:rPr>
              <a:t>Normalización</a:t>
            </a:r>
          </a:p>
        </p:txBody>
      </p:sp>
      <p:sp>
        <p:nvSpPr>
          <p:cNvPr id="18" name="Flow detail">
            <a:extLst>
              <a:ext uri="{FF2B5EF4-FFF2-40B4-BE49-F238E27FC236}">
                <a16:creationId xmlns:a16="http://schemas.microsoft.com/office/drawing/2014/main" id="{F3F4524E-17E4-3D18-38BE-BE2158DE6AB2}"/>
              </a:ext>
            </a:extLst>
          </p:cNvPr>
          <p:cNvSpPr txBox="1"/>
          <p:nvPr/>
        </p:nvSpPr>
        <p:spPr>
          <a:xfrm>
            <a:off x="2895600" y="4445000"/>
            <a:ext cx="18288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200">
                <a:solidFill>
                  <a:srgbClr val="49657A"/>
                </a:solidFill>
                <a:latin typeface="Arial" panose="020B0604020202020204" pitchFamily="34" charset="0"/>
              </a:rPr>
              <a:t>Cabeceras, HTML, enlaces y adjuntos</a:t>
            </a:r>
          </a:p>
        </p:txBody>
      </p:sp>
      <p:sp>
        <p:nvSpPr>
          <p:cNvPr id="19" name="Flow node 2">
            <a:extLst>
              <a:ext uri="{FF2B5EF4-FFF2-40B4-BE49-F238E27FC236}">
                <a16:creationId xmlns:a16="http://schemas.microsoft.com/office/drawing/2014/main" id="{D9A622B3-2F5E-327D-AC68-6BBF18F7AECF}"/>
              </a:ext>
            </a:extLst>
          </p:cNvPr>
          <p:cNvSpPr/>
          <p:nvPr/>
        </p:nvSpPr>
        <p:spPr>
          <a:xfrm>
            <a:off x="5257800" y="3149600"/>
            <a:ext cx="533400" cy="533400"/>
          </a:xfrm>
          <a:prstGeom prst="ellipse">
            <a:avLst/>
          </a:prstGeom>
          <a:solidFill>
            <a:srgbClr val="07131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0" name="Flow number">
            <a:extLst>
              <a:ext uri="{FF2B5EF4-FFF2-40B4-BE49-F238E27FC236}">
                <a16:creationId xmlns:a16="http://schemas.microsoft.com/office/drawing/2014/main" id="{690B8E73-0D20-4431-052A-EBA1958B1223}"/>
              </a:ext>
            </a:extLst>
          </p:cNvPr>
          <p:cNvSpPr txBox="1"/>
          <p:nvPr/>
        </p:nvSpPr>
        <p:spPr>
          <a:xfrm>
            <a:off x="5346700" y="3289300"/>
            <a:ext cx="355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000" b="1">
                <a:solidFill>
                  <a:srgbClr val="FFFFFF"/>
                </a:solidFill>
                <a:latin typeface="Arial" panose="020B0604020202020204" pitchFamily="34" charset="0"/>
              </a:rPr>
              <a:t>03</a:t>
            </a:r>
          </a:p>
        </p:txBody>
      </p:sp>
      <p:sp>
        <p:nvSpPr>
          <p:cNvPr id="21" name="Flow title">
            <a:extLst>
              <a:ext uri="{FF2B5EF4-FFF2-40B4-BE49-F238E27FC236}">
                <a16:creationId xmlns:a16="http://schemas.microsoft.com/office/drawing/2014/main" id="{7480637C-BD9F-6ABB-801D-13C76D30C11E}"/>
              </a:ext>
            </a:extLst>
          </p:cNvPr>
          <p:cNvSpPr txBox="1"/>
          <p:nvPr/>
        </p:nvSpPr>
        <p:spPr>
          <a:xfrm>
            <a:off x="5130800" y="3987800"/>
            <a:ext cx="1676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700" b="1">
                <a:solidFill>
                  <a:srgbClr val="07131F"/>
                </a:solidFill>
                <a:latin typeface="Arial" panose="020B0604020202020204" pitchFamily="34" charset="0"/>
              </a:rPr>
              <a:t>Detección</a:t>
            </a:r>
          </a:p>
        </p:txBody>
      </p:sp>
      <p:sp>
        <p:nvSpPr>
          <p:cNvPr id="22" name="Flow detail">
            <a:extLst>
              <a:ext uri="{FF2B5EF4-FFF2-40B4-BE49-F238E27FC236}">
                <a16:creationId xmlns:a16="http://schemas.microsoft.com/office/drawing/2014/main" id="{74AABB22-41DF-E7FA-A2F8-AF74713FB1C2}"/>
              </a:ext>
            </a:extLst>
          </p:cNvPr>
          <p:cNvSpPr txBox="1"/>
          <p:nvPr/>
        </p:nvSpPr>
        <p:spPr>
          <a:xfrm>
            <a:off x="5054600" y="4445000"/>
            <a:ext cx="18288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200">
                <a:solidFill>
                  <a:srgbClr val="49657A"/>
                </a:solidFill>
                <a:latin typeface="Arial" panose="020B0604020202020204" pitchFamily="34" charset="0"/>
              </a:rPr>
              <a:t>Heurística + modelo por idioma</a:t>
            </a:r>
          </a:p>
        </p:txBody>
      </p:sp>
      <p:sp>
        <p:nvSpPr>
          <p:cNvPr id="23" name="Flow node 3">
            <a:extLst>
              <a:ext uri="{FF2B5EF4-FFF2-40B4-BE49-F238E27FC236}">
                <a16:creationId xmlns:a16="http://schemas.microsoft.com/office/drawing/2014/main" id="{76D9F1B9-8023-6E44-7811-3780370B0249}"/>
              </a:ext>
            </a:extLst>
          </p:cNvPr>
          <p:cNvSpPr/>
          <p:nvPr/>
        </p:nvSpPr>
        <p:spPr>
          <a:xfrm>
            <a:off x="7416800" y="3149600"/>
            <a:ext cx="533400" cy="533400"/>
          </a:xfrm>
          <a:prstGeom prst="ellipse">
            <a:avLst/>
          </a:prstGeom>
          <a:solidFill>
            <a:srgbClr val="07131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4" name="Flow number">
            <a:extLst>
              <a:ext uri="{FF2B5EF4-FFF2-40B4-BE49-F238E27FC236}">
                <a16:creationId xmlns:a16="http://schemas.microsoft.com/office/drawing/2014/main" id="{E75E48B7-BACA-DEA2-9C21-DF9FC7BB1864}"/>
              </a:ext>
            </a:extLst>
          </p:cNvPr>
          <p:cNvSpPr txBox="1"/>
          <p:nvPr/>
        </p:nvSpPr>
        <p:spPr>
          <a:xfrm>
            <a:off x="7505700" y="3289300"/>
            <a:ext cx="355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000" b="1">
                <a:solidFill>
                  <a:srgbClr val="FFFFFF"/>
                </a:solidFill>
                <a:latin typeface="Arial" panose="020B0604020202020204" pitchFamily="34" charset="0"/>
              </a:rPr>
              <a:t>04</a:t>
            </a:r>
          </a:p>
        </p:txBody>
      </p:sp>
      <p:sp>
        <p:nvSpPr>
          <p:cNvPr id="25" name="Flow title">
            <a:extLst>
              <a:ext uri="{FF2B5EF4-FFF2-40B4-BE49-F238E27FC236}">
                <a16:creationId xmlns:a16="http://schemas.microsoft.com/office/drawing/2014/main" id="{662A8C1B-7B65-B965-7E63-71B5CCF91D4D}"/>
              </a:ext>
            </a:extLst>
          </p:cNvPr>
          <p:cNvSpPr txBox="1"/>
          <p:nvPr/>
        </p:nvSpPr>
        <p:spPr>
          <a:xfrm>
            <a:off x="7289800" y="3987800"/>
            <a:ext cx="1676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700" b="1">
                <a:solidFill>
                  <a:srgbClr val="07131F"/>
                </a:solidFill>
                <a:latin typeface="Arial" panose="020B0604020202020204" pitchFamily="34" charset="0"/>
              </a:rPr>
              <a:t>Fusión</a:t>
            </a:r>
          </a:p>
        </p:txBody>
      </p:sp>
      <p:sp>
        <p:nvSpPr>
          <p:cNvPr id="26" name="Flow detail">
            <a:extLst>
              <a:ext uri="{FF2B5EF4-FFF2-40B4-BE49-F238E27FC236}">
                <a16:creationId xmlns:a16="http://schemas.microsoft.com/office/drawing/2014/main" id="{FA976926-6CCE-5B47-43A6-AE114E4FCB08}"/>
              </a:ext>
            </a:extLst>
          </p:cNvPr>
          <p:cNvSpPr txBox="1"/>
          <p:nvPr/>
        </p:nvSpPr>
        <p:spPr>
          <a:xfrm>
            <a:off x="7213600" y="4445000"/>
            <a:ext cx="18288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200">
                <a:solidFill>
                  <a:srgbClr val="49657A"/>
                </a:solidFill>
                <a:latin typeface="Arial" panose="020B0604020202020204" pitchFamily="34" charset="0"/>
              </a:rPr>
              <a:t>Pesos, umbral y alta confianza</a:t>
            </a:r>
          </a:p>
        </p:txBody>
      </p:sp>
      <p:sp>
        <p:nvSpPr>
          <p:cNvPr id="27" name="Flow node 4">
            <a:extLst>
              <a:ext uri="{FF2B5EF4-FFF2-40B4-BE49-F238E27FC236}">
                <a16:creationId xmlns:a16="http://schemas.microsoft.com/office/drawing/2014/main" id="{22702FDF-8877-D442-3512-8B8DDBDDD050}"/>
              </a:ext>
            </a:extLst>
          </p:cNvPr>
          <p:cNvSpPr/>
          <p:nvPr/>
        </p:nvSpPr>
        <p:spPr>
          <a:xfrm>
            <a:off x="9575800" y="3149600"/>
            <a:ext cx="533400" cy="533400"/>
          </a:xfrm>
          <a:prstGeom prst="ellipse">
            <a:avLst/>
          </a:prstGeom>
          <a:solidFill>
            <a:srgbClr val="0D94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8" name="Flow number">
            <a:extLst>
              <a:ext uri="{FF2B5EF4-FFF2-40B4-BE49-F238E27FC236}">
                <a16:creationId xmlns:a16="http://schemas.microsoft.com/office/drawing/2014/main" id="{2850F1C4-7347-3496-7BF0-354C3B6FFE40}"/>
              </a:ext>
            </a:extLst>
          </p:cNvPr>
          <p:cNvSpPr txBox="1"/>
          <p:nvPr/>
        </p:nvSpPr>
        <p:spPr>
          <a:xfrm>
            <a:off x="9664700" y="3289300"/>
            <a:ext cx="355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000" b="1">
                <a:solidFill>
                  <a:srgbClr val="FFFFFF"/>
                </a:solidFill>
                <a:latin typeface="Arial" panose="020B0604020202020204" pitchFamily="34" charset="0"/>
              </a:rPr>
              <a:t>05</a:t>
            </a:r>
          </a:p>
        </p:txBody>
      </p:sp>
      <p:sp>
        <p:nvSpPr>
          <p:cNvPr id="29" name="Flow title">
            <a:extLst>
              <a:ext uri="{FF2B5EF4-FFF2-40B4-BE49-F238E27FC236}">
                <a16:creationId xmlns:a16="http://schemas.microsoft.com/office/drawing/2014/main" id="{873CEC8A-FC79-685F-CC25-3B93D7231BCF}"/>
              </a:ext>
            </a:extLst>
          </p:cNvPr>
          <p:cNvSpPr txBox="1"/>
          <p:nvPr/>
        </p:nvSpPr>
        <p:spPr>
          <a:xfrm>
            <a:off x="9448800" y="3987800"/>
            <a:ext cx="1676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700" b="1">
                <a:solidFill>
                  <a:srgbClr val="07131F"/>
                </a:solidFill>
                <a:latin typeface="Arial" panose="020B0604020202020204" pitchFamily="34" charset="0"/>
              </a:rPr>
              <a:t>Respuesta</a:t>
            </a:r>
          </a:p>
        </p:txBody>
      </p:sp>
      <p:sp>
        <p:nvSpPr>
          <p:cNvPr id="30" name="Flow detail">
            <a:extLst>
              <a:ext uri="{FF2B5EF4-FFF2-40B4-BE49-F238E27FC236}">
                <a16:creationId xmlns:a16="http://schemas.microsoft.com/office/drawing/2014/main" id="{AF9AE51D-7E2F-5313-FB78-858E49D655A0}"/>
              </a:ext>
            </a:extLst>
          </p:cNvPr>
          <p:cNvSpPr txBox="1"/>
          <p:nvPr/>
        </p:nvSpPr>
        <p:spPr>
          <a:xfrm>
            <a:off x="9372600" y="4445000"/>
            <a:ext cx="18288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200">
                <a:solidFill>
                  <a:srgbClr val="49657A"/>
                </a:solidFill>
                <a:latin typeface="Arial" panose="020B0604020202020204" pitchFamily="34" charset="0"/>
              </a:rPr>
              <a:t>Riesgo, señales y explicación</a:t>
            </a:r>
          </a:p>
        </p:txBody>
      </p:sp>
      <p:sp>
        <p:nvSpPr>
          <p:cNvPr id="31" name="Flow takeaway">
            <a:extLst>
              <a:ext uri="{FF2B5EF4-FFF2-40B4-BE49-F238E27FC236}">
                <a16:creationId xmlns:a16="http://schemas.microsoft.com/office/drawing/2014/main" id="{D579FA04-5A21-2574-E654-A595BDE37A66}"/>
              </a:ext>
            </a:extLst>
          </p:cNvPr>
          <p:cNvSpPr txBox="1"/>
          <p:nvPr/>
        </p:nvSpPr>
        <p:spPr>
          <a:xfrm>
            <a:off x="1778000" y="5588000"/>
            <a:ext cx="8636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500" b="1">
                <a:solidFill>
                  <a:srgbClr val="12304A"/>
                </a:solidFill>
                <a:latin typeface="Arial" panose="020B0604020202020204" pitchFamily="34" charset="0"/>
              </a:rPr>
              <a:t>El contrato /analyze limita la entrada, devuelve una respuesta común y mantiene la lógica fuera de los clientes.</a:t>
            </a:r>
          </a:p>
        </p:txBody>
      </p:sp>
    </p:spTree>
    <p:extLst>
      <p:ext uri="{BB962C8B-B14F-4D97-AF65-F5344CB8AC3E}">
        <p14:creationId xmlns:p14="http://schemas.microsoft.com/office/powerpoint/2010/main" val="17684357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>
            <a:extLst>
              <a:ext uri="{FF2B5EF4-FFF2-40B4-BE49-F238E27FC236}">
                <a16:creationId xmlns:a16="http://schemas.microsoft.com/office/drawing/2014/main" id="{BE1B822E-EF22-F419-6248-7C1A68330BA6}"/>
              </a:ext>
            </a:extLst>
          </p:cNvPr>
          <p:cNvSpPr txBox="1"/>
          <p:nvPr/>
        </p:nvSpPr>
        <p:spPr>
          <a:xfrm>
            <a:off x="711200" y="2540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000" b="1">
                <a:solidFill>
                  <a:srgbClr val="0F766E"/>
                </a:solidFill>
                <a:latin typeface="Arial" panose="020B0604020202020204" pitchFamily="34" charset="0"/>
              </a:rPr>
              <a:t>MÉTODO</a:t>
            </a:r>
          </a:p>
        </p:txBody>
      </p:sp>
      <p:sp>
        <p:nvSpPr>
          <p:cNvPr id="3" name="Slide title">
            <a:extLst>
              <a:ext uri="{FF2B5EF4-FFF2-40B4-BE49-F238E27FC236}">
                <a16:creationId xmlns:a16="http://schemas.microsoft.com/office/drawing/2014/main" id="{247B7FFD-B610-5219-A5F6-8FC1E051AECC}"/>
              </a:ext>
            </a:extLst>
          </p:cNvPr>
          <p:cNvSpPr txBox="1"/>
          <p:nvPr/>
        </p:nvSpPr>
        <p:spPr>
          <a:xfrm>
            <a:off x="711200" y="533400"/>
            <a:ext cx="10769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3500" b="1">
                <a:solidFill>
                  <a:srgbClr val="07131F"/>
                </a:solidFill>
                <a:latin typeface="Arial" panose="020B0604020202020204" pitchFamily="34" charset="0"/>
              </a:rPr>
              <a:t>Dos detectores aportan señales complementarias</a:t>
            </a:r>
          </a:p>
        </p:txBody>
      </p:sp>
      <p:cxnSp>
        <p:nvCxnSpPr>
          <p:cNvPr id="4" name="Accent rule">
            <a:extLst>
              <a:ext uri="{FF2B5EF4-FFF2-40B4-BE49-F238E27FC236}">
                <a16:creationId xmlns:a16="http://schemas.microsoft.com/office/drawing/2014/main" id="{58A37781-8EE9-680A-0006-4B52ECCE6F7E}"/>
              </a:ext>
            </a:extLst>
          </p:cNvPr>
          <p:cNvCxnSpPr/>
          <p:nvPr/>
        </p:nvCxnSpPr>
        <p:spPr>
          <a:xfrm>
            <a:off x="711200" y="1282700"/>
            <a:ext cx="711200" cy="0"/>
          </a:xfrm>
          <a:prstGeom prst="line">
            <a:avLst/>
          </a:prstGeom>
          <a:ln w="50800">
            <a:solidFill>
              <a:srgbClr val="0D9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 author">
            <a:extLst>
              <a:ext uri="{FF2B5EF4-FFF2-40B4-BE49-F238E27FC236}">
                <a16:creationId xmlns:a16="http://schemas.microsoft.com/office/drawing/2014/main" id="{575C4859-3976-C001-B5EF-FC4E407C1B77}"/>
              </a:ext>
            </a:extLst>
          </p:cNvPr>
          <p:cNvSpPr txBox="1"/>
          <p:nvPr/>
        </p:nvSpPr>
        <p:spPr>
          <a:xfrm>
            <a:off x="711200" y="65024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900">
                <a:solidFill>
                  <a:srgbClr val="6A8192"/>
                </a:solidFill>
                <a:latin typeface="Arial" panose="020B0604020202020204" pitchFamily="34" charset="0"/>
              </a:rPr>
              <a:t>Alejandro Villarrubia García · TFG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EA46486F-CAD1-24F8-8B33-7391CF64A349}"/>
              </a:ext>
            </a:extLst>
          </p:cNvPr>
          <p:cNvSpPr txBox="1"/>
          <p:nvPr/>
        </p:nvSpPr>
        <p:spPr>
          <a:xfrm>
            <a:off x="11201400" y="6477000"/>
            <a:ext cx="279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000" b="1">
                <a:solidFill>
                  <a:srgbClr val="6A8192"/>
                </a:solidFill>
                <a:latin typeface="Arial" panose="020B0604020202020204" pitchFamily="34" charset="0"/>
              </a:rPr>
              <a:t>6</a:t>
            </a:r>
          </a:p>
        </p:txBody>
      </p:sp>
      <p:sp>
        <p:nvSpPr>
          <p:cNvPr id="7" name="Heuristic label">
            <a:extLst>
              <a:ext uri="{FF2B5EF4-FFF2-40B4-BE49-F238E27FC236}">
                <a16:creationId xmlns:a16="http://schemas.microsoft.com/office/drawing/2014/main" id="{B40DB686-7793-1835-CF78-8572F14B9634}"/>
              </a:ext>
            </a:extLst>
          </p:cNvPr>
          <p:cNvSpPr txBox="1"/>
          <p:nvPr/>
        </p:nvSpPr>
        <p:spPr>
          <a:xfrm>
            <a:off x="914400" y="17399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200" b="1">
                <a:solidFill>
                  <a:srgbClr val="0F766E"/>
                </a:solidFill>
                <a:latin typeface="Arial" panose="020B0604020202020204" pitchFamily="34" charset="0"/>
              </a:rPr>
              <a:t>HEURÍSTICA EXPLICABLE</a:t>
            </a:r>
          </a:p>
        </p:txBody>
      </p:sp>
      <p:sp>
        <p:nvSpPr>
          <p:cNvPr id="8" name="Heuristic title">
            <a:extLst>
              <a:ext uri="{FF2B5EF4-FFF2-40B4-BE49-F238E27FC236}">
                <a16:creationId xmlns:a16="http://schemas.microsoft.com/office/drawing/2014/main" id="{A5956D05-E23E-A113-55FB-3025297BEAA9}"/>
              </a:ext>
            </a:extLst>
          </p:cNvPr>
          <p:cNvSpPr txBox="1"/>
          <p:nvPr/>
        </p:nvSpPr>
        <p:spPr>
          <a:xfrm>
            <a:off x="914400" y="21590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2400" b="1">
                <a:solidFill>
                  <a:srgbClr val="07131F"/>
                </a:solidFill>
                <a:latin typeface="Arial" panose="020B0604020202020204" pitchFamily="34" charset="0"/>
              </a:rPr>
              <a:t>Inspecciona indicios concretos</a:t>
            </a:r>
          </a:p>
        </p:txBody>
      </p:sp>
      <p:sp>
        <p:nvSpPr>
          <p:cNvPr id="9" name="Heuristic list">
            <a:extLst>
              <a:ext uri="{FF2B5EF4-FFF2-40B4-BE49-F238E27FC236}">
                <a16:creationId xmlns:a16="http://schemas.microsoft.com/office/drawing/2014/main" id="{2A2417A5-BF17-337E-00D5-06CAA8FE0A09}"/>
              </a:ext>
            </a:extLst>
          </p:cNvPr>
          <p:cNvSpPr txBox="1"/>
          <p:nvPr/>
        </p:nvSpPr>
        <p:spPr>
          <a:xfrm>
            <a:off x="914400" y="28575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600">
                <a:solidFill>
                  <a:srgbClr val="49657A"/>
                </a:solidFill>
                <a:latin typeface="Arial" panose="020B0604020202020204" pitchFamily="34" charset="0"/>
              </a:rPr>
              <a:t>Autenticación SPF/DKIM/DMARC
Remitente, dominio y URLs
HTML, adjuntos y redirecciones
Urgencia, credenciales y BEC</a:t>
            </a:r>
          </a:p>
        </p:txBody>
      </p:sp>
      <p:cxnSp>
        <p:nvCxnSpPr>
          <p:cNvPr id="10" name="Detector divider">
            <a:extLst>
              <a:ext uri="{FF2B5EF4-FFF2-40B4-BE49-F238E27FC236}">
                <a16:creationId xmlns:a16="http://schemas.microsoft.com/office/drawing/2014/main" id="{8084447B-21B5-96D7-6088-7FAE63E2F91D}"/>
              </a:ext>
            </a:extLst>
          </p:cNvPr>
          <p:cNvCxnSpPr/>
          <p:nvPr/>
        </p:nvCxnSpPr>
        <p:spPr>
          <a:xfrm>
            <a:off x="6096000" y="1727200"/>
            <a:ext cx="0" cy="3225800"/>
          </a:xfrm>
          <a:prstGeom prst="line">
            <a:avLst/>
          </a:prstGeom>
          <a:ln w="17780">
            <a:solidFill>
              <a:srgbClr val="DC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Neural label">
            <a:extLst>
              <a:ext uri="{FF2B5EF4-FFF2-40B4-BE49-F238E27FC236}">
                <a16:creationId xmlns:a16="http://schemas.microsoft.com/office/drawing/2014/main" id="{284B2765-7ABA-421E-0F36-14192B5A7AD5}"/>
              </a:ext>
            </a:extLst>
          </p:cNvPr>
          <p:cNvSpPr txBox="1"/>
          <p:nvPr/>
        </p:nvSpPr>
        <p:spPr>
          <a:xfrm>
            <a:off x="6705600" y="17399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200" b="1">
                <a:solidFill>
                  <a:srgbClr val="3D8DFF"/>
                </a:solidFill>
                <a:latin typeface="Arial" panose="020B0604020202020204" pitchFamily="34" charset="0"/>
              </a:rPr>
              <a:t>CLASIFICADOR NEURONAL</a:t>
            </a:r>
          </a:p>
        </p:txBody>
      </p:sp>
      <p:sp>
        <p:nvSpPr>
          <p:cNvPr id="12" name="Neural title">
            <a:extLst>
              <a:ext uri="{FF2B5EF4-FFF2-40B4-BE49-F238E27FC236}">
                <a16:creationId xmlns:a16="http://schemas.microsoft.com/office/drawing/2014/main" id="{5EC0250D-056C-9F25-E3E1-2FC929DE0439}"/>
              </a:ext>
            </a:extLst>
          </p:cNvPr>
          <p:cNvSpPr txBox="1"/>
          <p:nvPr/>
        </p:nvSpPr>
        <p:spPr>
          <a:xfrm>
            <a:off x="6705600" y="21590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2400" b="1">
                <a:solidFill>
                  <a:srgbClr val="07131F"/>
                </a:solidFill>
                <a:latin typeface="Arial" panose="020B0604020202020204" pitchFamily="34" charset="0"/>
              </a:rPr>
              <a:t>Aprende patrones del lenguaje</a:t>
            </a:r>
          </a:p>
        </p:txBody>
      </p:sp>
      <p:sp>
        <p:nvSpPr>
          <p:cNvPr id="13" name="Neural list">
            <a:extLst>
              <a:ext uri="{FF2B5EF4-FFF2-40B4-BE49-F238E27FC236}">
                <a16:creationId xmlns:a16="http://schemas.microsoft.com/office/drawing/2014/main" id="{87B5ECCA-0026-A443-073F-5B88CD720D1F}"/>
              </a:ext>
            </a:extLst>
          </p:cNvPr>
          <p:cNvSpPr txBox="1"/>
          <p:nvPr/>
        </p:nvSpPr>
        <p:spPr>
          <a:xfrm>
            <a:off x="6705600" y="28575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600">
                <a:solidFill>
                  <a:srgbClr val="49657A"/>
                </a:solidFill>
                <a:latin typeface="Arial" panose="020B0604020202020204" pitchFamily="34" charset="0"/>
              </a:rPr>
              <a:t>TF-IDF con n-gramas
Perceptrón multicapa (MLP)
Modelos separados ES / EN
Probabilidad de phishing</a:t>
            </a:r>
          </a:p>
        </p:txBody>
      </p:sp>
      <p:sp>
        <p:nvSpPr>
          <p:cNvPr id="14" name="Combined band">
            <a:extLst>
              <a:ext uri="{FF2B5EF4-FFF2-40B4-BE49-F238E27FC236}">
                <a16:creationId xmlns:a16="http://schemas.microsoft.com/office/drawing/2014/main" id="{E05B43DE-A8B1-2790-3B0E-A8AF2F9EFF7C}"/>
              </a:ext>
            </a:extLst>
          </p:cNvPr>
          <p:cNvSpPr/>
          <p:nvPr/>
        </p:nvSpPr>
        <p:spPr>
          <a:xfrm>
            <a:off x="1574800" y="5207000"/>
            <a:ext cx="9042400" cy="787400"/>
          </a:xfrm>
          <a:prstGeom prst="rect">
            <a:avLst/>
          </a:prstGeom>
          <a:solidFill>
            <a:srgbClr val="07131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5" name="Combined label">
            <a:extLst>
              <a:ext uri="{FF2B5EF4-FFF2-40B4-BE49-F238E27FC236}">
                <a16:creationId xmlns:a16="http://schemas.microsoft.com/office/drawing/2014/main" id="{8F900BB0-F143-B387-A2B9-0AC3850DF365}"/>
              </a:ext>
            </a:extLst>
          </p:cNvPr>
          <p:cNvSpPr txBox="1"/>
          <p:nvPr/>
        </p:nvSpPr>
        <p:spPr>
          <a:xfrm>
            <a:off x="1879600" y="5461000"/>
            <a:ext cx="190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200" b="1">
                <a:solidFill>
                  <a:srgbClr val="CCFBF1"/>
                </a:solidFill>
                <a:latin typeface="Arial" panose="020B0604020202020204" pitchFamily="34" charset="0"/>
              </a:rPr>
              <a:t>MODO COMBINADO</a:t>
            </a:r>
          </a:p>
        </p:txBody>
      </p:sp>
      <p:sp>
        <p:nvSpPr>
          <p:cNvPr id="16" name="Combined formula">
            <a:extLst>
              <a:ext uri="{FF2B5EF4-FFF2-40B4-BE49-F238E27FC236}">
                <a16:creationId xmlns:a16="http://schemas.microsoft.com/office/drawing/2014/main" id="{C9303B88-AFEF-38F5-CD9B-9F5EF0C3B70F}"/>
              </a:ext>
            </a:extLst>
          </p:cNvPr>
          <p:cNvSpPr txBox="1"/>
          <p:nvPr/>
        </p:nvSpPr>
        <p:spPr>
          <a:xfrm>
            <a:off x="4038600" y="5397500"/>
            <a:ext cx="622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spcAft>
                <a:spcPts val="400"/>
              </a:spcAft>
            </a:pPr>
            <a:r>
              <a:rPr lang="es-ES" b="1">
                <a:solidFill>
                  <a:srgbClr val="FFFFFF"/>
                </a:solidFill>
                <a:latin typeface="Arial" panose="020B0604020202020204" pitchFamily="34" charset="0"/>
              </a:rPr>
              <a:t>35/65 · umbral 26 · alta confianza ≥ 70</a:t>
            </a:r>
          </a:p>
        </p:txBody>
      </p:sp>
    </p:spTree>
    <p:extLst>
      <p:ext uri="{BB962C8B-B14F-4D97-AF65-F5344CB8AC3E}">
        <p14:creationId xmlns:p14="http://schemas.microsoft.com/office/powerpoint/2010/main" val="11820337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>
            <a:extLst>
              <a:ext uri="{FF2B5EF4-FFF2-40B4-BE49-F238E27FC236}">
                <a16:creationId xmlns:a16="http://schemas.microsoft.com/office/drawing/2014/main" id="{C6E5CFC8-CE3A-C4FC-AFB2-14638DADA75F}"/>
              </a:ext>
            </a:extLst>
          </p:cNvPr>
          <p:cNvSpPr txBox="1"/>
          <p:nvPr/>
        </p:nvSpPr>
        <p:spPr>
          <a:xfrm>
            <a:off x="711200" y="2540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000" b="1">
                <a:solidFill>
                  <a:srgbClr val="0F766E"/>
                </a:solidFill>
                <a:latin typeface="Arial" panose="020B0604020202020204" pitchFamily="34" charset="0"/>
              </a:rPr>
              <a:t>CENTRALIZACIÓN</a:t>
            </a:r>
          </a:p>
        </p:txBody>
      </p:sp>
      <p:sp>
        <p:nvSpPr>
          <p:cNvPr id="3" name="Slide title">
            <a:extLst>
              <a:ext uri="{FF2B5EF4-FFF2-40B4-BE49-F238E27FC236}">
                <a16:creationId xmlns:a16="http://schemas.microsoft.com/office/drawing/2014/main" id="{5C852E7B-E470-F918-12F7-5CF6084E1041}"/>
              </a:ext>
            </a:extLst>
          </p:cNvPr>
          <p:cNvSpPr txBox="1"/>
          <p:nvPr/>
        </p:nvSpPr>
        <p:spPr>
          <a:xfrm>
            <a:off x="711200" y="533400"/>
            <a:ext cx="10769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3500" b="1">
                <a:solidFill>
                  <a:srgbClr val="07131F"/>
                </a:solidFill>
                <a:latin typeface="Arial" panose="020B0604020202020204" pitchFamily="34" charset="0"/>
              </a:rPr>
              <a:t>Una versión activa sirve a todos los clientes</a:t>
            </a:r>
          </a:p>
        </p:txBody>
      </p:sp>
      <p:cxnSp>
        <p:nvCxnSpPr>
          <p:cNvPr id="4" name="Accent rule">
            <a:extLst>
              <a:ext uri="{FF2B5EF4-FFF2-40B4-BE49-F238E27FC236}">
                <a16:creationId xmlns:a16="http://schemas.microsoft.com/office/drawing/2014/main" id="{0EE9AF27-903C-04B0-ED9B-E43726DAB1E6}"/>
              </a:ext>
            </a:extLst>
          </p:cNvPr>
          <p:cNvCxnSpPr/>
          <p:nvPr/>
        </p:nvCxnSpPr>
        <p:spPr>
          <a:xfrm>
            <a:off x="711200" y="1282700"/>
            <a:ext cx="711200" cy="0"/>
          </a:xfrm>
          <a:prstGeom prst="line">
            <a:avLst/>
          </a:prstGeom>
          <a:ln w="50800">
            <a:solidFill>
              <a:srgbClr val="0D9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 author">
            <a:extLst>
              <a:ext uri="{FF2B5EF4-FFF2-40B4-BE49-F238E27FC236}">
                <a16:creationId xmlns:a16="http://schemas.microsoft.com/office/drawing/2014/main" id="{9AE137A5-033F-7306-88F4-FFCD25E6BCDF}"/>
              </a:ext>
            </a:extLst>
          </p:cNvPr>
          <p:cNvSpPr txBox="1"/>
          <p:nvPr/>
        </p:nvSpPr>
        <p:spPr>
          <a:xfrm>
            <a:off x="711200" y="65024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900">
                <a:solidFill>
                  <a:srgbClr val="6A8192"/>
                </a:solidFill>
                <a:latin typeface="Arial" panose="020B0604020202020204" pitchFamily="34" charset="0"/>
              </a:rPr>
              <a:t>Alejandro Villarrubia García · TFG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ABFF8058-2CD9-2AC9-FBB6-20133D571972}"/>
              </a:ext>
            </a:extLst>
          </p:cNvPr>
          <p:cNvSpPr txBox="1"/>
          <p:nvPr/>
        </p:nvSpPr>
        <p:spPr>
          <a:xfrm>
            <a:off x="11201400" y="6477000"/>
            <a:ext cx="279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000" b="1">
                <a:solidFill>
                  <a:srgbClr val="6A8192"/>
                </a:solidFill>
                <a:latin typeface="Arial" panose="020B0604020202020204" pitchFamily="34" charset="0"/>
              </a:rPr>
              <a:t>7</a:t>
            </a:r>
          </a:p>
        </p:txBody>
      </p:sp>
      <p:cxnSp>
        <p:nvCxnSpPr>
          <p:cNvPr id="7" name="Model timeline">
            <a:extLst>
              <a:ext uri="{FF2B5EF4-FFF2-40B4-BE49-F238E27FC236}">
                <a16:creationId xmlns:a16="http://schemas.microsoft.com/office/drawing/2014/main" id="{62EB094F-98C1-7DEA-7C68-E3E4FC97719F}"/>
              </a:ext>
            </a:extLst>
          </p:cNvPr>
          <p:cNvCxnSpPr/>
          <p:nvPr/>
        </p:nvCxnSpPr>
        <p:spPr>
          <a:xfrm>
            <a:off x="1244600" y="3454400"/>
            <a:ext cx="9702800" cy="0"/>
          </a:xfrm>
          <a:prstGeom prst="line">
            <a:avLst/>
          </a:prstGeom>
          <a:ln w="19050">
            <a:solidFill>
              <a:srgbClr val="0713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imeline dot">
            <a:extLst>
              <a:ext uri="{FF2B5EF4-FFF2-40B4-BE49-F238E27FC236}">
                <a16:creationId xmlns:a16="http://schemas.microsoft.com/office/drawing/2014/main" id="{DD685D89-454A-B0DF-E775-24A0E18E4398}"/>
              </a:ext>
            </a:extLst>
          </p:cNvPr>
          <p:cNvSpPr/>
          <p:nvPr/>
        </p:nvSpPr>
        <p:spPr>
          <a:xfrm>
            <a:off x="1536700" y="3365500"/>
            <a:ext cx="177800" cy="177800"/>
          </a:xfrm>
          <a:prstGeom prst="ellipse">
            <a:avLst/>
          </a:prstGeom>
          <a:solidFill>
            <a:srgbClr val="0D94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Timeline dot">
            <a:extLst>
              <a:ext uri="{FF2B5EF4-FFF2-40B4-BE49-F238E27FC236}">
                <a16:creationId xmlns:a16="http://schemas.microsoft.com/office/drawing/2014/main" id="{B2CFA66B-76DC-CD55-3DCC-C394154FCFC2}"/>
              </a:ext>
            </a:extLst>
          </p:cNvPr>
          <p:cNvSpPr/>
          <p:nvPr/>
        </p:nvSpPr>
        <p:spPr>
          <a:xfrm>
            <a:off x="5245100" y="3365500"/>
            <a:ext cx="177800" cy="177800"/>
          </a:xfrm>
          <a:prstGeom prst="ellipse">
            <a:avLst/>
          </a:prstGeom>
          <a:solidFill>
            <a:srgbClr val="0D94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Timeline dot">
            <a:extLst>
              <a:ext uri="{FF2B5EF4-FFF2-40B4-BE49-F238E27FC236}">
                <a16:creationId xmlns:a16="http://schemas.microsoft.com/office/drawing/2014/main" id="{D4336369-4931-8700-1B84-A6267026CA2F}"/>
              </a:ext>
            </a:extLst>
          </p:cNvPr>
          <p:cNvSpPr/>
          <p:nvPr/>
        </p:nvSpPr>
        <p:spPr>
          <a:xfrm>
            <a:off x="8953500" y="3365500"/>
            <a:ext cx="177800" cy="177800"/>
          </a:xfrm>
          <a:prstGeom prst="ellipse">
            <a:avLst/>
          </a:prstGeom>
          <a:solidFill>
            <a:srgbClr val="0D94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Timeline label">
            <a:extLst>
              <a:ext uri="{FF2B5EF4-FFF2-40B4-BE49-F238E27FC236}">
                <a16:creationId xmlns:a16="http://schemas.microsoft.com/office/drawing/2014/main" id="{F7E7D5EA-DDD1-442A-CE68-31498D8B9B56}"/>
              </a:ext>
            </a:extLst>
          </p:cNvPr>
          <p:cNvSpPr txBox="1"/>
          <p:nvPr/>
        </p:nvSpPr>
        <p:spPr>
          <a:xfrm>
            <a:off x="1092200" y="2590800"/>
            <a:ext cx="3048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200" b="1">
                <a:solidFill>
                  <a:srgbClr val="0F766E"/>
                </a:solidFill>
                <a:latin typeface="Arial" panose="020B0604020202020204" pitchFamily="34" charset="0"/>
              </a:rPr>
              <a:t>01 · ENTRENAR</a:t>
            </a:r>
          </a:p>
        </p:txBody>
      </p:sp>
      <p:sp>
        <p:nvSpPr>
          <p:cNvPr id="12" name="Timeline title">
            <a:extLst>
              <a:ext uri="{FF2B5EF4-FFF2-40B4-BE49-F238E27FC236}">
                <a16:creationId xmlns:a16="http://schemas.microsoft.com/office/drawing/2014/main" id="{5F859071-B4FD-D410-FBB7-4B69742F4677}"/>
              </a:ext>
            </a:extLst>
          </p:cNvPr>
          <p:cNvSpPr txBox="1"/>
          <p:nvPr/>
        </p:nvSpPr>
        <p:spPr>
          <a:xfrm>
            <a:off x="1092200" y="3962400"/>
            <a:ext cx="3048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b="1">
                <a:solidFill>
                  <a:srgbClr val="07131F"/>
                </a:solidFill>
                <a:latin typeface="Arial" panose="020B0604020202020204" pitchFamily="34" charset="0"/>
              </a:rPr>
              <a:t>El cliente envía CSV e hiperparámetros</a:t>
            </a:r>
          </a:p>
        </p:txBody>
      </p:sp>
      <p:sp>
        <p:nvSpPr>
          <p:cNvPr id="13" name="Timeline detail">
            <a:extLst>
              <a:ext uri="{FF2B5EF4-FFF2-40B4-BE49-F238E27FC236}">
                <a16:creationId xmlns:a16="http://schemas.microsoft.com/office/drawing/2014/main" id="{FAC8D21B-8818-658B-4588-C6EBD5EF3F20}"/>
              </a:ext>
            </a:extLst>
          </p:cNvPr>
          <p:cNvSpPr txBox="1"/>
          <p:nvPr/>
        </p:nvSpPr>
        <p:spPr>
          <a:xfrm>
            <a:off x="1092200" y="47498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400">
                <a:solidFill>
                  <a:srgbClr val="49657A"/>
                </a:solidFill>
                <a:latin typeface="Arial" panose="020B0604020202020204" pitchFamily="34" charset="0"/>
              </a:rPr>
              <a:t>El backend crea un pipeline nuevo desde cero.</a:t>
            </a:r>
          </a:p>
        </p:txBody>
      </p:sp>
      <p:sp>
        <p:nvSpPr>
          <p:cNvPr id="14" name="Timeline label">
            <a:extLst>
              <a:ext uri="{FF2B5EF4-FFF2-40B4-BE49-F238E27FC236}">
                <a16:creationId xmlns:a16="http://schemas.microsoft.com/office/drawing/2014/main" id="{21292976-2783-D2B3-5891-A9B41D3B932B}"/>
              </a:ext>
            </a:extLst>
          </p:cNvPr>
          <p:cNvSpPr txBox="1"/>
          <p:nvPr/>
        </p:nvSpPr>
        <p:spPr>
          <a:xfrm>
            <a:off x="4800600" y="2590800"/>
            <a:ext cx="3048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200" b="1">
                <a:solidFill>
                  <a:srgbClr val="0F766E"/>
                </a:solidFill>
                <a:latin typeface="Arial" panose="020B0604020202020204" pitchFamily="34" charset="0"/>
              </a:rPr>
              <a:t>02 · ACTIVAR</a:t>
            </a:r>
          </a:p>
        </p:txBody>
      </p:sp>
      <p:sp>
        <p:nvSpPr>
          <p:cNvPr id="15" name="Timeline title">
            <a:extLst>
              <a:ext uri="{FF2B5EF4-FFF2-40B4-BE49-F238E27FC236}">
                <a16:creationId xmlns:a16="http://schemas.microsoft.com/office/drawing/2014/main" id="{E7960372-12A5-B4C9-D0BD-817A235BA071}"/>
              </a:ext>
            </a:extLst>
          </p:cNvPr>
          <p:cNvSpPr txBox="1"/>
          <p:nvPr/>
        </p:nvSpPr>
        <p:spPr>
          <a:xfrm>
            <a:off x="4800600" y="3962400"/>
            <a:ext cx="3048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b="1">
                <a:solidFill>
                  <a:srgbClr val="07131F"/>
                </a:solidFill>
                <a:latin typeface="Arial" panose="020B0604020202020204" pitchFamily="34" charset="0"/>
              </a:rPr>
              <a:t>Guardado atómico y caché invalidada</a:t>
            </a:r>
          </a:p>
        </p:txBody>
      </p:sp>
      <p:sp>
        <p:nvSpPr>
          <p:cNvPr id="16" name="Timeline detail">
            <a:extLst>
              <a:ext uri="{FF2B5EF4-FFF2-40B4-BE49-F238E27FC236}">
                <a16:creationId xmlns:a16="http://schemas.microsoft.com/office/drawing/2014/main" id="{6BE4A2DD-666D-1141-7538-423A75F0856D}"/>
              </a:ext>
            </a:extLst>
          </p:cNvPr>
          <p:cNvSpPr txBox="1"/>
          <p:nvPr/>
        </p:nvSpPr>
        <p:spPr>
          <a:xfrm>
            <a:off x="4800600" y="47498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400">
                <a:solidFill>
                  <a:srgbClr val="49657A"/>
                </a:solidFill>
                <a:latin typeface="Arial" panose="020B0604020202020204" pitchFamily="34" charset="0"/>
              </a:rPr>
              <a:t>Una versión activa por idioma: ES y EN.</a:t>
            </a:r>
          </a:p>
        </p:txBody>
      </p:sp>
      <p:sp>
        <p:nvSpPr>
          <p:cNvPr id="17" name="Timeline label">
            <a:extLst>
              <a:ext uri="{FF2B5EF4-FFF2-40B4-BE49-F238E27FC236}">
                <a16:creationId xmlns:a16="http://schemas.microsoft.com/office/drawing/2014/main" id="{DC72E2EF-AA54-15A8-669B-814461EFFDDE}"/>
              </a:ext>
            </a:extLst>
          </p:cNvPr>
          <p:cNvSpPr txBox="1"/>
          <p:nvPr/>
        </p:nvSpPr>
        <p:spPr>
          <a:xfrm>
            <a:off x="8509000" y="2590800"/>
            <a:ext cx="3048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200" b="1">
                <a:solidFill>
                  <a:srgbClr val="0F766E"/>
                </a:solidFill>
                <a:latin typeface="Arial" panose="020B0604020202020204" pitchFamily="34" charset="0"/>
              </a:rPr>
              <a:t>03 · COMPARTIR</a:t>
            </a:r>
          </a:p>
        </p:txBody>
      </p:sp>
      <p:sp>
        <p:nvSpPr>
          <p:cNvPr id="18" name="Timeline title">
            <a:extLst>
              <a:ext uri="{FF2B5EF4-FFF2-40B4-BE49-F238E27FC236}">
                <a16:creationId xmlns:a16="http://schemas.microsoft.com/office/drawing/2014/main" id="{00B040CC-BF22-8A02-7ED7-D200A5C0930F}"/>
              </a:ext>
            </a:extLst>
          </p:cNvPr>
          <p:cNvSpPr txBox="1"/>
          <p:nvPr/>
        </p:nvSpPr>
        <p:spPr>
          <a:xfrm>
            <a:off x="8509000" y="3962400"/>
            <a:ext cx="3048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b="1">
                <a:solidFill>
                  <a:srgbClr val="07131F"/>
                </a:solidFill>
                <a:latin typeface="Arial" panose="020B0604020202020204" pitchFamily="34" charset="0"/>
              </a:rPr>
              <a:t>Web, extensión y monitor</a:t>
            </a:r>
          </a:p>
        </p:txBody>
      </p:sp>
      <p:sp>
        <p:nvSpPr>
          <p:cNvPr id="19" name="Timeline detail">
            <a:extLst>
              <a:ext uri="{FF2B5EF4-FFF2-40B4-BE49-F238E27FC236}">
                <a16:creationId xmlns:a16="http://schemas.microsoft.com/office/drawing/2014/main" id="{C698968A-EB96-E134-10BE-46EF0A85BEC8}"/>
              </a:ext>
            </a:extLst>
          </p:cNvPr>
          <p:cNvSpPr txBox="1"/>
          <p:nvPr/>
        </p:nvSpPr>
        <p:spPr>
          <a:xfrm>
            <a:off x="8509000" y="47498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400">
                <a:solidFill>
                  <a:srgbClr val="49657A"/>
                </a:solidFill>
                <a:latin typeface="Arial" panose="020B0604020202020204" pitchFamily="34" charset="0"/>
              </a:rPr>
              <a:t>La siguiente petición usa la versión nueva.</a:t>
            </a:r>
          </a:p>
        </p:txBody>
      </p:sp>
      <p:sp>
        <p:nvSpPr>
          <p:cNvPr id="20" name="Central takeaway">
            <a:extLst>
              <a:ext uri="{FF2B5EF4-FFF2-40B4-BE49-F238E27FC236}">
                <a16:creationId xmlns:a16="http://schemas.microsoft.com/office/drawing/2014/main" id="{12790EA6-A1D8-9FD4-21F7-72D7344B57CA}"/>
              </a:ext>
            </a:extLst>
          </p:cNvPr>
          <p:cNvSpPr txBox="1"/>
          <p:nvPr/>
        </p:nvSpPr>
        <p:spPr>
          <a:xfrm>
            <a:off x="1981200" y="5727700"/>
            <a:ext cx="8229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b="1">
                <a:solidFill>
                  <a:srgbClr val="12304A"/>
                </a:solidFill>
                <a:latin typeface="Arial" panose="020B0604020202020204" pitchFamily="34" charset="0"/>
              </a:rPr>
              <a:t>Resultado: cambiar el modelo en el servidor actualiza a todos sin reinstalar clientes.</a:t>
            </a:r>
          </a:p>
        </p:txBody>
      </p:sp>
    </p:spTree>
    <p:extLst>
      <p:ext uri="{BB962C8B-B14F-4D97-AF65-F5344CB8AC3E}">
        <p14:creationId xmlns:p14="http://schemas.microsoft.com/office/powerpoint/2010/main" val="15568400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>
            <a:extLst>
              <a:ext uri="{FF2B5EF4-FFF2-40B4-BE49-F238E27FC236}">
                <a16:creationId xmlns:a16="http://schemas.microsoft.com/office/drawing/2014/main" id="{76B3E46A-9C80-B88E-8F95-59FDE6E00AF4}"/>
              </a:ext>
            </a:extLst>
          </p:cNvPr>
          <p:cNvSpPr txBox="1"/>
          <p:nvPr/>
        </p:nvSpPr>
        <p:spPr>
          <a:xfrm>
            <a:off x="711200" y="2540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000" b="1">
                <a:solidFill>
                  <a:srgbClr val="0F766E"/>
                </a:solidFill>
                <a:latin typeface="Arial" panose="020B0604020202020204" pitchFamily="34" charset="0"/>
              </a:rPr>
              <a:t>IMPLEMENTACIÓN</a:t>
            </a:r>
          </a:p>
        </p:txBody>
      </p:sp>
      <p:sp>
        <p:nvSpPr>
          <p:cNvPr id="3" name="Slide title">
            <a:extLst>
              <a:ext uri="{FF2B5EF4-FFF2-40B4-BE49-F238E27FC236}">
                <a16:creationId xmlns:a16="http://schemas.microsoft.com/office/drawing/2014/main" id="{DF09C5A4-11DF-6437-2491-4C5FB06811B1}"/>
              </a:ext>
            </a:extLst>
          </p:cNvPr>
          <p:cNvSpPr txBox="1"/>
          <p:nvPr/>
        </p:nvSpPr>
        <p:spPr>
          <a:xfrm>
            <a:off x="711200" y="533400"/>
            <a:ext cx="10769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3500" b="1">
                <a:solidFill>
                  <a:srgbClr val="07131F"/>
                </a:solidFill>
                <a:latin typeface="Arial" panose="020B0604020202020204" pitchFamily="34" charset="0"/>
              </a:rPr>
              <a:t>La tecnología prioriza claridad y control</a:t>
            </a:r>
          </a:p>
        </p:txBody>
      </p:sp>
      <p:cxnSp>
        <p:nvCxnSpPr>
          <p:cNvPr id="4" name="Accent rule">
            <a:extLst>
              <a:ext uri="{FF2B5EF4-FFF2-40B4-BE49-F238E27FC236}">
                <a16:creationId xmlns:a16="http://schemas.microsoft.com/office/drawing/2014/main" id="{00DD077F-E84E-30E1-A4AD-CD4247282C50}"/>
              </a:ext>
            </a:extLst>
          </p:cNvPr>
          <p:cNvCxnSpPr/>
          <p:nvPr/>
        </p:nvCxnSpPr>
        <p:spPr>
          <a:xfrm>
            <a:off x="711200" y="1282700"/>
            <a:ext cx="711200" cy="0"/>
          </a:xfrm>
          <a:prstGeom prst="line">
            <a:avLst/>
          </a:prstGeom>
          <a:ln w="50800">
            <a:solidFill>
              <a:srgbClr val="0D9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 author">
            <a:extLst>
              <a:ext uri="{FF2B5EF4-FFF2-40B4-BE49-F238E27FC236}">
                <a16:creationId xmlns:a16="http://schemas.microsoft.com/office/drawing/2014/main" id="{0D418B9B-0220-FDC8-0C56-73BAEF508D02}"/>
              </a:ext>
            </a:extLst>
          </p:cNvPr>
          <p:cNvSpPr txBox="1"/>
          <p:nvPr/>
        </p:nvSpPr>
        <p:spPr>
          <a:xfrm>
            <a:off x="711200" y="65024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900">
                <a:solidFill>
                  <a:srgbClr val="6A8192"/>
                </a:solidFill>
                <a:latin typeface="Arial" panose="020B0604020202020204" pitchFamily="34" charset="0"/>
              </a:rPr>
              <a:t>Alejandro Villarrubia García · TFG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C0937625-6240-0B74-E5C3-BEB26C85AFEB}"/>
              </a:ext>
            </a:extLst>
          </p:cNvPr>
          <p:cNvSpPr txBox="1"/>
          <p:nvPr/>
        </p:nvSpPr>
        <p:spPr>
          <a:xfrm>
            <a:off x="11201400" y="6477000"/>
            <a:ext cx="279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000" b="1">
                <a:solidFill>
                  <a:srgbClr val="6A8192"/>
                </a:solidFill>
                <a:latin typeface="Arial" panose="020B0604020202020204" pitchFamily="34" charset="0"/>
              </a:rPr>
              <a:t>8</a:t>
            </a:r>
          </a:p>
        </p:txBody>
      </p:sp>
      <p:sp>
        <p:nvSpPr>
          <p:cNvPr id="7" name="Tech label">
            <a:extLst>
              <a:ext uri="{FF2B5EF4-FFF2-40B4-BE49-F238E27FC236}">
                <a16:creationId xmlns:a16="http://schemas.microsoft.com/office/drawing/2014/main" id="{72351E62-D56A-BAB2-F2C4-84F8F7780735}"/>
              </a:ext>
            </a:extLst>
          </p:cNvPr>
          <p:cNvSpPr txBox="1"/>
          <p:nvPr/>
        </p:nvSpPr>
        <p:spPr>
          <a:xfrm>
            <a:off x="863600" y="1676400"/>
            <a:ext cx="406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100" b="1">
                <a:solidFill>
                  <a:srgbClr val="0F766E"/>
                </a:solidFill>
                <a:latin typeface="Arial" panose="020B0604020202020204" pitchFamily="34" charset="0"/>
              </a:rPr>
              <a:t>DECISIONES</a:t>
            </a:r>
          </a:p>
        </p:txBody>
      </p:sp>
      <p:sp>
        <p:nvSpPr>
          <p:cNvPr id="8" name="Python">
            <a:extLst>
              <a:ext uri="{FF2B5EF4-FFF2-40B4-BE49-F238E27FC236}">
                <a16:creationId xmlns:a16="http://schemas.microsoft.com/office/drawing/2014/main" id="{90EE45C0-0FD9-C8F9-3E34-356CC2F536E4}"/>
              </a:ext>
            </a:extLst>
          </p:cNvPr>
          <p:cNvSpPr txBox="1"/>
          <p:nvPr/>
        </p:nvSpPr>
        <p:spPr>
          <a:xfrm>
            <a:off x="863600" y="2159000"/>
            <a:ext cx="2286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2100" b="1">
                <a:solidFill>
                  <a:srgbClr val="07131F"/>
                </a:solidFill>
                <a:latin typeface="Arial" panose="020B0604020202020204" pitchFamily="34" charset="0"/>
              </a:rPr>
              <a:t>Python</a:t>
            </a:r>
          </a:p>
        </p:txBody>
      </p:sp>
      <p:sp>
        <p:nvSpPr>
          <p:cNvPr id="9" name="Python reason">
            <a:extLst>
              <a:ext uri="{FF2B5EF4-FFF2-40B4-BE49-F238E27FC236}">
                <a16:creationId xmlns:a16="http://schemas.microsoft.com/office/drawing/2014/main" id="{2A4CC80B-F9CE-79B5-1938-5B67E3ABF055}"/>
              </a:ext>
            </a:extLst>
          </p:cNvPr>
          <p:cNvSpPr txBox="1"/>
          <p:nvPr/>
        </p:nvSpPr>
        <p:spPr>
          <a:xfrm>
            <a:off x="3175000" y="2184400"/>
            <a:ext cx="241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400">
                <a:solidFill>
                  <a:srgbClr val="49657A"/>
                </a:solidFill>
                <a:latin typeface="Arial" panose="020B0604020202020204" pitchFamily="34" charset="0"/>
              </a:rPr>
              <a:t>Núcleo, API, pruebas y automatización.</a:t>
            </a:r>
          </a:p>
        </p:txBody>
      </p:sp>
      <p:cxnSp>
        <p:nvCxnSpPr>
          <p:cNvPr id="10" name="Tech line">
            <a:extLst>
              <a:ext uri="{FF2B5EF4-FFF2-40B4-BE49-F238E27FC236}">
                <a16:creationId xmlns:a16="http://schemas.microsoft.com/office/drawing/2014/main" id="{C775CA6D-1032-4452-930D-7D8070E4163A}"/>
              </a:ext>
            </a:extLst>
          </p:cNvPr>
          <p:cNvCxnSpPr/>
          <p:nvPr/>
        </p:nvCxnSpPr>
        <p:spPr>
          <a:xfrm>
            <a:off x="863600" y="2844800"/>
            <a:ext cx="4724400" cy="0"/>
          </a:xfrm>
          <a:prstGeom prst="line">
            <a:avLst/>
          </a:prstGeom>
          <a:ln w="12700">
            <a:solidFill>
              <a:srgbClr val="DC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Streamlit tech">
            <a:extLst>
              <a:ext uri="{FF2B5EF4-FFF2-40B4-BE49-F238E27FC236}">
                <a16:creationId xmlns:a16="http://schemas.microsoft.com/office/drawing/2014/main" id="{781EE359-B5AF-4201-FCA4-AA45C42690B6}"/>
              </a:ext>
            </a:extLst>
          </p:cNvPr>
          <p:cNvSpPr txBox="1"/>
          <p:nvPr/>
        </p:nvSpPr>
        <p:spPr>
          <a:xfrm>
            <a:off x="863600" y="3124200"/>
            <a:ext cx="2286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2100" b="1">
                <a:solidFill>
                  <a:srgbClr val="07131F"/>
                </a:solidFill>
                <a:latin typeface="Arial" panose="020B0604020202020204" pitchFamily="34" charset="0"/>
              </a:rPr>
              <a:t>Streamlit</a:t>
            </a:r>
          </a:p>
        </p:txBody>
      </p:sp>
      <p:sp>
        <p:nvSpPr>
          <p:cNvPr id="12" name="Streamlit reason">
            <a:extLst>
              <a:ext uri="{FF2B5EF4-FFF2-40B4-BE49-F238E27FC236}">
                <a16:creationId xmlns:a16="http://schemas.microsoft.com/office/drawing/2014/main" id="{75A078DE-C1EE-6E49-64AF-A9E58A51EB7F}"/>
              </a:ext>
            </a:extLst>
          </p:cNvPr>
          <p:cNvSpPr txBox="1"/>
          <p:nvPr/>
        </p:nvSpPr>
        <p:spPr>
          <a:xfrm>
            <a:off x="3175000" y="3149600"/>
            <a:ext cx="241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400">
                <a:solidFill>
                  <a:srgbClr val="49657A"/>
                </a:solidFill>
                <a:latin typeface="Arial" panose="020B0604020202020204" pitchFamily="34" charset="0"/>
              </a:rPr>
              <a:t>Cliente web rápido y adaptable.</a:t>
            </a:r>
          </a:p>
        </p:txBody>
      </p:sp>
      <p:cxnSp>
        <p:nvCxnSpPr>
          <p:cNvPr id="13" name="Tech line">
            <a:extLst>
              <a:ext uri="{FF2B5EF4-FFF2-40B4-BE49-F238E27FC236}">
                <a16:creationId xmlns:a16="http://schemas.microsoft.com/office/drawing/2014/main" id="{F6BB1CE4-AF05-2645-065E-29E5589FF0A6}"/>
              </a:ext>
            </a:extLst>
          </p:cNvPr>
          <p:cNvCxnSpPr/>
          <p:nvPr/>
        </p:nvCxnSpPr>
        <p:spPr>
          <a:xfrm>
            <a:off x="863600" y="3810000"/>
            <a:ext cx="4724400" cy="0"/>
          </a:xfrm>
          <a:prstGeom prst="line">
            <a:avLst/>
          </a:prstGeom>
          <a:ln w="12700">
            <a:solidFill>
              <a:srgbClr val="DC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Sklearn">
            <a:extLst>
              <a:ext uri="{FF2B5EF4-FFF2-40B4-BE49-F238E27FC236}">
                <a16:creationId xmlns:a16="http://schemas.microsoft.com/office/drawing/2014/main" id="{E1306866-9F0B-59D8-9149-D7E9A1C602FF}"/>
              </a:ext>
            </a:extLst>
          </p:cNvPr>
          <p:cNvSpPr txBox="1"/>
          <p:nvPr/>
        </p:nvSpPr>
        <p:spPr>
          <a:xfrm>
            <a:off x="863600" y="4089400"/>
            <a:ext cx="2286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2100" b="1">
                <a:solidFill>
                  <a:srgbClr val="07131F"/>
                </a:solidFill>
                <a:latin typeface="Arial" panose="020B0604020202020204" pitchFamily="34" charset="0"/>
              </a:rPr>
              <a:t>scikit-learn</a:t>
            </a:r>
          </a:p>
        </p:txBody>
      </p:sp>
      <p:sp>
        <p:nvSpPr>
          <p:cNvPr id="15" name="Sklearn reason">
            <a:extLst>
              <a:ext uri="{FF2B5EF4-FFF2-40B4-BE49-F238E27FC236}">
                <a16:creationId xmlns:a16="http://schemas.microsoft.com/office/drawing/2014/main" id="{B0E7689B-7AF8-A3EF-5D77-6089574BF508}"/>
              </a:ext>
            </a:extLst>
          </p:cNvPr>
          <p:cNvSpPr txBox="1"/>
          <p:nvPr/>
        </p:nvSpPr>
        <p:spPr>
          <a:xfrm>
            <a:off x="3175000" y="4114800"/>
            <a:ext cx="241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400">
                <a:solidFill>
                  <a:srgbClr val="49657A"/>
                </a:solidFill>
                <a:latin typeface="Arial" panose="020B0604020202020204" pitchFamily="34" charset="0"/>
              </a:rPr>
              <a:t>Pipeline reproducible TF-IDF + MLP.</a:t>
            </a:r>
          </a:p>
        </p:txBody>
      </p:sp>
      <p:cxnSp>
        <p:nvCxnSpPr>
          <p:cNvPr id="16" name="Tech line">
            <a:extLst>
              <a:ext uri="{FF2B5EF4-FFF2-40B4-BE49-F238E27FC236}">
                <a16:creationId xmlns:a16="http://schemas.microsoft.com/office/drawing/2014/main" id="{27D042C2-9B70-3856-91E1-0E6DDE817837}"/>
              </a:ext>
            </a:extLst>
          </p:cNvPr>
          <p:cNvCxnSpPr/>
          <p:nvPr/>
        </p:nvCxnSpPr>
        <p:spPr>
          <a:xfrm>
            <a:off x="863600" y="4775200"/>
            <a:ext cx="4724400" cy="0"/>
          </a:xfrm>
          <a:prstGeom prst="line">
            <a:avLst/>
          </a:prstGeom>
          <a:ln w="12700">
            <a:solidFill>
              <a:srgbClr val="DC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Integrations">
            <a:extLst>
              <a:ext uri="{FF2B5EF4-FFF2-40B4-BE49-F238E27FC236}">
                <a16:creationId xmlns:a16="http://schemas.microsoft.com/office/drawing/2014/main" id="{614D83A7-2AEA-431B-1283-A4F7EE7F32D3}"/>
              </a:ext>
            </a:extLst>
          </p:cNvPr>
          <p:cNvSpPr txBox="1"/>
          <p:nvPr/>
        </p:nvSpPr>
        <p:spPr>
          <a:xfrm>
            <a:off x="863600" y="5054600"/>
            <a:ext cx="2286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900" b="1">
                <a:solidFill>
                  <a:srgbClr val="07131F"/>
                </a:solidFill>
                <a:latin typeface="Arial" panose="020B0604020202020204" pitchFamily="34" charset="0"/>
              </a:rPr>
              <a:t>Gmail + Telegram</a:t>
            </a:r>
          </a:p>
        </p:txBody>
      </p:sp>
      <p:sp>
        <p:nvSpPr>
          <p:cNvPr id="18" name="Integrations reason">
            <a:extLst>
              <a:ext uri="{FF2B5EF4-FFF2-40B4-BE49-F238E27FC236}">
                <a16:creationId xmlns:a16="http://schemas.microsoft.com/office/drawing/2014/main" id="{7AFAFD13-4220-19F8-1C3F-584E00571E06}"/>
              </a:ext>
            </a:extLst>
          </p:cNvPr>
          <p:cNvSpPr txBox="1"/>
          <p:nvPr/>
        </p:nvSpPr>
        <p:spPr>
          <a:xfrm>
            <a:off x="3175000" y="5080000"/>
            <a:ext cx="241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400">
                <a:solidFill>
                  <a:srgbClr val="49657A"/>
                </a:solidFill>
                <a:latin typeface="Arial" panose="020B0604020202020204" pitchFamily="34" charset="0"/>
              </a:rPr>
              <a:t>Entrada OAuth y alertas opcionales.</a:t>
            </a:r>
          </a:p>
        </p:txBody>
      </p:sp>
      <p:sp>
        <p:nvSpPr>
          <p:cNvPr id="19" name="Security field">
            <a:extLst>
              <a:ext uri="{FF2B5EF4-FFF2-40B4-BE49-F238E27FC236}">
                <a16:creationId xmlns:a16="http://schemas.microsoft.com/office/drawing/2014/main" id="{C4EA9D26-A0D8-2475-E1BC-D10CEACB6CC8}"/>
              </a:ext>
            </a:extLst>
          </p:cNvPr>
          <p:cNvSpPr/>
          <p:nvPr/>
        </p:nvSpPr>
        <p:spPr>
          <a:xfrm>
            <a:off x="6553200" y="1676400"/>
            <a:ext cx="4724400" cy="4089400"/>
          </a:xfrm>
          <a:prstGeom prst="rect">
            <a:avLst/>
          </a:prstGeom>
          <a:solidFill>
            <a:srgbClr val="07131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0" name="Security label">
            <a:extLst>
              <a:ext uri="{FF2B5EF4-FFF2-40B4-BE49-F238E27FC236}">
                <a16:creationId xmlns:a16="http://schemas.microsoft.com/office/drawing/2014/main" id="{64A646F1-22F2-9594-27AF-6AF0C80130B4}"/>
              </a:ext>
            </a:extLst>
          </p:cNvPr>
          <p:cNvSpPr txBox="1"/>
          <p:nvPr/>
        </p:nvSpPr>
        <p:spPr>
          <a:xfrm>
            <a:off x="6908800" y="2032000"/>
            <a:ext cx="3937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100" b="1">
                <a:solidFill>
                  <a:srgbClr val="CCFBF1"/>
                </a:solidFill>
                <a:latin typeface="Arial" panose="020B0604020202020204" pitchFamily="34" charset="0"/>
              </a:rPr>
              <a:t>CONTROLES DEL PROTOTIPO</a:t>
            </a:r>
          </a:p>
        </p:txBody>
      </p:sp>
      <p:sp>
        <p:nvSpPr>
          <p:cNvPr id="21" name="Security list">
            <a:extLst>
              <a:ext uri="{FF2B5EF4-FFF2-40B4-BE49-F238E27FC236}">
                <a16:creationId xmlns:a16="http://schemas.microsoft.com/office/drawing/2014/main" id="{C042D631-D912-45DF-406F-AA2965BCB4C5}"/>
              </a:ext>
            </a:extLst>
          </p:cNvPr>
          <p:cNvSpPr txBox="1"/>
          <p:nvPr/>
        </p:nvSpPr>
        <p:spPr>
          <a:xfrm>
            <a:off x="6908800" y="25654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600">
                <a:solidFill>
                  <a:srgbClr val="FFFFFF"/>
                </a:solidFill>
                <a:latin typeface="Arial" panose="020B0604020202020204" pitchFamily="34" charset="0"/>
              </a:rPr>
              <a:t>• Backend en loopback por defecto
• Límites de petición y rutas seguras
• Orígenes CORS restringidos
• Credenciales fuera de Git
• Escrituras y activación atómicas
• Sin ejecución de adjuntos</a:t>
            </a:r>
          </a:p>
        </p:txBody>
      </p:sp>
      <p:sp>
        <p:nvSpPr>
          <p:cNvPr id="22" name="Security caveat">
            <a:extLst>
              <a:ext uri="{FF2B5EF4-FFF2-40B4-BE49-F238E27FC236}">
                <a16:creationId xmlns:a16="http://schemas.microsoft.com/office/drawing/2014/main" id="{26C09F02-F5DC-B07B-081A-5A461597EB2B}"/>
              </a:ext>
            </a:extLst>
          </p:cNvPr>
          <p:cNvSpPr txBox="1"/>
          <p:nvPr/>
        </p:nvSpPr>
        <p:spPr>
          <a:xfrm>
            <a:off x="6908800" y="4953000"/>
            <a:ext cx="3708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300" b="1">
                <a:solidFill>
                  <a:srgbClr val="C9D7E0"/>
                </a:solidFill>
                <a:latin typeface="Arial" panose="020B0604020202020204" pitchFamily="34" charset="0"/>
              </a:rPr>
              <a:t>Un despliegue público requeriría TLS, autenticación y aislamiento multiusuario.</a:t>
            </a:r>
          </a:p>
        </p:txBody>
      </p:sp>
    </p:spTree>
    <p:extLst>
      <p:ext uri="{BB962C8B-B14F-4D97-AF65-F5344CB8AC3E}">
        <p14:creationId xmlns:p14="http://schemas.microsoft.com/office/powerpoint/2010/main" val="15638149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>
            <a:extLst>
              <a:ext uri="{FF2B5EF4-FFF2-40B4-BE49-F238E27FC236}">
                <a16:creationId xmlns:a16="http://schemas.microsoft.com/office/drawing/2014/main" id="{91399930-AD0D-E1FC-60F8-08C103DB84C8}"/>
              </a:ext>
            </a:extLst>
          </p:cNvPr>
          <p:cNvSpPr txBox="1"/>
          <p:nvPr/>
        </p:nvSpPr>
        <p:spPr>
          <a:xfrm>
            <a:off x="711200" y="2540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000" b="1">
                <a:solidFill>
                  <a:srgbClr val="0F766E"/>
                </a:solidFill>
                <a:latin typeface="Arial" panose="020B0604020202020204" pitchFamily="34" charset="0"/>
              </a:rPr>
              <a:t>EVALUACIÓN</a:t>
            </a:r>
          </a:p>
        </p:txBody>
      </p:sp>
      <p:sp>
        <p:nvSpPr>
          <p:cNvPr id="3" name="Slide title">
            <a:extLst>
              <a:ext uri="{FF2B5EF4-FFF2-40B4-BE49-F238E27FC236}">
                <a16:creationId xmlns:a16="http://schemas.microsoft.com/office/drawing/2014/main" id="{0F93D73D-E26A-A3F3-DAC4-881928A8FA55}"/>
              </a:ext>
            </a:extLst>
          </p:cNvPr>
          <p:cNvSpPr txBox="1"/>
          <p:nvPr/>
        </p:nvSpPr>
        <p:spPr>
          <a:xfrm>
            <a:off x="711200" y="533400"/>
            <a:ext cx="10769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3500" b="1">
                <a:solidFill>
                  <a:srgbClr val="07131F"/>
                </a:solidFill>
                <a:latin typeface="Arial" panose="020B0604020202020204" pitchFamily="34" charset="0"/>
              </a:rPr>
              <a:t>La evaluación separa ajuste y comprobación</a:t>
            </a:r>
          </a:p>
        </p:txBody>
      </p:sp>
      <p:cxnSp>
        <p:nvCxnSpPr>
          <p:cNvPr id="4" name="Accent rule">
            <a:extLst>
              <a:ext uri="{FF2B5EF4-FFF2-40B4-BE49-F238E27FC236}">
                <a16:creationId xmlns:a16="http://schemas.microsoft.com/office/drawing/2014/main" id="{E865EBB0-0F70-CDB8-459C-9E32C6E202F1}"/>
              </a:ext>
            </a:extLst>
          </p:cNvPr>
          <p:cNvCxnSpPr/>
          <p:nvPr/>
        </p:nvCxnSpPr>
        <p:spPr>
          <a:xfrm>
            <a:off x="711200" y="1282700"/>
            <a:ext cx="711200" cy="0"/>
          </a:xfrm>
          <a:prstGeom prst="line">
            <a:avLst/>
          </a:prstGeom>
          <a:ln w="50800">
            <a:solidFill>
              <a:srgbClr val="0D9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 author">
            <a:extLst>
              <a:ext uri="{FF2B5EF4-FFF2-40B4-BE49-F238E27FC236}">
                <a16:creationId xmlns:a16="http://schemas.microsoft.com/office/drawing/2014/main" id="{11F124FC-AE99-0B8B-B924-91E3DC9B2359}"/>
              </a:ext>
            </a:extLst>
          </p:cNvPr>
          <p:cNvSpPr txBox="1"/>
          <p:nvPr/>
        </p:nvSpPr>
        <p:spPr>
          <a:xfrm>
            <a:off x="711200" y="65024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900">
                <a:solidFill>
                  <a:srgbClr val="6A8192"/>
                </a:solidFill>
                <a:latin typeface="Arial" panose="020B0604020202020204" pitchFamily="34" charset="0"/>
              </a:rPr>
              <a:t>Alejandro Villarrubia García · TFG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9DD56BA3-65A6-0B8F-E41B-EF20492D2F28}"/>
              </a:ext>
            </a:extLst>
          </p:cNvPr>
          <p:cNvSpPr txBox="1"/>
          <p:nvPr/>
        </p:nvSpPr>
        <p:spPr>
          <a:xfrm>
            <a:off x="11201400" y="6477000"/>
            <a:ext cx="279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000" b="1">
                <a:solidFill>
                  <a:srgbClr val="6A8192"/>
                </a:solidFill>
                <a:latin typeface="Arial" panose="020B0604020202020204" pitchFamily="34" charset="0"/>
              </a:rPr>
              <a:t>9</a:t>
            </a:r>
          </a:p>
        </p:txBody>
      </p:sp>
      <p:cxnSp>
        <p:nvCxnSpPr>
          <p:cNvPr id="7" name="Evaluation timeline">
            <a:extLst>
              <a:ext uri="{FF2B5EF4-FFF2-40B4-BE49-F238E27FC236}">
                <a16:creationId xmlns:a16="http://schemas.microsoft.com/office/drawing/2014/main" id="{6D3F5F95-3356-DCFF-C4F3-C36C12E04BB4}"/>
              </a:ext>
            </a:extLst>
          </p:cNvPr>
          <p:cNvCxnSpPr/>
          <p:nvPr/>
        </p:nvCxnSpPr>
        <p:spPr>
          <a:xfrm>
            <a:off x="1244600" y="3429000"/>
            <a:ext cx="9702800" cy="0"/>
          </a:xfrm>
          <a:prstGeom prst="line">
            <a:avLst/>
          </a:prstGeom>
          <a:ln w="19050">
            <a:solidFill>
              <a:srgbClr val="0713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Evaluation dot">
            <a:extLst>
              <a:ext uri="{FF2B5EF4-FFF2-40B4-BE49-F238E27FC236}">
                <a16:creationId xmlns:a16="http://schemas.microsoft.com/office/drawing/2014/main" id="{45140A56-19D3-576B-6007-99064C094A41}"/>
              </a:ext>
            </a:extLst>
          </p:cNvPr>
          <p:cNvSpPr/>
          <p:nvPr/>
        </p:nvSpPr>
        <p:spPr>
          <a:xfrm>
            <a:off x="1524000" y="3327400"/>
            <a:ext cx="203200" cy="203200"/>
          </a:xfrm>
          <a:prstGeom prst="ellipse">
            <a:avLst/>
          </a:prstGeom>
          <a:solidFill>
            <a:srgbClr val="3D8D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Evaluation dot">
            <a:extLst>
              <a:ext uri="{FF2B5EF4-FFF2-40B4-BE49-F238E27FC236}">
                <a16:creationId xmlns:a16="http://schemas.microsoft.com/office/drawing/2014/main" id="{05BEAA10-F6C2-695C-7F5B-1DED88BDAE59}"/>
              </a:ext>
            </a:extLst>
          </p:cNvPr>
          <p:cNvSpPr/>
          <p:nvPr/>
        </p:nvSpPr>
        <p:spPr>
          <a:xfrm>
            <a:off x="5232400" y="3327400"/>
            <a:ext cx="203200" cy="203200"/>
          </a:xfrm>
          <a:prstGeom prst="ellipse">
            <a:avLst/>
          </a:prstGeom>
          <a:solidFill>
            <a:srgbClr val="3D8D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Evaluation dot">
            <a:extLst>
              <a:ext uri="{FF2B5EF4-FFF2-40B4-BE49-F238E27FC236}">
                <a16:creationId xmlns:a16="http://schemas.microsoft.com/office/drawing/2014/main" id="{91929EE2-F7DD-942D-94B1-0E66BF1C1435}"/>
              </a:ext>
            </a:extLst>
          </p:cNvPr>
          <p:cNvSpPr/>
          <p:nvPr/>
        </p:nvSpPr>
        <p:spPr>
          <a:xfrm>
            <a:off x="8940800" y="3327400"/>
            <a:ext cx="203200" cy="203200"/>
          </a:xfrm>
          <a:prstGeom prst="ellipse">
            <a:avLst/>
          </a:prstGeom>
          <a:solidFill>
            <a:srgbClr val="3D8D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Evaluation metric">
            <a:extLst>
              <a:ext uri="{FF2B5EF4-FFF2-40B4-BE49-F238E27FC236}">
                <a16:creationId xmlns:a16="http://schemas.microsoft.com/office/drawing/2014/main" id="{FB345D0F-22AA-E0B4-9813-1369B1E5C721}"/>
              </a:ext>
            </a:extLst>
          </p:cNvPr>
          <p:cNvSpPr txBox="1"/>
          <p:nvPr/>
        </p:nvSpPr>
        <p:spPr>
          <a:xfrm>
            <a:off x="1092200" y="2336800"/>
            <a:ext cx="2921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2300" b="1">
                <a:solidFill>
                  <a:srgbClr val="07131F"/>
                </a:solidFill>
                <a:latin typeface="Arial" panose="020B0604020202020204" pitchFamily="34" charset="0"/>
              </a:rPr>
              <a:t>40 CASOS</a:t>
            </a:r>
          </a:p>
        </p:txBody>
      </p:sp>
      <p:sp>
        <p:nvSpPr>
          <p:cNvPr id="12" name="Evaluation title">
            <a:extLst>
              <a:ext uri="{FF2B5EF4-FFF2-40B4-BE49-F238E27FC236}">
                <a16:creationId xmlns:a16="http://schemas.microsoft.com/office/drawing/2014/main" id="{21E2CAAA-73C7-3DCA-3444-8F399AFB2D1A}"/>
              </a:ext>
            </a:extLst>
          </p:cNvPr>
          <p:cNvSpPr txBox="1"/>
          <p:nvPr/>
        </p:nvSpPr>
        <p:spPr>
          <a:xfrm>
            <a:off x="1092200" y="3962400"/>
            <a:ext cx="3048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700" b="1">
                <a:solidFill>
                  <a:srgbClr val="07131F"/>
                </a:solidFill>
                <a:latin typeface="Arial" panose="020B0604020202020204" pitchFamily="34" charset="0"/>
              </a:rPr>
              <a:t>Calibración controlada</a:t>
            </a:r>
          </a:p>
        </p:txBody>
      </p:sp>
      <p:sp>
        <p:nvSpPr>
          <p:cNvPr id="13" name="Evaluation detail">
            <a:extLst>
              <a:ext uri="{FF2B5EF4-FFF2-40B4-BE49-F238E27FC236}">
                <a16:creationId xmlns:a16="http://schemas.microsoft.com/office/drawing/2014/main" id="{3CB19D0E-2DAD-BE06-3009-55EE02A2FB60}"/>
              </a:ext>
            </a:extLst>
          </p:cNvPr>
          <p:cNvSpPr txBox="1"/>
          <p:nvPr/>
        </p:nvSpPr>
        <p:spPr>
          <a:xfrm>
            <a:off x="1092200" y="44577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400">
                <a:solidFill>
                  <a:srgbClr val="49657A"/>
                </a:solidFill>
                <a:latin typeface="Arial" panose="020B0604020202020204" pitchFamily="34" charset="0"/>
              </a:rPr>
              <a:t>Cinco particiones estratificadas seleccionan pesos y umbrales.</a:t>
            </a:r>
          </a:p>
        </p:txBody>
      </p:sp>
      <p:sp>
        <p:nvSpPr>
          <p:cNvPr id="14" name="Evaluation metric">
            <a:extLst>
              <a:ext uri="{FF2B5EF4-FFF2-40B4-BE49-F238E27FC236}">
                <a16:creationId xmlns:a16="http://schemas.microsoft.com/office/drawing/2014/main" id="{5CB67AD8-467B-D072-1C31-9633A8AC0271}"/>
              </a:ext>
            </a:extLst>
          </p:cNvPr>
          <p:cNvSpPr txBox="1"/>
          <p:nvPr/>
        </p:nvSpPr>
        <p:spPr>
          <a:xfrm>
            <a:off x="4800600" y="2336800"/>
            <a:ext cx="2921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2300" b="1">
                <a:solidFill>
                  <a:srgbClr val="07131F"/>
                </a:solidFill>
                <a:latin typeface="Arial" panose="020B0604020202020204" pitchFamily="34" charset="0"/>
              </a:rPr>
              <a:t>16 EML</a:t>
            </a:r>
          </a:p>
        </p:txBody>
      </p:sp>
      <p:sp>
        <p:nvSpPr>
          <p:cNvPr id="15" name="Evaluation title">
            <a:extLst>
              <a:ext uri="{FF2B5EF4-FFF2-40B4-BE49-F238E27FC236}">
                <a16:creationId xmlns:a16="http://schemas.microsoft.com/office/drawing/2014/main" id="{8E5C0BD0-B707-3863-73E0-77B97895121B}"/>
              </a:ext>
            </a:extLst>
          </p:cNvPr>
          <p:cNvSpPr txBox="1"/>
          <p:nvPr/>
        </p:nvSpPr>
        <p:spPr>
          <a:xfrm>
            <a:off x="4800600" y="3962400"/>
            <a:ext cx="3048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700" b="1">
                <a:solidFill>
                  <a:srgbClr val="07131F"/>
                </a:solidFill>
                <a:latin typeface="Arial" panose="020B0604020202020204" pitchFamily="34" charset="0"/>
              </a:rPr>
              <a:t>Comprobación final</a:t>
            </a:r>
          </a:p>
        </p:txBody>
      </p:sp>
      <p:sp>
        <p:nvSpPr>
          <p:cNvPr id="16" name="Evaluation detail">
            <a:extLst>
              <a:ext uri="{FF2B5EF4-FFF2-40B4-BE49-F238E27FC236}">
                <a16:creationId xmlns:a16="http://schemas.microsoft.com/office/drawing/2014/main" id="{3366F3E4-FA7A-861A-113B-536E0B5B211E}"/>
              </a:ext>
            </a:extLst>
          </p:cNvPr>
          <p:cNvSpPr txBox="1"/>
          <p:nvPr/>
        </p:nvSpPr>
        <p:spPr>
          <a:xfrm>
            <a:off x="4800600" y="44577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400">
                <a:solidFill>
                  <a:srgbClr val="49657A"/>
                </a:solidFill>
                <a:latin typeface="Arial" panose="020B0604020202020204" pitchFamily="34" charset="0"/>
              </a:rPr>
              <a:t>Mensajes bilingües reservados con MIME, cabeceras y escenarios BEC.</a:t>
            </a:r>
          </a:p>
        </p:txBody>
      </p:sp>
      <p:sp>
        <p:nvSpPr>
          <p:cNvPr id="17" name="Evaluation metric">
            <a:extLst>
              <a:ext uri="{FF2B5EF4-FFF2-40B4-BE49-F238E27FC236}">
                <a16:creationId xmlns:a16="http://schemas.microsoft.com/office/drawing/2014/main" id="{0CA77721-BCB5-3A43-A087-855BE3D56E37}"/>
              </a:ext>
            </a:extLst>
          </p:cNvPr>
          <p:cNvSpPr txBox="1"/>
          <p:nvPr/>
        </p:nvSpPr>
        <p:spPr>
          <a:xfrm>
            <a:off x="8509000" y="2336800"/>
            <a:ext cx="2921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2300" b="1">
                <a:solidFill>
                  <a:srgbClr val="07131F"/>
                </a:solidFill>
                <a:latin typeface="Arial" panose="020B0604020202020204" pitchFamily="34" charset="0"/>
              </a:rPr>
              <a:t>1.528 TEXTOS</a:t>
            </a:r>
          </a:p>
        </p:txBody>
      </p:sp>
      <p:sp>
        <p:nvSpPr>
          <p:cNvPr id="18" name="Evaluation title">
            <a:extLst>
              <a:ext uri="{FF2B5EF4-FFF2-40B4-BE49-F238E27FC236}">
                <a16:creationId xmlns:a16="http://schemas.microsoft.com/office/drawing/2014/main" id="{3D46091F-9E47-5A6C-CDDA-34C05C0ACF6A}"/>
              </a:ext>
            </a:extLst>
          </p:cNvPr>
          <p:cNvSpPr txBox="1"/>
          <p:nvPr/>
        </p:nvSpPr>
        <p:spPr>
          <a:xfrm>
            <a:off x="8509000" y="3962400"/>
            <a:ext cx="3048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700" b="1">
                <a:solidFill>
                  <a:srgbClr val="07131F"/>
                </a:solidFill>
                <a:latin typeface="Arial" panose="020B0604020202020204" pitchFamily="34" charset="0"/>
              </a:rPr>
              <a:t>Diagnóstico externo</a:t>
            </a:r>
          </a:p>
        </p:txBody>
      </p:sp>
      <p:sp>
        <p:nvSpPr>
          <p:cNvPr id="19" name="Evaluation detail">
            <a:extLst>
              <a:ext uri="{FF2B5EF4-FFF2-40B4-BE49-F238E27FC236}">
                <a16:creationId xmlns:a16="http://schemas.microsoft.com/office/drawing/2014/main" id="{C62E03A2-9184-D11D-A3FE-E9E8E71F6413}"/>
              </a:ext>
            </a:extLst>
          </p:cNvPr>
          <p:cNvSpPr txBox="1"/>
          <p:nvPr/>
        </p:nvSpPr>
        <p:spPr>
          <a:xfrm>
            <a:off x="8509000" y="44577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400">
                <a:solidFill>
                  <a:srgbClr val="49657A"/>
                </a:solidFill>
                <a:latin typeface="Arial" panose="020B0604020202020204" pitchFamily="34" charset="0"/>
              </a:rPr>
              <a:t>DIFrauD aporta escala, pero es histórico y puede solaparse.</a:t>
            </a:r>
          </a:p>
        </p:txBody>
      </p:sp>
      <p:sp>
        <p:nvSpPr>
          <p:cNvPr id="20" name="Evaluation caveat">
            <a:extLst>
              <a:ext uri="{FF2B5EF4-FFF2-40B4-BE49-F238E27FC236}">
                <a16:creationId xmlns:a16="http://schemas.microsoft.com/office/drawing/2014/main" id="{F9AC3B9C-A45E-0F8B-CC4E-824534E7A2A7}"/>
              </a:ext>
            </a:extLst>
          </p:cNvPr>
          <p:cNvSpPr txBox="1"/>
          <p:nvPr/>
        </p:nvSpPr>
        <p:spPr>
          <a:xfrm>
            <a:off x="1676400" y="5778500"/>
            <a:ext cx="8839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700" b="1">
                <a:solidFill>
                  <a:srgbClr val="B42318"/>
                </a:solidFill>
                <a:latin typeface="Arial" panose="020B0604020202020204" pitchFamily="34" charset="0"/>
              </a:rPr>
              <a:t>Principio metodológico: ninguna muestra se presenta como estimación de producción.</a:t>
            </a:r>
          </a:p>
        </p:txBody>
      </p:sp>
    </p:spTree>
    <p:extLst>
      <p:ext uri="{BB962C8B-B14F-4D97-AF65-F5344CB8AC3E}">
        <p14:creationId xmlns:p14="http://schemas.microsoft.com/office/powerpoint/2010/main" val="29235724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>
            <a:extLst>
              <a:ext uri="{FF2B5EF4-FFF2-40B4-BE49-F238E27FC236}">
                <a16:creationId xmlns:a16="http://schemas.microsoft.com/office/drawing/2014/main" id="{EE376F5E-353A-064F-D7A0-4C1A6393FEB5}"/>
              </a:ext>
            </a:extLst>
          </p:cNvPr>
          <p:cNvSpPr txBox="1"/>
          <p:nvPr/>
        </p:nvSpPr>
        <p:spPr>
          <a:xfrm>
            <a:off x="711200" y="2540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000" b="1">
                <a:solidFill>
                  <a:srgbClr val="0F766E"/>
                </a:solidFill>
                <a:latin typeface="Arial" panose="020B0604020202020204" pitchFamily="34" charset="0"/>
              </a:rPr>
              <a:t>RESULTADOS</a:t>
            </a:r>
          </a:p>
        </p:txBody>
      </p:sp>
      <p:sp>
        <p:nvSpPr>
          <p:cNvPr id="3" name="Slide title">
            <a:extLst>
              <a:ext uri="{FF2B5EF4-FFF2-40B4-BE49-F238E27FC236}">
                <a16:creationId xmlns:a16="http://schemas.microsoft.com/office/drawing/2014/main" id="{A9C53296-2459-BEF1-4845-A05E1D17DF5D}"/>
              </a:ext>
            </a:extLst>
          </p:cNvPr>
          <p:cNvSpPr txBox="1"/>
          <p:nvPr/>
        </p:nvSpPr>
        <p:spPr>
          <a:xfrm>
            <a:off x="711200" y="533400"/>
            <a:ext cx="10769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3500" b="1">
                <a:solidFill>
                  <a:srgbClr val="07131F"/>
                </a:solidFill>
                <a:latin typeface="Arial" panose="020B0604020202020204" pitchFamily="34" charset="0"/>
              </a:rPr>
              <a:t>El modo combinado evita falsos negativos</a:t>
            </a:r>
          </a:p>
        </p:txBody>
      </p:sp>
      <p:cxnSp>
        <p:nvCxnSpPr>
          <p:cNvPr id="4" name="Accent rule">
            <a:extLst>
              <a:ext uri="{FF2B5EF4-FFF2-40B4-BE49-F238E27FC236}">
                <a16:creationId xmlns:a16="http://schemas.microsoft.com/office/drawing/2014/main" id="{AD66E733-6DBF-A06B-56A9-1EEBE09A914D}"/>
              </a:ext>
            </a:extLst>
          </p:cNvPr>
          <p:cNvCxnSpPr/>
          <p:nvPr/>
        </p:nvCxnSpPr>
        <p:spPr>
          <a:xfrm>
            <a:off x="711200" y="1282700"/>
            <a:ext cx="711200" cy="0"/>
          </a:xfrm>
          <a:prstGeom prst="line">
            <a:avLst/>
          </a:prstGeom>
          <a:ln w="50800">
            <a:solidFill>
              <a:srgbClr val="0D9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 author">
            <a:extLst>
              <a:ext uri="{FF2B5EF4-FFF2-40B4-BE49-F238E27FC236}">
                <a16:creationId xmlns:a16="http://schemas.microsoft.com/office/drawing/2014/main" id="{B01B4CD5-BAB1-6A8B-298A-5D7B9BFB0A1B}"/>
              </a:ext>
            </a:extLst>
          </p:cNvPr>
          <p:cNvSpPr txBox="1"/>
          <p:nvPr/>
        </p:nvSpPr>
        <p:spPr>
          <a:xfrm>
            <a:off x="711200" y="65024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900">
                <a:solidFill>
                  <a:srgbClr val="6A8192"/>
                </a:solidFill>
                <a:latin typeface="Arial" panose="020B0604020202020204" pitchFamily="34" charset="0"/>
              </a:rPr>
              <a:t>Alejandro Villarrubia García · TFG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8364520D-46E4-533A-2379-25A0A475590A}"/>
              </a:ext>
            </a:extLst>
          </p:cNvPr>
          <p:cNvSpPr txBox="1"/>
          <p:nvPr/>
        </p:nvSpPr>
        <p:spPr>
          <a:xfrm>
            <a:off x="11201400" y="6477000"/>
            <a:ext cx="279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000" b="1">
                <a:solidFill>
                  <a:srgbClr val="6A8192"/>
                </a:solidFill>
                <a:latin typeface="Arial" panose="020B0604020202020204" pitchFamily="34" charset="0"/>
              </a:rPr>
              <a:t>10</a:t>
            </a:r>
          </a:p>
        </p:txBody>
      </p:sp>
      <p:sp>
        <p:nvSpPr>
          <p:cNvPr id="7" name="Chart subtitle">
            <a:extLst>
              <a:ext uri="{FF2B5EF4-FFF2-40B4-BE49-F238E27FC236}">
                <a16:creationId xmlns:a16="http://schemas.microsoft.com/office/drawing/2014/main" id="{FDDFEFC7-B175-7AAC-1D72-183D4C981C19}"/>
              </a:ext>
            </a:extLst>
          </p:cNvPr>
          <p:cNvSpPr txBox="1"/>
          <p:nvPr/>
        </p:nvSpPr>
        <p:spPr>
          <a:xfrm>
            <a:off x="863600" y="1536700"/>
            <a:ext cx="5207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200" b="1">
                <a:solidFill>
                  <a:srgbClr val="6A8192"/>
                </a:solidFill>
                <a:latin typeface="Arial" panose="020B0604020202020204" pitchFamily="34" charset="0"/>
              </a:rPr>
              <a:t>Evaluación final · 16 EML reservados</a:t>
            </a:r>
          </a:p>
        </p:txBody>
      </p:sp>
      <p:cxnSp>
        <p:nvCxnSpPr>
          <p:cNvPr id="8" name="Chart axis">
            <a:extLst>
              <a:ext uri="{FF2B5EF4-FFF2-40B4-BE49-F238E27FC236}">
                <a16:creationId xmlns:a16="http://schemas.microsoft.com/office/drawing/2014/main" id="{C06499AE-7C0D-8A71-B56F-FF1B35B92A24}"/>
              </a:ext>
            </a:extLst>
          </p:cNvPr>
          <p:cNvCxnSpPr/>
          <p:nvPr/>
        </p:nvCxnSpPr>
        <p:spPr>
          <a:xfrm>
            <a:off x="2565400" y="5613400"/>
            <a:ext cx="4826000" cy="0"/>
          </a:xfrm>
          <a:prstGeom prst="line">
            <a:avLst/>
          </a:prstGeom>
          <a:ln w="15240">
            <a:solidFill>
              <a:srgbClr val="DC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rid 0">
            <a:extLst>
              <a:ext uri="{FF2B5EF4-FFF2-40B4-BE49-F238E27FC236}">
                <a16:creationId xmlns:a16="http://schemas.microsoft.com/office/drawing/2014/main" id="{EF681139-95A2-21A6-7E84-654A7362160B}"/>
              </a:ext>
            </a:extLst>
          </p:cNvPr>
          <p:cNvCxnSpPr/>
          <p:nvPr/>
        </p:nvCxnSpPr>
        <p:spPr>
          <a:xfrm>
            <a:off x="2565400" y="2006600"/>
            <a:ext cx="0" cy="3606800"/>
          </a:xfrm>
          <a:prstGeom prst="line">
            <a:avLst/>
          </a:prstGeom>
          <a:ln w="8890">
            <a:solidFill>
              <a:srgbClr val="DC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ick 0">
            <a:extLst>
              <a:ext uri="{FF2B5EF4-FFF2-40B4-BE49-F238E27FC236}">
                <a16:creationId xmlns:a16="http://schemas.microsoft.com/office/drawing/2014/main" id="{E2C0B6F8-C052-BEA8-6DCD-79A43A1DC2F3}"/>
              </a:ext>
            </a:extLst>
          </p:cNvPr>
          <p:cNvSpPr txBox="1"/>
          <p:nvPr/>
        </p:nvSpPr>
        <p:spPr>
          <a:xfrm>
            <a:off x="2387600" y="5727700"/>
            <a:ext cx="355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900">
                <a:solidFill>
                  <a:srgbClr val="6A8192"/>
                </a:solidFill>
                <a:latin typeface="Arial" panose="020B0604020202020204" pitchFamily="34" charset="0"/>
              </a:rPr>
              <a:t>0</a:t>
            </a:r>
          </a:p>
        </p:txBody>
      </p:sp>
      <p:cxnSp>
        <p:nvCxnSpPr>
          <p:cNvPr id="11" name="Grid 25">
            <a:extLst>
              <a:ext uri="{FF2B5EF4-FFF2-40B4-BE49-F238E27FC236}">
                <a16:creationId xmlns:a16="http://schemas.microsoft.com/office/drawing/2014/main" id="{ED63F521-0AB0-93B7-296D-0963F96F61A9}"/>
              </a:ext>
            </a:extLst>
          </p:cNvPr>
          <p:cNvCxnSpPr/>
          <p:nvPr/>
        </p:nvCxnSpPr>
        <p:spPr>
          <a:xfrm>
            <a:off x="3771900" y="2006600"/>
            <a:ext cx="0" cy="3606800"/>
          </a:xfrm>
          <a:prstGeom prst="line">
            <a:avLst/>
          </a:prstGeom>
          <a:ln w="8890">
            <a:solidFill>
              <a:srgbClr val="DC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ick 25">
            <a:extLst>
              <a:ext uri="{FF2B5EF4-FFF2-40B4-BE49-F238E27FC236}">
                <a16:creationId xmlns:a16="http://schemas.microsoft.com/office/drawing/2014/main" id="{8D3FBB4F-022B-2EB9-9F76-1F017E61A674}"/>
              </a:ext>
            </a:extLst>
          </p:cNvPr>
          <p:cNvSpPr txBox="1"/>
          <p:nvPr/>
        </p:nvSpPr>
        <p:spPr>
          <a:xfrm>
            <a:off x="3594100" y="5727700"/>
            <a:ext cx="355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900">
                <a:solidFill>
                  <a:srgbClr val="6A8192"/>
                </a:solidFill>
                <a:latin typeface="Arial" panose="020B0604020202020204" pitchFamily="34" charset="0"/>
              </a:rPr>
              <a:t>25</a:t>
            </a:r>
          </a:p>
        </p:txBody>
      </p:sp>
      <p:cxnSp>
        <p:nvCxnSpPr>
          <p:cNvPr id="13" name="Grid 50">
            <a:extLst>
              <a:ext uri="{FF2B5EF4-FFF2-40B4-BE49-F238E27FC236}">
                <a16:creationId xmlns:a16="http://schemas.microsoft.com/office/drawing/2014/main" id="{738EA267-5E30-174B-2501-F11DB9B1B31E}"/>
              </a:ext>
            </a:extLst>
          </p:cNvPr>
          <p:cNvCxnSpPr/>
          <p:nvPr/>
        </p:nvCxnSpPr>
        <p:spPr>
          <a:xfrm>
            <a:off x="4978400" y="2006600"/>
            <a:ext cx="0" cy="3606800"/>
          </a:xfrm>
          <a:prstGeom prst="line">
            <a:avLst/>
          </a:prstGeom>
          <a:ln w="8890">
            <a:solidFill>
              <a:srgbClr val="DC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ick 50">
            <a:extLst>
              <a:ext uri="{FF2B5EF4-FFF2-40B4-BE49-F238E27FC236}">
                <a16:creationId xmlns:a16="http://schemas.microsoft.com/office/drawing/2014/main" id="{2A8958F4-E996-50FB-6329-255D7279DC28}"/>
              </a:ext>
            </a:extLst>
          </p:cNvPr>
          <p:cNvSpPr txBox="1"/>
          <p:nvPr/>
        </p:nvSpPr>
        <p:spPr>
          <a:xfrm>
            <a:off x="4800600" y="5727700"/>
            <a:ext cx="355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900">
                <a:solidFill>
                  <a:srgbClr val="6A8192"/>
                </a:solidFill>
                <a:latin typeface="Arial" panose="020B0604020202020204" pitchFamily="34" charset="0"/>
              </a:rPr>
              <a:t>50</a:t>
            </a:r>
          </a:p>
        </p:txBody>
      </p:sp>
      <p:cxnSp>
        <p:nvCxnSpPr>
          <p:cNvPr id="15" name="Grid 75">
            <a:extLst>
              <a:ext uri="{FF2B5EF4-FFF2-40B4-BE49-F238E27FC236}">
                <a16:creationId xmlns:a16="http://schemas.microsoft.com/office/drawing/2014/main" id="{C75269B7-A03D-3C27-4ED2-9C8C2A1A98F8}"/>
              </a:ext>
            </a:extLst>
          </p:cNvPr>
          <p:cNvCxnSpPr/>
          <p:nvPr/>
        </p:nvCxnSpPr>
        <p:spPr>
          <a:xfrm>
            <a:off x="6184900" y="2006600"/>
            <a:ext cx="0" cy="3606800"/>
          </a:xfrm>
          <a:prstGeom prst="line">
            <a:avLst/>
          </a:prstGeom>
          <a:ln w="8890">
            <a:solidFill>
              <a:srgbClr val="DC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ick 75">
            <a:extLst>
              <a:ext uri="{FF2B5EF4-FFF2-40B4-BE49-F238E27FC236}">
                <a16:creationId xmlns:a16="http://schemas.microsoft.com/office/drawing/2014/main" id="{B1CA6AFA-DBBF-60FA-2B5F-AAB409113979}"/>
              </a:ext>
            </a:extLst>
          </p:cNvPr>
          <p:cNvSpPr txBox="1"/>
          <p:nvPr/>
        </p:nvSpPr>
        <p:spPr>
          <a:xfrm>
            <a:off x="6007100" y="5727700"/>
            <a:ext cx="355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900">
                <a:solidFill>
                  <a:srgbClr val="6A8192"/>
                </a:solidFill>
                <a:latin typeface="Arial" panose="020B0604020202020204" pitchFamily="34" charset="0"/>
              </a:rPr>
              <a:t>75</a:t>
            </a:r>
          </a:p>
        </p:txBody>
      </p:sp>
      <p:cxnSp>
        <p:nvCxnSpPr>
          <p:cNvPr id="17" name="Grid 100">
            <a:extLst>
              <a:ext uri="{FF2B5EF4-FFF2-40B4-BE49-F238E27FC236}">
                <a16:creationId xmlns:a16="http://schemas.microsoft.com/office/drawing/2014/main" id="{BEBA3DA5-944A-2860-8042-5D9E6C9300B5}"/>
              </a:ext>
            </a:extLst>
          </p:cNvPr>
          <p:cNvCxnSpPr/>
          <p:nvPr/>
        </p:nvCxnSpPr>
        <p:spPr>
          <a:xfrm>
            <a:off x="7391400" y="2006600"/>
            <a:ext cx="0" cy="3606800"/>
          </a:xfrm>
          <a:prstGeom prst="line">
            <a:avLst/>
          </a:prstGeom>
          <a:ln w="8890">
            <a:solidFill>
              <a:srgbClr val="DC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ick 100">
            <a:extLst>
              <a:ext uri="{FF2B5EF4-FFF2-40B4-BE49-F238E27FC236}">
                <a16:creationId xmlns:a16="http://schemas.microsoft.com/office/drawing/2014/main" id="{D51C134F-C4EC-63F1-EE85-E19554FFD867}"/>
              </a:ext>
            </a:extLst>
          </p:cNvPr>
          <p:cNvSpPr txBox="1"/>
          <p:nvPr/>
        </p:nvSpPr>
        <p:spPr>
          <a:xfrm>
            <a:off x="7213600" y="5727700"/>
            <a:ext cx="355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900">
                <a:solidFill>
                  <a:srgbClr val="6A8192"/>
                </a:solidFill>
                <a:latin typeface="Arial" panose="020B0604020202020204" pitchFamily="34" charset="0"/>
              </a:rPr>
              <a:t>100</a:t>
            </a:r>
          </a:p>
        </p:txBody>
      </p:sp>
      <p:sp>
        <p:nvSpPr>
          <p:cNvPr id="19" name="Legend swatch">
            <a:extLst>
              <a:ext uri="{FF2B5EF4-FFF2-40B4-BE49-F238E27FC236}">
                <a16:creationId xmlns:a16="http://schemas.microsoft.com/office/drawing/2014/main" id="{C6021D54-C305-D323-7A9E-BE3234CB33D0}"/>
              </a:ext>
            </a:extLst>
          </p:cNvPr>
          <p:cNvSpPr/>
          <p:nvPr/>
        </p:nvSpPr>
        <p:spPr>
          <a:xfrm>
            <a:off x="2667000" y="1676400"/>
            <a:ext cx="139700" cy="139700"/>
          </a:xfrm>
          <a:prstGeom prst="rect">
            <a:avLst/>
          </a:prstGeom>
          <a:solidFill>
            <a:srgbClr val="0D94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0" name="Legend">
            <a:extLst>
              <a:ext uri="{FF2B5EF4-FFF2-40B4-BE49-F238E27FC236}">
                <a16:creationId xmlns:a16="http://schemas.microsoft.com/office/drawing/2014/main" id="{30910D13-964E-B4AE-BDC6-EBEE1CB280F8}"/>
              </a:ext>
            </a:extLst>
          </p:cNvPr>
          <p:cNvSpPr txBox="1"/>
          <p:nvPr/>
        </p:nvSpPr>
        <p:spPr>
          <a:xfrm>
            <a:off x="2882900" y="1625600"/>
            <a:ext cx="914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000">
                <a:solidFill>
                  <a:srgbClr val="49657A"/>
                </a:solidFill>
                <a:latin typeface="Arial" panose="020B0604020202020204" pitchFamily="34" charset="0"/>
              </a:rPr>
              <a:t>Accuracy</a:t>
            </a:r>
          </a:p>
        </p:txBody>
      </p:sp>
      <p:sp>
        <p:nvSpPr>
          <p:cNvPr id="21" name="Legend swatch">
            <a:extLst>
              <a:ext uri="{FF2B5EF4-FFF2-40B4-BE49-F238E27FC236}">
                <a16:creationId xmlns:a16="http://schemas.microsoft.com/office/drawing/2014/main" id="{2E70AD8A-E074-80BD-D3E9-E413F4DCFC98}"/>
              </a:ext>
            </a:extLst>
          </p:cNvPr>
          <p:cNvSpPr/>
          <p:nvPr/>
        </p:nvSpPr>
        <p:spPr>
          <a:xfrm>
            <a:off x="3937000" y="1676400"/>
            <a:ext cx="139700" cy="139700"/>
          </a:xfrm>
          <a:prstGeom prst="rect">
            <a:avLst/>
          </a:prstGeom>
          <a:solidFill>
            <a:srgbClr val="3D8D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2" name="Legend">
            <a:extLst>
              <a:ext uri="{FF2B5EF4-FFF2-40B4-BE49-F238E27FC236}">
                <a16:creationId xmlns:a16="http://schemas.microsoft.com/office/drawing/2014/main" id="{6935E157-6C53-4004-BE33-21495377E09F}"/>
              </a:ext>
            </a:extLst>
          </p:cNvPr>
          <p:cNvSpPr txBox="1"/>
          <p:nvPr/>
        </p:nvSpPr>
        <p:spPr>
          <a:xfrm>
            <a:off x="4152900" y="1625600"/>
            <a:ext cx="914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000">
                <a:solidFill>
                  <a:srgbClr val="49657A"/>
                </a:solidFill>
                <a:latin typeface="Arial" panose="020B0604020202020204" pitchFamily="34" charset="0"/>
              </a:rPr>
              <a:t>Recall</a:t>
            </a:r>
          </a:p>
        </p:txBody>
      </p:sp>
      <p:sp>
        <p:nvSpPr>
          <p:cNvPr id="23" name="Legend swatch">
            <a:extLst>
              <a:ext uri="{FF2B5EF4-FFF2-40B4-BE49-F238E27FC236}">
                <a16:creationId xmlns:a16="http://schemas.microsoft.com/office/drawing/2014/main" id="{2DFF62AE-9959-42D6-43F2-6AED0E5C43E6}"/>
              </a:ext>
            </a:extLst>
          </p:cNvPr>
          <p:cNvSpPr/>
          <p:nvPr/>
        </p:nvSpPr>
        <p:spPr>
          <a:xfrm>
            <a:off x="5207000" y="1676400"/>
            <a:ext cx="139700" cy="139700"/>
          </a:xfrm>
          <a:prstGeom prst="rect">
            <a:avLst/>
          </a:prstGeom>
          <a:solidFill>
            <a:srgbClr val="1230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4" name="Legend">
            <a:extLst>
              <a:ext uri="{FF2B5EF4-FFF2-40B4-BE49-F238E27FC236}">
                <a16:creationId xmlns:a16="http://schemas.microsoft.com/office/drawing/2014/main" id="{300AF63C-D4C6-0844-1FC4-3D63E078439D}"/>
              </a:ext>
            </a:extLst>
          </p:cNvPr>
          <p:cNvSpPr txBox="1"/>
          <p:nvPr/>
        </p:nvSpPr>
        <p:spPr>
          <a:xfrm>
            <a:off x="5422900" y="1625600"/>
            <a:ext cx="914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000">
                <a:solidFill>
                  <a:srgbClr val="49657A"/>
                </a:solidFill>
                <a:latin typeface="Arial" panose="020B0604020202020204" pitchFamily="34" charset="0"/>
              </a:rPr>
              <a:t>F1</a:t>
            </a:r>
          </a:p>
        </p:txBody>
      </p:sp>
      <p:sp>
        <p:nvSpPr>
          <p:cNvPr id="25" name="Mode label">
            <a:extLst>
              <a:ext uri="{FF2B5EF4-FFF2-40B4-BE49-F238E27FC236}">
                <a16:creationId xmlns:a16="http://schemas.microsoft.com/office/drawing/2014/main" id="{A4613102-C816-FEE9-AA54-3DE57F8617BD}"/>
              </a:ext>
            </a:extLst>
          </p:cNvPr>
          <p:cNvSpPr txBox="1"/>
          <p:nvPr/>
        </p:nvSpPr>
        <p:spPr>
          <a:xfrm>
            <a:off x="863600" y="2578100"/>
            <a:ext cx="1473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300" b="1">
                <a:solidFill>
                  <a:srgbClr val="07131F"/>
                </a:solidFill>
                <a:latin typeface="Arial" panose="020B0604020202020204" pitchFamily="34" charset="0"/>
              </a:rPr>
              <a:t>Heurístico</a:t>
            </a:r>
          </a:p>
        </p:txBody>
      </p:sp>
      <p:sp>
        <p:nvSpPr>
          <p:cNvPr id="26" name="Result bar">
            <a:extLst>
              <a:ext uri="{FF2B5EF4-FFF2-40B4-BE49-F238E27FC236}">
                <a16:creationId xmlns:a16="http://schemas.microsoft.com/office/drawing/2014/main" id="{DC463817-0F18-91F5-99B0-7CBD48B402DE}"/>
              </a:ext>
            </a:extLst>
          </p:cNvPr>
          <p:cNvSpPr/>
          <p:nvPr/>
        </p:nvSpPr>
        <p:spPr>
          <a:xfrm>
            <a:off x="2565400" y="2413000"/>
            <a:ext cx="4826000" cy="165100"/>
          </a:xfrm>
          <a:prstGeom prst="rect">
            <a:avLst/>
          </a:prstGeom>
          <a:solidFill>
            <a:srgbClr val="0D94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7" name="Result value">
            <a:extLst>
              <a:ext uri="{FF2B5EF4-FFF2-40B4-BE49-F238E27FC236}">
                <a16:creationId xmlns:a16="http://schemas.microsoft.com/office/drawing/2014/main" id="{CE48E145-D997-61F0-3CD2-7BFA8DE07240}"/>
              </a:ext>
            </a:extLst>
          </p:cNvPr>
          <p:cNvSpPr txBox="1"/>
          <p:nvPr/>
        </p:nvSpPr>
        <p:spPr>
          <a:xfrm>
            <a:off x="7467600" y="2400300"/>
            <a:ext cx="6858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900" b="1">
                <a:solidFill>
                  <a:srgbClr val="49657A"/>
                </a:solidFill>
                <a:latin typeface="Arial" panose="020B0604020202020204" pitchFamily="34" charset="0"/>
              </a:rPr>
              <a:t>100,0 %</a:t>
            </a:r>
          </a:p>
        </p:txBody>
      </p:sp>
      <p:sp>
        <p:nvSpPr>
          <p:cNvPr id="28" name="Result bar">
            <a:extLst>
              <a:ext uri="{FF2B5EF4-FFF2-40B4-BE49-F238E27FC236}">
                <a16:creationId xmlns:a16="http://schemas.microsoft.com/office/drawing/2014/main" id="{9904FC43-35AA-BC52-CBA4-EA7340B33DD5}"/>
              </a:ext>
            </a:extLst>
          </p:cNvPr>
          <p:cNvSpPr/>
          <p:nvPr/>
        </p:nvSpPr>
        <p:spPr>
          <a:xfrm>
            <a:off x="2565400" y="2679700"/>
            <a:ext cx="4826000" cy="165100"/>
          </a:xfrm>
          <a:prstGeom prst="rect">
            <a:avLst/>
          </a:prstGeom>
          <a:solidFill>
            <a:srgbClr val="3D8D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9" name="Result value">
            <a:extLst>
              <a:ext uri="{FF2B5EF4-FFF2-40B4-BE49-F238E27FC236}">
                <a16:creationId xmlns:a16="http://schemas.microsoft.com/office/drawing/2014/main" id="{681D3C43-A493-2B4D-750B-7062A45B1F40}"/>
              </a:ext>
            </a:extLst>
          </p:cNvPr>
          <p:cNvSpPr txBox="1"/>
          <p:nvPr/>
        </p:nvSpPr>
        <p:spPr>
          <a:xfrm>
            <a:off x="7467600" y="2667000"/>
            <a:ext cx="6858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900" b="1">
                <a:solidFill>
                  <a:srgbClr val="49657A"/>
                </a:solidFill>
                <a:latin typeface="Arial" panose="020B0604020202020204" pitchFamily="34" charset="0"/>
              </a:rPr>
              <a:t>100,0 %</a:t>
            </a:r>
          </a:p>
        </p:txBody>
      </p:sp>
      <p:sp>
        <p:nvSpPr>
          <p:cNvPr id="30" name="Result bar">
            <a:extLst>
              <a:ext uri="{FF2B5EF4-FFF2-40B4-BE49-F238E27FC236}">
                <a16:creationId xmlns:a16="http://schemas.microsoft.com/office/drawing/2014/main" id="{143C84ED-770B-EA82-7AF2-441DC60A53B9}"/>
              </a:ext>
            </a:extLst>
          </p:cNvPr>
          <p:cNvSpPr/>
          <p:nvPr/>
        </p:nvSpPr>
        <p:spPr>
          <a:xfrm>
            <a:off x="2565400" y="2946400"/>
            <a:ext cx="4826000" cy="165100"/>
          </a:xfrm>
          <a:prstGeom prst="rect">
            <a:avLst/>
          </a:prstGeom>
          <a:solidFill>
            <a:srgbClr val="1230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1" name="Result value">
            <a:extLst>
              <a:ext uri="{FF2B5EF4-FFF2-40B4-BE49-F238E27FC236}">
                <a16:creationId xmlns:a16="http://schemas.microsoft.com/office/drawing/2014/main" id="{7F560EBF-7051-7A95-0BC5-4CD36DD15E31}"/>
              </a:ext>
            </a:extLst>
          </p:cNvPr>
          <p:cNvSpPr txBox="1"/>
          <p:nvPr/>
        </p:nvSpPr>
        <p:spPr>
          <a:xfrm>
            <a:off x="7467600" y="2933700"/>
            <a:ext cx="6858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900" b="1">
                <a:solidFill>
                  <a:srgbClr val="49657A"/>
                </a:solidFill>
                <a:latin typeface="Arial" panose="020B0604020202020204" pitchFamily="34" charset="0"/>
              </a:rPr>
              <a:t>100,0 %</a:t>
            </a:r>
          </a:p>
        </p:txBody>
      </p:sp>
      <p:sp>
        <p:nvSpPr>
          <p:cNvPr id="32" name="Mode label">
            <a:extLst>
              <a:ext uri="{FF2B5EF4-FFF2-40B4-BE49-F238E27FC236}">
                <a16:creationId xmlns:a16="http://schemas.microsoft.com/office/drawing/2014/main" id="{743665F6-A94E-F646-D050-3EF295EA4A3C}"/>
              </a:ext>
            </a:extLst>
          </p:cNvPr>
          <p:cNvSpPr txBox="1"/>
          <p:nvPr/>
        </p:nvSpPr>
        <p:spPr>
          <a:xfrm>
            <a:off x="863600" y="3771900"/>
            <a:ext cx="1473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300" b="1">
                <a:solidFill>
                  <a:srgbClr val="07131F"/>
                </a:solidFill>
                <a:latin typeface="Arial" panose="020B0604020202020204" pitchFamily="34" charset="0"/>
              </a:rPr>
              <a:t>Neuronal</a:t>
            </a:r>
          </a:p>
        </p:txBody>
      </p:sp>
      <p:sp>
        <p:nvSpPr>
          <p:cNvPr id="33" name="Result bar">
            <a:extLst>
              <a:ext uri="{FF2B5EF4-FFF2-40B4-BE49-F238E27FC236}">
                <a16:creationId xmlns:a16="http://schemas.microsoft.com/office/drawing/2014/main" id="{AF2A51ED-8815-664A-72C2-AA8FECA5A7B1}"/>
              </a:ext>
            </a:extLst>
          </p:cNvPr>
          <p:cNvSpPr/>
          <p:nvPr/>
        </p:nvSpPr>
        <p:spPr>
          <a:xfrm>
            <a:off x="2565400" y="3606800"/>
            <a:ext cx="3619500" cy="165100"/>
          </a:xfrm>
          <a:prstGeom prst="rect">
            <a:avLst/>
          </a:prstGeom>
          <a:solidFill>
            <a:srgbClr val="0D94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4" name="Result value">
            <a:extLst>
              <a:ext uri="{FF2B5EF4-FFF2-40B4-BE49-F238E27FC236}">
                <a16:creationId xmlns:a16="http://schemas.microsoft.com/office/drawing/2014/main" id="{5C01A688-93F7-9832-B822-7C3C5CCEFD06}"/>
              </a:ext>
            </a:extLst>
          </p:cNvPr>
          <p:cNvSpPr txBox="1"/>
          <p:nvPr/>
        </p:nvSpPr>
        <p:spPr>
          <a:xfrm>
            <a:off x="6261100" y="3594100"/>
            <a:ext cx="6858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900" b="1">
                <a:solidFill>
                  <a:srgbClr val="49657A"/>
                </a:solidFill>
                <a:latin typeface="Arial" panose="020B0604020202020204" pitchFamily="34" charset="0"/>
              </a:rPr>
              <a:t>75,0 %</a:t>
            </a:r>
          </a:p>
        </p:txBody>
      </p:sp>
      <p:sp>
        <p:nvSpPr>
          <p:cNvPr id="35" name="Result bar">
            <a:extLst>
              <a:ext uri="{FF2B5EF4-FFF2-40B4-BE49-F238E27FC236}">
                <a16:creationId xmlns:a16="http://schemas.microsoft.com/office/drawing/2014/main" id="{C875BB6E-7E0B-CB60-51B7-B6C1D4F1A889}"/>
              </a:ext>
            </a:extLst>
          </p:cNvPr>
          <p:cNvSpPr/>
          <p:nvPr/>
        </p:nvSpPr>
        <p:spPr>
          <a:xfrm>
            <a:off x="2565400" y="3873500"/>
            <a:ext cx="3619500" cy="165100"/>
          </a:xfrm>
          <a:prstGeom prst="rect">
            <a:avLst/>
          </a:prstGeom>
          <a:solidFill>
            <a:srgbClr val="3D8D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6" name="Result value">
            <a:extLst>
              <a:ext uri="{FF2B5EF4-FFF2-40B4-BE49-F238E27FC236}">
                <a16:creationId xmlns:a16="http://schemas.microsoft.com/office/drawing/2014/main" id="{6AA4E248-F565-E26F-DE4B-32DC72310CF8}"/>
              </a:ext>
            </a:extLst>
          </p:cNvPr>
          <p:cNvSpPr txBox="1"/>
          <p:nvPr/>
        </p:nvSpPr>
        <p:spPr>
          <a:xfrm>
            <a:off x="6261100" y="3860800"/>
            <a:ext cx="6858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900" b="1">
                <a:solidFill>
                  <a:srgbClr val="49657A"/>
                </a:solidFill>
                <a:latin typeface="Arial" panose="020B0604020202020204" pitchFamily="34" charset="0"/>
              </a:rPr>
              <a:t>75,0 %</a:t>
            </a:r>
          </a:p>
        </p:txBody>
      </p:sp>
      <p:sp>
        <p:nvSpPr>
          <p:cNvPr id="37" name="Result bar">
            <a:extLst>
              <a:ext uri="{FF2B5EF4-FFF2-40B4-BE49-F238E27FC236}">
                <a16:creationId xmlns:a16="http://schemas.microsoft.com/office/drawing/2014/main" id="{3805D66A-092E-F386-C426-D2FB4771AE19}"/>
              </a:ext>
            </a:extLst>
          </p:cNvPr>
          <p:cNvSpPr/>
          <p:nvPr/>
        </p:nvSpPr>
        <p:spPr>
          <a:xfrm>
            <a:off x="2565400" y="4140200"/>
            <a:ext cx="3619500" cy="165100"/>
          </a:xfrm>
          <a:prstGeom prst="rect">
            <a:avLst/>
          </a:prstGeom>
          <a:solidFill>
            <a:srgbClr val="1230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8" name="Result value">
            <a:extLst>
              <a:ext uri="{FF2B5EF4-FFF2-40B4-BE49-F238E27FC236}">
                <a16:creationId xmlns:a16="http://schemas.microsoft.com/office/drawing/2014/main" id="{1E9C4963-A023-29CD-E6FE-96D9312B430F}"/>
              </a:ext>
            </a:extLst>
          </p:cNvPr>
          <p:cNvSpPr txBox="1"/>
          <p:nvPr/>
        </p:nvSpPr>
        <p:spPr>
          <a:xfrm>
            <a:off x="6261100" y="4127500"/>
            <a:ext cx="6858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900" b="1">
                <a:solidFill>
                  <a:srgbClr val="49657A"/>
                </a:solidFill>
                <a:latin typeface="Arial" panose="020B0604020202020204" pitchFamily="34" charset="0"/>
              </a:rPr>
              <a:t>75,0 %</a:t>
            </a:r>
          </a:p>
        </p:txBody>
      </p:sp>
      <p:sp>
        <p:nvSpPr>
          <p:cNvPr id="39" name="Mode label">
            <a:extLst>
              <a:ext uri="{FF2B5EF4-FFF2-40B4-BE49-F238E27FC236}">
                <a16:creationId xmlns:a16="http://schemas.microsoft.com/office/drawing/2014/main" id="{009C5C8A-4EDA-AF7E-73AD-D73EFE9C05FC}"/>
              </a:ext>
            </a:extLst>
          </p:cNvPr>
          <p:cNvSpPr txBox="1"/>
          <p:nvPr/>
        </p:nvSpPr>
        <p:spPr>
          <a:xfrm>
            <a:off x="863600" y="4965700"/>
            <a:ext cx="1473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300" b="1">
                <a:solidFill>
                  <a:srgbClr val="07131F"/>
                </a:solidFill>
                <a:latin typeface="Arial" panose="020B0604020202020204" pitchFamily="34" charset="0"/>
              </a:rPr>
              <a:t>Combinado</a:t>
            </a:r>
          </a:p>
        </p:txBody>
      </p:sp>
      <p:sp>
        <p:nvSpPr>
          <p:cNvPr id="40" name="Result bar">
            <a:extLst>
              <a:ext uri="{FF2B5EF4-FFF2-40B4-BE49-F238E27FC236}">
                <a16:creationId xmlns:a16="http://schemas.microsoft.com/office/drawing/2014/main" id="{6BD6D8C7-9C3A-6906-5C3E-025A937A7FA9}"/>
              </a:ext>
            </a:extLst>
          </p:cNvPr>
          <p:cNvSpPr/>
          <p:nvPr/>
        </p:nvSpPr>
        <p:spPr>
          <a:xfrm>
            <a:off x="2565400" y="4800600"/>
            <a:ext cx="4526788" cy="165100"/>
          </a:xfrm>
          <a:prstGeom prst="rect">
            <a:avLst/>
          </a:prstGeom>
          <a:solidFill>
            <a:srgbClr val="0D94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1" name="Result value">
            <a:extLst>
              <a:ext uri="{FF2B5EF4-FFF2-40B4-BE49-F238E27FC236}">
                <a16:creationId xmlns:a16="http://schemas.microsoft.com/office/drawing/2014/main" id="{53E5255C-41FA-DEB7-3888-6F5DBA58139D}"/>
              </a:ext>
            </a:extLst>
          </p:cNvPr>
          <p:cNvSpPr txBox="1"/>
          <p:nvPr/>
        </p:nvSpPr>
        <p:spPr>
          <a:xfrm>
            <a:off x="7168388" y="4787900"/>
            <a:ext cx="6858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900" b="1">
                <a:solidFill>
                  <a:srgbClr val="49657A"/>
                </a:solidFill>
                <a:latin typeface="Arial" panose="020B0604020202020204" pitchFamily="34" charset="0"/>
              </a:rPr>
              <a:t>93,8 %</a:t>
            </a:r>
          </a:p>
        </p:txBody>
      </p:sp>
      <p:sp>
        <p:nvSpPr>
          <p:cNvPr id="42" name="Result bar">
            <a:extLst>
              <a:ext uri="{FF2B5EF4-FFF2-40B4-BE49-F238E27FC236}">
                <a16:creationId xmlns:a16="http://schemas.microsoft.com/office/drawing/2014/main" id="{D07FFDEE-8460-B747-C34F-BA5229858962}"/>
              </a:ext>
            </a:extLst>
          </p:cNvPr>
          <p:cNvSpPr/>
          <p:nvPr/>
        </p:nvSpPr>
        <p:spPr>
          <a:xfrm>
            <a:off x="2565400" y="5067300"/>
            <a:ext cx="4826000" cy="165100"/>
          </a:xfrm>
          <a:prstGeom prst="rect">
            <a:avLst/>
          </a:prstGeom>
          <a:solidFill>
            <a:srgbClr val="3D8D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3" name="Result value">
            <a:extLst>
              <a:ext uri="{FF2B5EF4-FFF2-40B4-BE49-F238E27FC236}">
                <a16:creationId xmlns:a16="http://schemas.microsoft.com/office/drawing/2014/main" id="{DBAEDB75-3516-E280-72D6-164C6284C46D}"/>
              </a:ext>
            </a:extLst>
          </p:cNvPr>
          <p:cNvSpPr txBox="1"/>
          <p:nvPr/>
        </p:nvSpPr>
        <p:spPr>
          <a:xfrm>
            <a:off x="7467600" y="5054600"/>
            <a:ext cx="6858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900" b="1">
                <a:solidFill>
                  <a:srgbClr val="49657A"/>
                </a:solidFill>
                <a:latin typeface="Arial" panose="020B0604020202020204" pitchFamily="34" charset="0"/>
              </a:rPr>
              <a:t>100,0 %</a:t>
            </a:r>
          </a:p>
        </p:txBody>
      </p:sp>
      <p:sp>
        <p:nvSpPr>
          <p:cNvPr id="44" name="Result bar">
            <a:extLst>
              <a:ext uri="{FF2B5EF4-FFF2-40B4-BE49-F238E27FC236}">
                <a16:creationId xmlns:a16="http://schemas.microsoft.com/office/drawing/2014/main" id="{8FED2FE3-6A56-BC2D-B8DA-8C7884F85E6C}"/>
              </a:ext>
            </a:extLst>
          </p:cNvPr>
          <p:cNvSpPr/>
          <p:nvPr/>
        </p:nvSpPr>
        <p:spPr>
          <a:xfrm>
            <a:off x="2565400" y="5334000"/>
            <a:ext cx="4541265" cy="165100"/>
          </a:xfrm>
          <a:prstGeom prst="rect">
            <a:avLst/>
          </a:prstGeom>
          <a:solidFill>
            <a:srgbClr val="1230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5" name="Result value">
            <a:extLst>
              <a:ext uri="{FF2B5EF4-FFF2-40B4-BE49-F238E27FC236}">
                <a16:creationId xmlns:a16="http://schemas.microsoft.com/office/drawing/2014/main" id="{7C963345-A362-F1BA-F78F-D2CA5DAE9073}"/>
              </a:ext>
            </a:extLst>
          </p:cNvPr>
          <p:cNvSpPr txBox="1"/>
          <p:nvPr/>
        </p:nvSpPr>
        <p:spPr>
          <a:xfrm>
            <a:off x="7182866" y="5321300"/>
            <a:ext cx="6858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900" b="1">
                <a:solidFill>
                  <a:srgbClr val="49657A"/>
                </a:solidFill>
                <a:latin typeface="Arial" panose="020B0604020202020204" pitchFamily="34" charset="0"/>
              </a:rPr>
              <a:t>94,1 %</a:t>
            </a:r>
          </a:p>
        </p:txBody>
      </p:sp>
      <p:sp>
        <p:nvSpPr>
          <p:cNvPr id="46" name="Result callout">
            <a:extLst>
              <a:ext uri="{FF2B5EF4-FFF2-40B4-BE49-F238E27FC236}">
                <a16:creationId xmlns:a16="http://schemas.microsoft.com/office/drawing/2014/main" id="{FCBF444D-1810-48DD-2B55-5C56A136FCC4}"/>
              </a:ext>
            </a:extLst>
          </p:cNvPr>
          <p:cNvSpPr/>
          <p:nvPr/>
        </p:nvSpPr>
        <p:spPr>
          <a:xfrm>
            <a:off x="8229600" y="1955800"/>
            <a:ext cx="3048000" cy="1422400"/>
          </a:xfrm>
          <a:prstGeom prst="rect">
            <a:avLst/>
          </a:prstGeom>
          <a:solidFill>
            <a:srgbClr val="07131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7" name="Recall result">
            <a:extLst>
              <a:ext uri="{FF2B5EF4-FFF2-40B4-BE49-F238E27FC236}">
                <a16:creationId xmlns:a16="http://schemas.microsoft.com/office/drawing/2014/main" id="{2968425A-E014-7B25-65F7-4D6F8D5DD570}"/>
              </a:ext>
            </a:extLst>
          </p:cNvPr>
          <p:cNvSpPr txBox="1"/>
          <p:nvPr/>
        </p:nvSpPr>
        <p:spPr>
          <a:xfrm>
            <a:off x="8534400" y="2286000"/>
            <a:ext cx="241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2500" b="1">
                <a:solidFill>
                  <a:srgbClr val="FFFFFF"/>
                </a:solidFill>
                <a:latin typeface="Arial" panose="020B0604020202020204" pitchFamily="34" charset="0"/>
              </a:rPr>
              <a:t>100 % recall</a:t>
            </a:r>
          </a:p>
        </p:txBody>
      </p:sp>
      <p:sp>
        <p:nvSpPr>
          <p:cNvPr id="48" name="Recall detail">
            <a:extLst>
              <a:ext uri="{FF2B5EF4-FFF2-40B4-BE49-F238E27FC236}">
                <a16:creationId xmlns:a16="http://schemas.microsoft.com/office/drawing/2014/main" id="{4C2CBBCC-1942-B277-1F8E-B925DEC4A57F}"/>
              </a:ext>
            </a:extLst>
          </p:cNvPr>
          <p:cNvSpPr txBox="1"/>
          <p:nvPr/>
        </p:nvSpPr>
        <p:spPr>
          <a:xfrm>
            <a:off x="8534400" y="2806700"/>
            <a:ext cx="241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200">
                <a:solidFill>
                  <a:srgbClr val="C9D7E0"/>
                </a:solidFill>
                <a:latin typeface="Arial" panose="020B0604020202020204" pitchFamily="34" charset="0"/>
              </a:rPr>
              <a:t>8/8 phishing detectados
0 falsos negativos · 1 falso positivo</a:t>
            </a:r>
          </a:p>
        </p:txBody>
      </p:sp>
      <p:sp>
        <p:nvSpPr>
          <p:cNvPr id="49" name="External title">
            <a:extLst>
              <a:ext uri="{FF2B5EF4-FFF2-40B4-BE49-F238E27FC236}">
                <a16:creationId xmlns:a16="http://schemas.microsoft.com/office/drawing/2014/main" id="{80D66476-B786-5D1F-1136-AC3FDD623A94}"/>
              </a:ext>
            </a:extLst>
          </p:cNvPr>
          <p:cNvSpPr txBox="1"/>
          <p:nvPr/>
        </p:nvSpPr>
        <p:spPr>
          <a:xfrm>
            <a:off x="8229600" y="3835400"/>
            <a:ext cx="3048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700" b="1">
                <a:solidFill>
                  <a:srgbClr val="07131F"/>
                </a:solidFill>
                <a:latin typeface="Arial" panose="020B0604020202020204" pitchFamily="34" charset="0"/>
              </a:rPr>
              <a:t>Diagnóstico DIFrauD</a:t>
            </a:r>
          </a:p>
        </p:txBody>
      </p:sp>
      <p:sp>
        <p:nvSpPr>
          <p:cNvPr id="50" name="External metrics">
            <a:extLst>
              <a:ext uri="{FF2B5EF4-FFF2-40B4-BE49-F238E27FC236}">
                <a16:creationId xmlns:a16="http://schemas.microsoft.com/office/drawing/2014/main" id="{4EF58254-DB38-4258-5191-B97ECB980015}"/>
              </a:ext>
            </a:extLst>
          </p:cNvPr>
          <p:cNvSpPr txBox="1"/>
          <p:nvPr/>
        </p:nvSpPr>
        <p:spPr>
          <a:xfrm>
            <a:off x="8229600" y="4305300"/>
            <a:ext cx="3048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2200" b="1">
                <a:solidFill>
                  <a:srgbClr val="0F766E"/>
                </a:solidFill>
                <a:latin typeface="Arial" panose="020B0604020202020204" pitchFamily="34" charset="0"/>
              </a:rPr>
              <a:t>90,8 % accuracy
96,4 % recall</a:t>
            </a:r>
          </a:p>
        </p:txBody>
      </p:sp>
      <p:sp>
        <p:nvSpPr>
          <p:cNvPr id="51" name="External caveat">
            <a:extLst>
              <a:ext uri="{FF2B5EF4-FFF2-40B4-BE49-F238E27FC236}">
                <a16:creationId xmlns:a16="http://schemas.microsoft.com/office/drawing/2014/main" id="{55241724-A8CE-B566-D0F9-B2D1C3179FD3}"/>
              </a:ext>
            </a:extLst>
          </p:cNvPr>
          <p:cNvSpPr txBox="1"/>
          <p:nvPr/>
        </p:nvSpPr>
        <p:spPr>
          <a:xfrm>
            <a:off x="8229600" y="5168900"/>
            <a:ext cx="2870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200">
                <a:solidFill>
                  <a:srgbClr val="49657A"/>
                </a:solidFill>
                <a:latin typeface="Arial" panose="020B0604020202020204" pitchFamily="34" charset="0"/>
              </a:rPr>
              <a:t>Resultado complementario; no equivale a producción.</a:t>
            </a:r>
          </a:p>
        </p:txBody>
      </p:sp>
    </p:spTree>
    <p:extLst>
      <p:ext uri="{BB962C8B-B14F-4D97-AF65-F5344CB8AC3E}">
        <p14:creationId xmlns:p14="http://schemas.microsoft.com/office/powerpoint/2010/main" val="5142447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>
            <a:extLst>
              <a:ext uri="{FF2B5EF4-FFF2-40B4-BE49-F238E27FC236}">
                <a16:creationId xmlns:a16="http://schemas.microsoft.com/office/drawing/2014/main" id="{8E9CB117-B07A-7B97-46E1-2438D186B807}"/>
              </a:ext>
            </a:extLst>
          </p:cNvPr>
          <p:cNvSpPr txBox="1"/>
          <p:nvPr/>
        </p:nvSpPr>
        <p:spPr>
          <a:xfrm>
            <a:off x="711200" y="2540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000" b="1">
                <a:solidFill>
                  <a:srgbClr val="0F766E"/>
                </a:solidFill>
                <a:latin typeface="Arial" panose="020B0604020202020204" pitchFamily="34" charset="0"/>
              </a:rPr>
              <a:t>VALIDACIÓN</a:t>
            </a:r>
          </a:p>
        </p:txBody>
      </p:sp>
      <p:sp>
        <p:nvSpPr>
          <p:cNvPr id="3" name="Slide title">
            <a:extLst>
              <a:ext uri="{FF2B5EF4-FFF2-40B4-BE49-F238E27FC236}">
                <a16:creationId xmlns:a16="http://schemas.microsoft.com/office/drawing/2014/main" id="{D073D0CD-8892-4E68-F6AB-D279EEA41F3A}"/>
              </a:ext>
            </a:extLst>
          </p:cNvPr>
          <p:cNvSpPr txBox="1"/>
          <p:nvPr/>
        </p:nvSpPr>
        <p:spPr>
          <a:xfrm>
            <a:off x="711200" y="533400"/>
            <a:ext cx="10769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3500" b="1">
                <a:solidFill>
                  <a:srgbClr val="07131F"/>
                </a:solidFill>
                <a:latin typeface="Arial" panose="020B0604020202020204" pitchFamily="34" charset="0"/>
              </a:rPr>
              <a:t>La evidencia cubre código, web y rendimiento</a:t>
            </a:r>
          </a:p>
        </p:txBody>
      </p:sp>
      <p:cxnSp>
        <p:nvCxnSpPr>
          <p:cNvPr id="4" name="Accent rule">
            <a:extLst>
              <a:ext uri="{FF2B5EF4-FFF2-40B4-BE49-F238E27FC236}">
                <a16:creationId xmlns:a16="http://schemas.microsoft.com/office/drawing/2014/main" id="{481F8A53-D6F1-AE0C-3B7E-B733A91888AA}"/>
              </a:ext>
            </a:extLst>
          </p:cNvPr>
          <p:cNvCxnSpPr/>
          <p:nvPr/>
        </p:nvCxnSpPr>
        <p:spPr>
          <a:xfrm>
            <a:off x="711200" y="1282700"/>
            <a:ext cx="711200" cy="0"/>
          </a:xfrm>
          <a:prstGeom prst="line">
            <a:avLst/>
          </a:prstGeom>
          <a:ln w="50800">
            <a:solidFill>
              <a:srgbClr val="0D9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 author">
            <a:extLst>
              <a:ext uri="{FF2B5EF4-FFF2-40B4-BE49-F238E27FC236}">
                <a16:creationId xmlns:a16="http://schemas.microsoft.com/office/drawing/2014/main" id="{EC8B2518-A03D-7A72-3990-EC68D8541050}"/>
              </a:ext>
            </a:extLst>
          </p:cNvPr>
          <p:cNvSpPr txBox="1"/>
          <p:nvPr/>
        </p:nvSpPr>
        <p:spPr>
          <a:xfrm>
            <a:off x="711200" y="65024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900">
                <a:solidFill>
                  <a:srgbClr val="6A8192"/>
                </a:solidFill>
                <a:latin typeface="Arial" panose="020B0604020202020204" pitchFamily="34" charset="0"/>
              </a:rPr>
              <a:t>Alejandro Villarrubia García · TFG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0B55A418-8601-9065-F899-4B598B0DD746}"/>
              </a:ext>
            </a:extLst>
          </p:cNvPr>
          <p:cNvSpPr txBox="1"/>
          <p:nvPr/>
        </p:nvSpPr>
        <p:spPr>
          <a:xfrm>
            <a:off x="11201400" y="6477000"/>
            <a:ext cx="279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000" b="1">
                <a:solidFill>
                  <a:srgbClr val="6A8192"/>
                </a:solidFill>
                <a:latin typeface="Arial" panose="020B0604020202020204" pitchFamily="34" charset="0"/>
              </a:rPr>
              <a:t>11</a:t>
            </a:r>
          </a:p>
        </p:txBody>
      </p:sp>
      <p:cxnSp>
        <p:nvCxnSpPr>
          <p:cNvPr id="7" name="Metric vertical">
            <a:extLst>
              <a:ext uri="{FF2B5EF4-FFF2-40B4-BE49-F238E27FC236}">
                <a16:creationId xmlns:a16="http://schemas.microsoft.com/office/drawing/2014/main" id="{0C6250CB-E51A-9FCF-6CD1-288B127564DE}"/>
              </a:ext>
            </a:extLst>
          </p:cNvPr>
          <p:cNvCxnSpPr/>
          <p:nvPr/>
        </p:nvCxnSpPr>
        <p:spPr>
          <a:xfrm>
            <a:off x="6096000" y="1803400"/>
            <a:ext cx="0" cy="3822700"/>
          </a:xfrm>
          <a:prstGeom prst="line">
            <a:avLst/>
          </a:prstGeom>
          <a:ln w="15240">
            <a:solidFill>
              <a:srgbClr val="DC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Metric horizontal">
            <a:extLst>
              <a:ext uri="{FF2B5EF4-FFF2-40B4-BE49-F238E27FC236}">
                <a16:creationId xmlns:a16="http://schemas.microsoft.com/office/drawing/2014/main" id="{CEB6976B-025D-F025-ABF2-28B1413C0215}"/>
              </a:ext>
            </a:extLst>
          </p:cNvPr>
          <p:cNvCxnSpPr/>
          <p:nvPr/>
        </p:nvCxnSpPr>
        <p:spPr>
          <a:xfrm>
            <a:off x="1016000" y="3708400"/>
            <a:ext cx="10160000" cy="0"/>
          </a:xfrm>
          <a:prstGeom prst="line">
            <a:avLst/>
          </a:prstGeom>
          <a:ln w="15240">
            <a:solidFill>
              <a:srgbClr val="DC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Metric value">
            <a:extLst>
              <a:ext uri="{FF2B5EF4-FFF2-40B4-BE49-F238E27FC236}">
                <a16:creationId xmlns:a16="http://schemas.microsoft.com/office/drawing/2014/main" id="{7236F043-36AF-CDAD-E590-98046F9CDC94}"/>
              </a:ext>
            </a:extLst>
          </p:cNvPr>
          <p:cNvSpPr txBox="1"/>
          <p:nvPr/>
        </p:nvSpPr>
        <p:spPr>
          <a:xfrm>
            <a:off x="1143000" y="19050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4200" b="1">
                <a:solidFill>
                  <a:srgbClr val="07131F"/>
                </a:solidFill>
                <a:latin typeface="Arial" panose="020B0604020202020204" pitchFamily="34" charset="0"/>
              </a:rPr>
              <a:t>87</a:t>
            </a:r>
          </a:p>
        </p:txBody>
      </p:sp>
      <p:sp>
        <p:nvSpPr>
          <p:cNvPr id="10" name="Metric title">
            <a:extLst>
              <a:ext uri="{FF2B5EF4-FFF2-40B4-BE49-F238E27FC236}">
                <a16:creationId xmlns:a16="http://schemas.microsoft.com/office/drawing/2014/main" id="{14A7AE11-FA66-D4C7-B574-1194D4A068A0}"/>
              </a:ext>
            </a:extLst>
          </p:cNvPr>
          <p:cNvSpPr txBox="1"/>
          <p:nvPr/>
        </p:nvSpPr>
        <p:spPr>
          <a:xfrm>
            <a:off x="1143000" y="2641600"/>
            <a:ext cx="4191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b="1">
                <a:solidFill>
                  <a:srgbClr val="07131F"/>
                </a:solidFill>
                <a:latin typeface="Arial" panose="020B0604020202020204" pitchFamily="34" charset="0"/>
              </a:rPr>
              <a:t>pruebas Python</a:t>
            </a:r>
          </a:p>
        </p:txBody>
      </p:sp>
      <p:sp>
        <p:nvSpPr>
          <p:cNvPr id="11" name="Metric detail">
            <a:extLst>
              <a:ext uri="{FF2B5EF4-FFF2-40B4-BE49-F238E27FC236}">
                <a16:creationId xmlns:a16="http://schemas.microsoft.com/office/drawing/2014/main" id="{A43B4BFB-3689-9F24-7EFC-CC1960150E45}"/>
              </a:ext>
            </a:extLst>
          </p:cNvPr>
          <p:cNvSpPr txBox="1"/>
          <p:nvPr/>
        </p:nvSpPr>
        <p:spPr>
          <a:xfrm>
            <a:off x="1143000" y="3048000"/>
            <a:ext cx="406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300">
                <a:solidFill>
                  <a:srgbClr val="49657A"/>
                </a:solidFill>
                <a:latin typeface="Arial" panose="020B0604020202020204" pitchFamily="34" charset="0"/>
              </a:rPr>
              <a:t>Componentes, API, modelos e integraciones</a:t>
            </a:r>
          </a:p>
        </p:txBody>
      </p:sp>
      <p:sp>
        <p:nvSpPr>
          <p:cNvPr id="12" name="Metric value">
            <a:extLst>
              <a:ext uri="{FF2B5EF4-FFF2-40B4-BE49-F238E27FC236}">
                <a16:creationId xmlns:a16="http://schemas.microsoft.com/office/drawing/2014/main" id="{CC081995-90A7-EC2E-B51E-A2267EDB0064}"/>
              </a:ext>
            </a:extLst>
          </p:cNvPr>
          <p:cNvSpPr txBox="1"/>
          <p:nvPr/>
        </p:nvSpPr>
        <p:spPr>
          <a:xfrm>
            <a:off x="6604000" y="19050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4200" b="1">
                <a:solidFill>
                  <a:srgbClr val="07131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3" name="Metric title">
            <a:extLst>
              <a:ext uri="{FF2B5EF4-FFF2-40B4-BE49-F238E27FC236}">
                <a16:creationId xmlns:a16="http://schemas.microsoft.com/office/drawing/2014/main" id="{A35FC88E-BFD4-D8A4-8C96-91723825E595}"/>
              </a:ext>
            </a:extLst>
          </p:cNvPr>
          <p:cNvSpPr txBox="1"/>
          <p:nvPr/>
        </p:nvSpPr>
        <p:spPr>
          <a:xfrm>
            <a:off x="6604000" y="2641600"/>
            <a:ext cx="4191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b="1">
                <a:solidFill>
                  <a:srgbClr val="07131F"/>
                </a:solidFill>
                <a:latin typeface="Arial" panose="020B0604020202020204" pitchFamily="34" charset="0"/>
              </a:rPr>
              <a:t>recorridos Chromium</a:t>
            </a:r>
          </a:p>
        </p:txBody>
      </p:sp>
      <p:sp>
        <p:nvSpPr>
          <p:cNvPr id="14" name="Metric detail">
            <a:extLst>
              <a:ext uri="{FF2B5EF4-FFF2-40B4-BE49-F238E27FC236}">
                <a16:creationId xmlns:a16="http://schemas.microsoft.com/office/drawing/2014/main" id="{96E1EF54-2BF8-BF9B-AD6A-4D9DF2FDF7F7}"/>
              </a:ext>
            </a:extLst>
          </p:cNvPr>
          <p:cNvSpPr txBox="1"/>
          <p:nvPr/>
        </p:nvSpPr>
        <p:spPr>
          <a:xfrm>
            <a:off x="6604000" y="3048000"/>
            <a:ext cx="406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300">
                <a:solidFill>
                  <a:srgbClr val="49657A"/>
                </a:solidFill>
                <a:latin typeface="Arial" panose="020B0604020202020204" pitchFamily="34" charset="0"/>
              </a:rPr>
              <a:t>Incluido navegador → Streamlit → backend</a:t>
            </a:r>
          </a:p>
        </p:txBody>
      </p:sp>
      <p:sp>
        <p:nvSpPr>
          <p:cNvPr id="15" name="Metric value">
            <a:extLst>
              <a:ext uri="{FF2B5EF4-FFF2-40B4-BE49-F238E27FC236}">
                <a16:creationId xmlns:a16="http://schemas.microsoft.com/office/drawing/2014/main" id="{BC9E6E07-B47D-82C0-085D-E8E6BD0AA168}"/>
              </a:ext>
            </a:extLst>
          </p:cNvPr>
          <p:cNvSpPr txBox="1"/>
          <p:nvPr/>
        </p:nvSpPr>
        <p:spPr>
          <a:xfrm>
            <a:off x="1143000" y="40386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4200" b="1">
                <a:solidFill>
                  <a:srgbClr val="0F766E"/>
                </a:solidFill>
                <a:latin typeface="Arial" panose="020B0604020202020204" pitchFamily="34" charset="0"/>
              </a:rPr>
              <a:t>96,6 %</a:t>
            </a:r>
          </a:p>
        </p:txBody>
      </p:sp>
      <p:sp>
        <p:nvSpPr>
          <p:cNvPr id="16" name="Metric title">
            <a:extLst>
              <a:ext uri="{FF2B5EF4-FFF2-40B4-BE49-F238E27FC236}">
                <a16:creationId xmlns:a16="http://schemas.microsoft.com/office/drawing/2014/main" id="{7778BB70-A072-5737-92A6-630AA73F531D}"/>
              </a:ext>
            </a:extLst>
          </p:cNvPr>
          <p:cNvSpPr txBox="1"/>
          <p:nvPr/>
        </p:nvSpPr>
        <p:spPr>
          <a:xfrm>
            <a:off x="1143000" y="4775200"/>
            <a:ext cx="4191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b="1">
                <a:solidFill>
                  <a:srgbClr val="07131F"/>
                </a:solidFill>
                <a:latin typeface="Arial" panose="020B0604020202020204" pitchFamily="34" charset="0"/>
              </a:rPr>
              <a:t>menos tiempo de importación</a:t>
            </a:r>
          </a:p>
        </p:txBody>
      </p:sp>
      <p:sp>
        <p:nvSpPr>
          <p:cNvPr id="17" name="Metric detail">
            <a:extLst>
              <a:ext uri="{FF2B5EF4-FFF2-40B4-BE49-F238E27FC236}">
                <a16:creationId xmlns:a16="http://schemas.microsoft.com/office/drawing/2014/main" id="{A038470C-2F3A-777F-93A4-585F3364CEBE}"/>
              </a:ext>
            </a:extLst>
          </p:cNvPr>
          <p:cNvSpPr txBox="1"/>
          <p:nvPr/>
        </p:nvSpPr>
        <p:spPr>
          <a:xfrm>
            <a:off x="1143000" y="5181600"/>
            <a:ext cx="406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300">
                <a:solidFill>
                  <a:srgbClr val="49657A"/>
                </a:solidFill>
                <a:latin typeface="Arial" panose="020B0604020202020204" pitchFamily="34" charset="0"/>
              </a:rPr>
              <a:t>Heurísticas tras diferir dependencias pesadas</a:t>
            </a:r>
          </a:p>
        </p:txBody>
      </p:sp>
      <p:sp>
        <p:nvSpPr>
          <p:cNvPr id="18" name="Metric value">
            <a:extLst>
              <a:ext uri="{FF2B5EF4-FFF2-40B4-BE49-F238E27FC236}">
                <a16:creationId xmlns:a16="http://schemas.microsoft.com/office/drawing/2014/main" id="{7FF8B0A3-81DD-E78B-B3F5-0697D04BA1A1}"/>
              </a:ext>
            </a:extLst>
          </p:cNvPr>
          <p:cNvSpPr txBox="1"/>
          <p:nvPr/>
        </p:nvSpPr>
        <p:spPr>
          <a:xfrm>
            <a:off x="6604000" y="40386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4200" b="1">
                <a:solidFill>
                  <a:srgbClr val="0F766E"/>
                </a:solidFill>
                <a:latin typeface="Arial" panose="020B0604020202020204" pitchFamily="34" charset="0"/>
              </a:rPr>
              <a:t>76,2 %</a:t>
            </a:r>
          </a:p>
        </p:txBody>
      </p:sp>
      <p:sp>
        <p:nvSpPr>
          <p:cNvPr id="19" name="Metric title">
            <a:extLst>
              <a:ext uri="{FF2B5EF4-FFF2-40B4-BE49-F238E27FC236}">
                <a16:creationId xmlns:a16="http://schemas.microsoft.com/office/drawing/2014/main" id="{A59905D9-FFCF-27AA-408B-D6A19DE13A4A}"/>
              </a:ext>
            </a:extLst>
          </p:cNvPr>
          <p:cNvSpPr txBox="1"/>
          <p:nvPr/>
        </p:nvSpPr>
        <p:spPr>
          <a:xfrm>
            <a:off x="6604000" y="4775200"/>
            <a:ext cx="4191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b="1">
                <a:solidFill>
                  <a:srgbClr val="07131F"/>
                </a:solidFill>
                <a:latin typeface="Arial" panose="020B0604020202020204" pitchFamily="34" charset="0"/>
              </a:rPr>
              <a:t>menos arranque de la web</a:t>
            </a:r>
          </a:p>
        </p:txBody>
      </p:sp>
      <p:sp>
        <p:nvSpPr>
          <p:cNvPr id="20" name="Metric detail">
            <a:extLst>
              <a:ext uri="{FF2B5EF4-FFF2-40B4-BE49-F238E27FC236}">
                <a16:creationId xmlns:a16="http://schemas.microsoft.com/office/drawing/2014/main" id="{88E8185E-320F-7CE1-C8AA-9A10BA5DB3DB}"/>
              </a:ext>
            </a:extLst>
          </p:cNvPr>
          <p:cNvSpPr txBox="1"/>
          <p:nvPr/>
        </p:nvSpPr>
        <p:spPr>
          <a:xfrm>
            <a:off x="6604000" y="5181600"/>
            <a:ext cx="406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300">
                <a:solidFill>
                  <a:srgbClr val="49657A"/>
                </a:solidFill>
                <a:latin typeface="Arial" panose="020B0604020202020204" pitchFamily="34" charset="0"/>
              </a:rPr>
              <a:t>Mejora medida; inferencia estable</a:t>
            </a:r>
          </a:p>
        </p:txBody>
      </p:sp>
    </p:spTree>
    <p:extLst>
      <p:ext uri="{BB962C8B-B14F-4D97-AF65-F5344CB8AC3E}">
        <p14:creationId xmlns:p14="http://schemas.microsoft.com/office/powerpoint/2010/main" val="29251457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>
            <a:extLst>
              <a:ext uri="{FF2B5EF4-FFF2-40B4-BE49-F238E27FC236}">
                <a16:creationId xmlns:a16="http://schemas.microsoft.com/office/drawing/2014/main" id="{4A764767-A7BF-96F6-5938-F290769DC3C6}"/>
              </a:ext>
            </a:extLst>
          </p:cNvPr>
          <p:cNvSpPr txBox="1"/>
          <p:nvPr/>
        </p:nvSpPr>
        <p:spPr>
          <a:xfrm>
            <a:off x="711200" y="2540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000" b="1">
                <a:solidFill>
                  <a:srgbClr val="0F766E"/>
                </a:solidFill>
                <a:latin typeface="Arial" panose="020B0604020202020204" pitchFamily="34" charset="0"/>
              </a:rPr>
              <a:t>DEMOSTRACIÓN</a:t>
            </a:r>
          </a:p>
        </p:txBody>
      </p:sp>
      <p:sp>
        <p:nvSpPr>
          <p:cNvPr id="3" name="Slide title">
            <a:extLst>
              <a:ext uri="{FF2B5EF4-FFF2-40B4-BE49-F238E27FC236}">
                <a16:creationId xmlns:a16="http://schemas.microsoft.com/office/drawing/2014/main" id="{04D5779C-0966-DE71-6CE0-2B9B8FDD7E96}"/>
              </a:ext>
            </a:extLst>
          </p:cNvPr>
          <p:cNvSpPr txBox="1"/>
          <p:nvPr/>
        </p:nvSpPr>
        <p:spPr>
          <a:xfrm>
            <a:off x="711200" y="533400"/>
            <a:ext cx="10769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3500" b="1">
                <a:solidFill>
                  <a:srgbClr val="07131F"/>
                </a:solidFill>
                <a:latin typeface="Arial" panose="020B0604020202020204" pitchFamily="34" charset="0"/>
              </a:rPr>
              <a:t>Cuatro pasos sostienen la demostración</a:t>
            </a:r>
          </a:p>
        </p:txBody>
      </p:sp>
      <p:cxnSp>
        <p:nvCxnSpPr>
          <p:cNvPr id="4" name="Accent rule">
            <a:extLst>
              <a:ext uri="{FF2B5EF4-FFF2-40B4-BE49-F238E27FC236}">
                <a16:creationId xmlns:a16="http://schemas.microsoft.com/office/drawing/2014/main" id="{4AD2E31E-82A2-5D04-FA98-D8745BD0ED8C}"/>
              </a:ext>
            </a:extLst>
          </p:cNvPr>
          <p:cNvCxnSpPr/>
          <p:nvPr/>
        </p:nvCxnSpPr>
        <p:spPr>
          <a:xfrm>
            <a:off x="711200" y="1282700"/>
            <a:ext cx="711200" cy="0"/>
          </a:xfrm>
          <a:prstGeom prst="line">
            <a:avLst/>
          </a:prstGeom>
          <a:ln w="50800">
            <a:solidFill>
              <a:srgbClr val="0D9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 author">
            <a:extLst>
              <a:ext uri="{FF2B5EF4-FFF2-40B4-BE49-F238E27FC236}">
                <a16:creationId xmlns:a16="http://schemas.microsoft.com/office/drawing/2014/main" id="{A6A39F68-D4D9-A0A5-52C8-0C143F2A1826}"/>
              </a:ext>
            </a:extLst>
          </p:cNvPr>
          <p:cNvSpPr txBox="1"/>
          <p:nvPr/>
        </p:nvSpPr>
        <p:spPr>
          <a:xfrm>
            <a:off x="711200" y="65024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900">
                <a:solidFill>
                  <a:srgbClr val="6A8192"/>
                </a:solidFill>
                <a:latin typeface="Arial" panose="020B0604020202020204" pitchFamily="34" charset="0"/>
              </a:rPr>
              <a:t>Alejandro Villarrubia García · TFG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BFE34CBE-9769-9797-80D5-4606F0D59C6C}"/>
              </a:ext>
            </a:extLst>
          </p:cNvPr>
          <p:cNvSpPr txBox="1"/>
          <p:nvPr/>
        </p:nvSpPr>
        <p:spPr>
          <a:xfrm>
            <a:off x="11201400" y="6477000"/>
            <a:ext cx="279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000" b="1">
                <a:solidFill>
                  <a:srgbClr val="6A8192"/>
                </a:solidFill>
                <a:latin typeface="Arial" panose="020B0604020202020204" pitchFamily="34" charset="0"/>
              </a:rPr>
              <a:t>12</a:t>
            </a:r>
          </a:p>
        </p:txBody>
      </p:sp>
      <p:cxnSp>
        <p:nvCxnSpPr>
          <p:cNvPr id="7" name="Demo arrow">
            <a:extLst>
              <a:ext uri="{FF2B5EF4-FFF2-40B4-BE49-F238E27FC236}">
                <a16:creationId xmlns:a16="http://schemas.microsoft.com/office/drawing/2014/main" id="{64D33ACC-BC6F-AE58-2381-041961703C19}"/>
              </a:ext>
            </a:extLst>
          </p:cNvPr>
          <p:cNvCxnSpPr/>
          <p:nvPr/>
        </p:nvCxnSpPr>
        <p:spPr>
          <a:xfrm>
            <a:off x="2451100" y="3136900"/>
            <a:ext cx="1930400" cy="0"/>
          </a:xfrm>
          <a:prstGeom prst="line">
            <a:avLst/>
          </a:prstGeom>
          <a:ln w="25400">
            <a:solidFill>
              <a:srgbClr val="0D9488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Demo arrow">
            <a:extLst>
              <a:ext uri="{FF2B5EF4-FFF2-40B4-BE49-F238E27FC236}">
                <a16:creationId xmlns:a16="http://schemas.microsoft.com/office/drawing/2014/main" id="{40D0167E-E9A6-80FF-D4A5-8F0A734364C0}"/>
              </a:ext>
            </a:extLst>
          </p:cNvPr>
          <p:cNvCxnSpPr/>
          <p:nvPr/>
        </p:nvCxnSpPr>
        <p:spPr>
          <a:xfrm>
            <a:off x="5219700" y="3136900"/>
            <a:ext cx="1930400" cy="0"/>
          </a:xfrm>
          <a:prstGeom prst="line">
            <a:avLst/>
          </a:prstGeom>
          <a:ln w="25400">
            <a:solidFill>
              <a:srgbClr val="0D9488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Demo arrow">
            <a:extLst>
              <a:ext uri="{FF2B5EF4-FFF2-40B4-BE49-F238E27FC236}">
                <a16:creationId xmlns:a16="http://schemas.microsoft.com/office/drawing/2014/main" id="{B8173F19-9141-2384-89E8-73CA4133E7A5}"/>
              </a:ext>
            </a:extLst>
          </p:cNvPr>
          <p:cNvCxnSpPr/>
          <p:nvPr/>
        </p:nvCxnSpPr>
        <p:spPr>
          <a:xfrm>
            <a:off x="7988300" y="3136900"/>
            <a:ext cx="1930400" cy="0"/>
          </a:xfrm>
          <a:prstGeom prst="line">
            <a:avLst/>
          </a:prstGeom>
          <a:ln w="25400">
            <a:solidFill>
              <a:srgbClr val="0D9488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Demo number">
            <a:extLst>
              <a:ext uri="{FF2B5EF4-FFF2-40B4-BE49-F238E27FC236}">
                <a16:creationId xmlns:a16="http://schemas.microsoft.com/office/drawing/2014/main" id="{846A7884-3AEB-B6AB-FC74-88D160C0A78A}"/>
              </a:ext>
            </a:extLst>
          </p:cNvPr>
          <p:cNvSpPr txBox="1"/>
          <p:nvPr/>
        </p:nvSpPr>
        <p:spPr>
          <a:xfrm>
            <a:off x="914400" y="2032000"/>
            <a:ext cx="2235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300" b="1">
                <a:solidFill>
                  <a:srgbClr val="0F766E"/>
                </a:solidFill>
                <a:latin typeface="Arial" panose="020B0604020202020204" pitchFamily="34" charset="0"/>
              </a:rPr>
              <a:t>01</a:t>
            </a:r>
          </a:p>
        </p:txBody>
      </p:sp>
      <p:sp>
        <p:nvSpPr>
          <p:cNvPr id="11" name="Demo node">
            <a:extLst>
              <a:ext uri="{FF2B5EF4-FFF2-40B4-BE49-F238E27FC236}">
                <a16:creationId xmlns:a16="http://schemas.microsoft.com/office/drawing/2014/main" id="{625A26AD-8DCA-9B28-62D4-331F4B489BA3}"/>
              </a:ext>
            </a:extLst>
          </p:cNvPr>
          <p:cNvSpPr/>
          <p:nvPr/>
        </p:nvSpPr>
        <p:spPr>
          <a:xfrm>
            <a:off x="1765300" y="2870200"/>
            <a:ext cx="533400" cy="533400"/>
          </a:xfrm>
          <a:prstGeom prst="ellipse">
            <a:avLst/>
          </a:prstGeom>
          <a:solidFill>
            <a:srgbClr val="07131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Demo title">
            <a:extLst>
              <a:ext uri="{FF2B5EF4-FFF2-40B4-BE49-F238E27FC236}">
                <a16:creationId xmlns:a16="http://schemas.microsoft.com/office/drawing/2014/main" id="{90C2892D-4576-FC3A-2DD0-36D630292A12}"/>
              </a:ext>
            </a:extLst>
          </p:cNvPr>
          <p:cNvSpPr txBox="1"/>
          <p:nvPr/>
        </p:nvSpPr>
        <p:spPr>
          <a:xfrm>
            <a:off x="914400" y="3822700"/>
            <a:ext cx="2235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900" b="1">
                <a:solidFill>
                  <a:srgbClr val="07131F"/>
                </a:solidFill>
                <a:latin typeface="Arial" panose="020B0604020202020204" pitchFamily="34" charset="0"/>
              </a:rPr>
              <a:t>Arrancar</a:t>
            </a:r>
          </a:p>
        </p:txBody>
      </p:sp>
      <p:sp>
        <p:nvSpPr>
          <p:cNvPr id="13" name="Demo detail">
            <a:extLst>
              <a:ext uri="{FF2B5EF4-FFF2-40B4-BE49-F238E27FC236}">
                <a16:creationId xmlns:a16="http://schemas.microsoft.com/office/drawing/2014/main" id="{C3CC5815-59A9-CB0A-5D90-5160A256D6D7}"/>
              </a:ext>
            </a:extLst>
          </p:cNvPr>
          <p:cNvSpPr txBox="1"/>
          <p:nvPr/>
        </p:nvSpPr>
        <p:spPr>
          <a:xfrm>
            <a:off x="914400" y="4305300"/>
            <a:ext cx="2235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400">
                <a:solidFill>
                  <a:srgbClr val="49657A"/>
                </a:solidFill>
                <a:latin typeface="Arial" panose="020B0604020202020204" pitchFamily="34" charset="0"/>
              </a:rPr>
              <a:t>Backend :8766 y /health</a:t>
            </a:r>
          </a:p>
        </p:txBody>
      </p:sp>
      <p:sp>
        <p:nvSpPr>
          <p:cNvPr id="14" name="Demo number">
            <a:extLst>
              <a:ext uri="{FF2B5EF4-FFF2-40B4-BE49-F238E27FC236}">
                <a16:creationId xmlns:a16="http://schemas.microsoft.com/office/drawing/2014/main" id="{5AB23BDE-9827-71C5-DF89-98B12CB93981}"/>
              </a:ext>
            </a:extLst>
          </p:cNvPr>
          <p:cNvSpPr txBox="1"/>
          <p:nvPr/>
        </p:nvSpPr>
        <p:spPr>
          <a:xfrm>
            <a:off x="3683000" y="2032000"/>
            <a:ext cx="2235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300" b="1">
                <a:solidFill>
                  <a:srgbClr val="0F766E"/>
                </a:solidFill>
                <a:latin typeface="Arial" panose="020B0604020202020204" pitchFamily="34" charset="0"/>
              </a:rPr>
              <a:t>02</a:t>
            </a:r>
          </a:p>
        </p:txBody>
      </p:sp>
      <p:sp>
        <p:nvSpPr>
          <p:cNvPr id="15" name="Demo node">
            <a:extLst>
              <a:ext uri="{FF2B5EF4-FFF2-40B4-BE49-F238E27FC236}">
                <a16:creationId xmlns:a16="http://schemas.microsoft.com/office/drawing/2014/main" id="{32FC5733-C44E-042C-BDC4-2E6101AE25F2}"/>
              </a:ext>
            </a:extLst>
          </p:cNvPr>
          <p:cNvSpPr/>
          <p:nvPr/>
        </p:nvSpPr>
        <p:spPr>
          <a:xfrm>
            <a:off x="4533900" y="2870200"/>
            <a:ext cx="533400" cy="533400"/>
          </a:xfrm>
          <a:prstGeom prst="ellipse">
            <a:avLst/>
          </a:prstGeom>
          <a:solidFill>
            <a:srgbClr val="07131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6" name="Demo title">
            <a:extLst>
              <a:ext uri="{FF2B5EF4-FFF2-40B4-BE49-F238E27FC236}">
                <a16:creationId xmlns:a16="http://schemas.microsoft.com/office/drawing/2014/main" id="{B8F723FA-6AFB-083A-1B70-AF67937B6FC3}"/>
              </a:ext>
            </a:extLst>
          </p:cNvPr>
          <p:cNvSpPr txBox="1"/>
          <p:nvPr/>
        </p:nvSpPr>
        <p:spPr>
          <a:xfrm>
            <a:off x="3683000" y="3822700"/>
            <a:ext cx="2235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900" b="1">
                <a:solidFill>
                  <a:srgbClr val="07131F"/>
                </a:solidFill>
                <a:latin typeface="Arial" panose="020B0604020202020204" pitchFamily="34" charset="0"/>
              </a:rPr>
              <a:t>Abrir</a:t>
            </a:r>
          </a:p>
        </p:txBody>
      </p:sp>
      <p:sp>
        <p:nvSpPr>
          <p:cNvPr id="17" name="Demo detail">
            <a:extLst>
              <a:ext uri="{FF2B5EF4-FFF2-40B4-BE49-F238E27FC236}">
                <a16:creationId xmlns:a16="http://schemas.microsoft.com/office/drawing/2014/main" id="{A245B476-E98E-C591-52C0-B6ADCAFA537E}"/>
              </a:ext>
            </a:extLst>
          </p:cNvPr>
          <p:cNvSpPr txBox="1"/>
          <p:nvPr/>
        </p:nvSpPr>
        <p:spPr>
          <a:xfrm>
            <a:off x="3683000" y="4305300"/>
            <a:ext cx="2235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400">
                <a:solidFill>
                  <a:srgbClr val="49657A"/>
                </a:solidFill>
                <a:latin typeface="Arial" panose="020B0604020202020204" pitchFamily="34" charset="0"/>
              </a:rPr>
              <a:t>Streamlit conectado</a:t>
            </a:r>
          </a:p>
        </p:txBody>
      </p:sp>
      <p:sp>
        <p:nvSpPr>
          <p:cNvPr id="18" name="Demo number">
            <a:extLst>
              <a:ext uri="{FF2B5EF4-FFF2-40B4-BE49-F238E27FC236}">
                <a16:creationId xmlns:a16="http://schemas.microsoft.com/office/drawing/2014/main" id="{DEE15E34-E294-2D6A-BDA1-D1EFF921734D}"/>
              </a:ext>
            </a:extLst>
          </p:cNvPr>
          <p:cNvSpPr txBox="1"/>
          <p:nvPr/>
        </p:nvSpPr>
        <p:spPr>
          <a:xfrm>
            <a:off x="6451600" y="2032000"/>
            <a:ext cx="2235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300" b="1">
                <a:solidFill>
                  <a:srgbClr val="0F766E"/>
                </a:solidFill>
                <a:latin typeface="Arial" panose="020B0604020202020204" pitchFamily="34" charset="0"/>
              </a:rPr>
              <a:t>03</a:t>
            </a:r>
          </a:p>
        </p:txBody>
      </p:sp>
      <p:sp>
        <p:nvSpPr>
          <p:cNvPr id="19" name="Demo node">
            <a:extLst>
              <a:ext uri="{FF2B5EF4-FFF2-40B4-BE49-F238E27FC236}">
                <a16:creationId xmlns:a16="http://schemas.microsoft.com/office/drawing/2014/main" id="{E61B68A0-1107-9CCE-21D2-6E9130494E4A}"/>
              </a:ext>
            </a:extLst>
          </p:cNvPr>
          <p:cNvSpPr/>
          <p:nvPr/>
        </p:nvSpPr>
        <p:spPr>
          <a:xfrm>
            <a:off x="7302500" y="2870200"/>
            <a:ext cx="533400" cy="533400"/>
          </a:xfrm>
          <a:prstGeom prst="ellipse">
            <a:avLst/>
          </a:prstGeom>
          <a:solidFill>
            <a:srgbClr val="07131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0" name="Demo title">
            <a:extLst>
              <a:ext uri="{FF2B5EF4-FFF2-40B4-BE49-F238E27FC236}">
                <a16:creationId xmlns:a16="http://schemas.microsoft.com/office/drawing/2014/main" id="{F2BCA1A0-02DC-93B3-DF79-8C0689C04D84}"/>
              </a:ext>
            </a:extLst>
          </p:cNvPr>
          <p:cNvSpPr txBox="1"/>
          <p:nvPr/>
        </p:nvSpPr>
        <p:spPr>
          <a:xfrm>
            <a:off x="6451600" y="3822700"/>
            <a:ext cx="2235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900" b="1">
                <a:solidFill>
                  <a:srgbClr val="07131F"/>
                </a:solidFill>
                <a:latin typeface="Arial" panose="020B0604020202020204" pitchFamily="34" charset="0"/>
              </a:rPr>
              <a:t>Analizar</a:t>
            </a:r>
          </a:p>
        </p:txBody>
      </p:sp>
      <p:sp>
        <p:nvSpPr>
          <p:cNvPr id="21" name="Demo detail">
            <a:extLst>
              <a:ext uri="{FF2B5EF4-FFF2-40B4-BE49-F238E27FC236}">
                <a16:creationId xmlns:a16="http://schemas.microsoft.com/office/drawing/2014/main" id="{0132A301-04BA-3AB5-CEB4-CB8E28E5FB0C}"/>
              </a:ext>
            </a:extLst>
          </p:cNvPr>
          <p:cNvSpPr txBox="1"/>
          <p:nvPr/>
        </p:nvSpPr>
        <p:spPr>
          <a:xfrm>
            <a:off x="6451600" y="4305300"/>
            <a:ext cx="2235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400">
                <a:solidFill>
                  <a:srgbClr val="49657A"/>
                </a:solidFill>
                <a:latin typeface="Arial" panose="020B0604020202020204" pitchFamily="34" charset="0"/>
              </a:rPr>
              <a:t>EML BEC controlado</a:t>
            </a:r>
          </a:p>
        </p:txBody>
      </p:sp>
      <p:sp>
        <p:nvSpPr>
          <p:cNvPr id="22" name="Demo number">
            <a:extLst>
              <a:ext uri="{FF2B5EF4-FFF2-40B4-BE49-F238E27FC236}">
                <a16:creationId xmlns:a16="http://schemas.microsoft.com/office/drawing/2014/main" id="{731130CD-F388-9605-074B-9AA3B44C5FB4}"/>
              </a:ext>
            </a:extLst>
          </p:cNvPr>
          <p:cNvSpPr txBox="1"/>
          <p:nvPr/>
        </p:nvSpPr>
        <p:spPr>
          <a:xfrm>
            <a:off x="9220200" y="2032000"/>
            <a:ext cx="2235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300" b="1">
                <a:solidFill>
                  <a:srgbClr val="0F766E"/>
                </a:solidFill>
                <a:latin typeface="Arial" panose="020B0604020202020204" pitchFamily="34" charset="0"/>
              </a:rPr>
              <a:t>04</a:t>
            </a:r>
          </a:p>
        </p:txBody>
      </p:sp>
      <p:sp>
        <p:nvSpPr>
          <p:cNvPr id="23" name="Demo node">
            <a:extLst>
              <a:ext uri="{FF2B5EF4-FFF2-40B4-BE49-F238E27FC236}">
                <a16:creationId xmlns:a16="http://schemas.microsoft.com/office/drawing/2014/main" id="{A4FB7092-FD7C-CF50-B32D-C01475ED038E}"/>
              </a:ext>
            </a:extLst>
          </p:cNvPr>
          <p:cNvSpPr/>
          <p:nvPr/>
        </p:nvSpPr>
        <p:spPr>
          <a:xfrm>
            <a:off x="10071100" y="2870200"/>
            <a:ext cx="533400" cy="533400"/>
          </a:xfrm>
          <a:prstGeom prst="ellipse">
            <a:avLst/>
          </a:prstGeom>
          <a:solidFill>
            <a:srgbClr val="0D94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4" name="Demo title">
            <a:extLst>
              <a:ext uri="{FF2B5EF4-FFF2-40B4-BE49-F238E27FC236}">
                <a16:creationId xmlns:a16="http://schemas.microsoft.com/office/drawing/2014/main" id="{0690F5AD-EE5D-3AC5-4BBE-233FC448359F}"/>
              </a:ext>
            </a:extLst>
          </p:cNvPr>
          <p:cNvSpPr txBox="1"/>
          <p:nvPr/>
        </p:nvSpPr>
        <p:spPr>
          <a:xfrm>
            <a:off x="9220200" y="3822700"/>
            <a:ext cx="2235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900" b="1">
                <a:solidFill>
                  <a:srgbClr val="07131F"/>
                </a:solidFill>
                <a:latin typeface="Arial" panose="020B0604020202020204" pitchFamily="34" charset="0"/>
              </a:rPr>
              <a:t>Explicar</a:t>
            </a:r>
          </a:p>
        </p:txBody>
      </p:sp>
      <p:sp>
        <p:nvSpPr>
          <p:cNvPr id="25" name="Demo detail">
            <a:extLst>
              <a:ext uri="{FF2B5EF4-FFF2-40B4-BE49-F238E27FC236}">
                <a16:creationId xmlns:a16="http://schemas.microsoft.com/office/drawing/2014/main" id="{F574DD5B-9601-5189-4EA4-6F48A326D18E}"/>
              </a:ext>
            </a:extLst>
          </p:cNvPr>
          <p:cNvSpPr txBox="1"/>
          <p:nvPr/>
        </p:nvSpPr>
        <p:spPr>
          <a:xfrm>
            <a:off x="9220200" y="4305300"/>
            <a:ext cx="2235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400">
                <a:solidFill>
                  <a:srgbClr val="49657A"/>
                </a:solidFill>
                <a:latin typeface="Arial" panose="020B0604020202020204" pitchFamily="34" charset="0"/>
              </a:rPr>
              <a:t>Riesgo, señales y modos</a:t>
            </a:r>
          </a:p>
        </p:txBody>
      </p:sp>
      <p:sp>
        <p:nvSpPr>
          <p:cNvPr id="26" name="Demo note">
            <a:extLst>
              <a:ext uri="{FF2B5EF4-FFF2-40B4-BE49-F238E27FC236}">
                <a16:creationId xmlns:a16="http://schemas.microsoft.com/office/drawing/2014/main" id="{09D677F5-384B-6B32-951D-BEDD63789D21}"/>
              </a:ext>
            </a:extLst>
          </p:cNvPr>
          <p:cNvSpPr/>
          <p:nvPr/>
        </p:nvSpPr>
        <p:spPr>
          <a:xfrm>
            <a:off x="914400" y="5257800"/>
            <a:ext cx="10363200" cy="685800"/>
          </a:xfrm>
          <a:prstGeom prst="rect">
            <a:avLst/>
          </a:prstGeom>
          <a:solidFill>
            <a:srgbClr val="EAF0F3"/>
          </a:solidFill>
          <a:ln w="12700">
            <a:solidFill>
              <a:srgbClr val="DCE5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7" name="LAN note">
            <a:extLst>
              <a:ext uri="{FF2B5EF4-FFF2-40B4-BE49-F238E27FC236}">
                <a16:creationId xmlns:a16="http://schemas.microsoft.com/office/drawing/2014/main" id="{8D53D9AC-199D-60AE-95B9-8C61E7FF53B6}"/>
              </a:ext>
            </a:extLst>
          </p:cNvPr>
          <p:cNvSpPr txBox="1"/>
          <p:nvPr/>
        </p:nvSpPr>
        <p:spPr>
          <a:xfrm>
            <a:off x="1168400" y="5473700"/>
            <a:ext cx="9855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400" b="1">
                <a:solidFill>
                  <a:srgbClr val="12304A"/>
                </a:solidFill>
                <a:latin typeface="Arial" panose="020B0604020202020204" pitchFamily="34" charset="0"/>
              </a:rPr>
              <a:t>Opcional: móvil en la LAN → Streamlit 0.0.0.0:8501; el backend permanece en 127.0.0.1:8766.</a:t>
            </a:r>
          </a:p>
        </p:txBody>
      </p:sp>
    </p:spTree>
    <p:extLst>
      <p:ext uri="{BB962C8B-B14F-4D97-AF65-F5344CB8AC3E}">
        <p14:creationId xmlns:p14="http://schemas.microsoft.com/office/powerpoint/2010/main" val="24759565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>
            <a:extLst>
              <a:ext uri="{FF2B5EF4-FFF2-40B4-BE49-F238E27FC236}">
                <a16:creationId xmlns:a16="http://schemas.microsoft.com/office/drawing/2014/main" id="{8175F2B7-4EED-E3C4-6CBE-7F2393EC9E61}"/>
              </a:ext>
            </a:extLst>
          </p:cNvPr>
          <p:cNvSpPr txBox="1"/>
          <p:nvPr/>
        </p:nvSpPr>
        <p:spPr>
          <a:xfrm>
            <a:off x="711200" y="2540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000" b="1">
                <a:solidFill>
                  <a:srgbClr val="0F766E"/>
                </a:solidFill>
                <a:latin typeface="Arial" panose="020B0604020202020204" pitchFamily="34" charset="0"/>
              </a:rPr>
              <a:t>DISCUSIÓN</a:t>
            </a:r>
          </a:p>
        </p:txBody>
      </p:sp>
      <p:sp>
        <p:nvSpPr>
          <p:cNvPr id="3" name="Slide title">
            <a:extLst>
              <a:ext uri="{FF2B5EF4-FFF2-40B4-BE49-F238E27FC236}">
                <a16:creationId xmlns:a16="http://schemas.microsoft.com/office/drawing/2014/main" id="{DF95358E-D48B-B426-BBF7-26E2F87ABA9D}"/>
              </a:ext>
            </a:extLst>
          </p:cNvPr>
          <p:cNvSpPr txBox="1"/>
          <p:nvPr/>
        </p:nvSpPr>
        <p:spPr>
          <a:xfrm>
            <a:off x="711200" y="533400"/>
            <a:ext cx="10769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3500" b="1">
                <a:solidFill>
                  <a:srgbClr val="07131F"/>
                </a:solidFill>
                <a:latin typeface="Arial" panose="020B0604020202020204" pitchFamily="34" charset="0"/>
              </a:rPr>
              <a:t>Los límites están definidos, no ocultos</a:t>
            </a:r>
          </a:p>
        </p:txBody>
      </p:sp>
      <p:cxnSp>
        <p:nvCxnSpPr>
          <p:cNvPr id="4" name="Accent rule">
            <a:extLst>
              <a:ext uri="{FF2B5EF4-FFF2-40B4-BE49-F238E27FC236}">
                <a16:creationId xmlns:a16="http://schemas.microsoft.com/office/drawing/2014/main" id="{4FB3B33C-B815-15C8-D2B7-495BF359530B}"/>
              </a:ext>
            </a:extLst>
          </p:cNvPr>
          <p:cNvCxnSpPr/>
          <p:nvPr/>
        </p:nvCxnSpPr>
        <p:spPr>
          <a:xfrm>
            <a:off x="711200" y="1282700"/>
            <a:ext cx="711200" cy="0"/>
          </a:xfrm>
          <a:prstGeom prst="line">
            <a:avLst/>
          </a:prstGeom>
          <a:ln w="50800">
            <a:solidFill>
              <a:srgbClr val="0D9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 author">
            <a:extLst>
              <a:ext uri="{FF2B5EF4-FFF2-40B4-BE49-F238E27FC236}">
                <a16:creationId xmlns:a16="http://schemas.microsoft.com/office/drawing/2014/main" id="{5CC871EA-A5C9-682F-5D31-199CEF09D60D}"/>
              </a:ext>
            </a:extLst>
          </p:cNvPr>
          <p:cNvSpPr txBox="1"/>
          <p:nvPr/>
        </p:nvSpPr>
        <p:spPr>
          <a:xfrm>
            <a:off x="711200" y="65024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900">
                <a:solidFill>
                  <a:srgbClr val="6A8192"/>
                </a:solidFill>
                <a:latin typeface="Arial" panose="020B0604020202020204" pitchFamily="34" charset="0"/>
              </a:rPr>
              <a:t>Alejandro Villarrubia García · TFG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072C89ED-7684-A358-783C-2D0230DCB47E}"/>
              </a:ext>
            </a:extLst>
          </p:cNvPr>
          <p:cNvSpPr txBox="1"/>
          <p:nvPr/>
        </p:nvSpPr>
        <p:spPr>
          <a:xfrm>
            <a:off x="11201400" y="6477000"/>
            <a:ext cx="279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000" b="1">
                <a:solidFill>
                  <a:srgbClr val="6A8192"/>
                </a:solidFill>
                <a:latin typeface="Arial" panose="020B0604020202020204" pitchFamily="34" charset="0"/>
              </a:rPr>
              <a:t>13</a:t>
            </a:r>
          </a:p>
        </p:txBody>
      </p:sp>
      <p:sp>
        <p:nvSpPr>
          <p:cNvPr id="7" name="Demonstrates label">
            <a:extLst>
              <a:ext uri="{FF2B5EF4-FFF2-40B4-BE49-F238E27FC236}">
                <a16:creationId xmlns:a16="http://schemas.microsoft.com/office/drawing/2014/main" id="{3F56495A-E25D-5EA9-9171-5B3D1C00AA82}"/>
              </a:ext>
            </a:extLst>
          </p:cNvPr>
          <p:cNvSpPr txBox="1"/>
          <p:nvPr/>
        </p:nvSpPr>
        <p:spPr>
          <a:xfrm>
            <a:off x="889000" y="17526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100" b="1">
                <a:solidFill>
                  <a:srgbClr val="0F766E"/>
                </a:solidFill>
                <a:latin typeface="Arial" panose="020B0604020202020204" pitchFamily="34" charset="0"/>
              </a:rPr>
              <a:t>LO QUE DEMUESTRA</a:t>
            </a:r>
          </a:p>
        </p:txBody>
      </p:sp>
      <p:sp>
        <p:nvSpPr>
          <p:cNvPr id="8" name="Demonstrates">
            <a:extLst>
              <a:ext uri="{FF2B5EF4-FFF2-40B4-BE49-F238E27FC236}">
                <a16:creationId xmlns:a16="http://schemas.microsoft.com/office/drawing/2014/main" id="{6A1D492A-EBD1-4527-69B6-8900487B525C}"/>
              </a:ext>
            </a:extLst>
          </p:cNvPr>
          <p:cNvSpPr txBox="1"/>
          <p:nvPr/>
        </p:nvSpPr>
        <p:spPr>
          <a:xfrm>
            <a:off x="889000" y="2260600"/>
            <a:ext cx="4648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700">
                <a:solidFill>
                  <a:srgbClr val="07131F"/>
                </a:solidFill>
                <a:latin typeface="Arial" panose="020B0604020202020204" pitchFamily="34" charset="0"/>
              </a:rPr>
              <a:t>• Arquitectura cliente-servidor funcional
• Análisis explicable y bilingüe
• Modelos centrales compartidos
• Evaluación reproducible y errores trazables</a:t>
            </a:r>
          </a:p>
        </p:txBody>
      </p:sp>
      <p:cxnSp>
        <p:nvCxnSpPr>
          <p:cNvPr id="9" name="Limit divider">
            <a:extLst>
              <a:ext uri="{FF2B5EF4-FFF2-40B4-BE49-F238E27FC236}">
                <a16:creationId xmlns:a16="http://schemas.microsoft.com/office/drawing/2014/main" id="{4942CFA7-C229-0E5F-5D24-525E10184521}"/>
              </a:ext>
            </a:extLst>
          </p:cNvPr>
          <p:cNvCxnSpPr/>
          <p:nvPr/>
        </p:nvCxnSpPr>
        <p:spPr>
          <a:xfrm>
            <a:off x="6096000" y="1714500"/>
            <a:ext cx="0" cy="3467100"/>
          </a:xfrm>
          <a:prstGeom prst="line">
            <a:avLst/>
          </a:prstGeom>
          <a:ln w="17780">
            <a:solidFill>
              <a:srgbClr val="DC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Does not label">
            <a:extLst>
              <a:ext uri="{FF2B5EF4-FFF2-40B4-BE49-F238E27FC236}">
                <a16:creationId xmlns:a16="http://schemas.microsoft.com/office/drawing/2014/main" id="{70CA3D14-BD55-C11F-9A20-B370EF454605}"/>
              </a:ext>
            </a:extLst>
          </p:cNvPr>
          <p:cNvSpPr txBox="1"/>
          <p:nvPr/>
        </p:nvSpPr>
        <p:spPr>
          <a:xfrm>
            <a:off x="6731000" y="17526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100" b="1">
                <a:solidFill>
                  <a:srgbClr val="B42318"/>
                </a:solidFill>
                <a:latin typeface="Arial" panose="020B0604020202020204" pitchFamily="34" charset="0"/>
              </a:rPr>
              <a:t>LO QUE NO AFIRMA</a:t>
            </a:r>
          </a:p>
        </p:txBody>
      </p:sp>
      <p:sp>
        <p:nvSpPr>
          <p:cNvPr id="11" name="Does not">
            <a:extLst>
              <a:ext uri="{FF2B5EF4-FFF2-40B4-BE49-F238E27FC236}">
                <a16:creationId xmlns:a16="http://schemas.microsoft.com/office/drawing/2014/main" id="{C2E8ADB0-E7AC-762C-C23B-39AEA4F364F7}"/>
              </a:ext>
            </a:extLst>
          </p:cNvPr>
          <p:cNvSpPr txBox="1"/>
          <p:nvPr/>
        </p:nvSpPr>
        <p:spPr>
          <a:xfrm>
            <a:off x="6731000" y="22606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700">
                <a:solidFill>
                  <a:srgbClr val="07131F"/>
                </a:solidFill>
                <a:latin typeface="Arial" panose="020B0604020202020204" pitchFamily="34" charset="0"/>
              </a:rPr>
              <a:t>• Métricas garantizadas en producción
• Reputación online en tiempo real
• Análisis dinámico de las páginas
• Seguridad multiusuario para Internet</a:t>
            </a:r>
          </a:p>
        </p:txBody>
      </p:sp>
      <p:sp>
        <p:nvSpPr>
          <p:cNvPr id="12" name="Future band">
            <a:extLst>
              <a:ext uri="{FF2B5EF4-FFF2-40B4-BE49-F238E27FC236}">
                <a16:creationId xmlns:a16="http://schemas.microsoft.com/office/drawing/2014/main" id="{56900E0C-44C3-3E85-0209-D704B67ED5EE}"/>
              </a:ext>
            </a:extLst>
          </p:cNvPr>
          <p:cNvSpPr/>
          <p:nvPr/>
        </p:nvSpPr>
        <p:spPr>
          <a:xfrm>
            <a:off x="889000" y="4978400"/>
            <a:ext cx="10414000" cy="990600"/>
          </a:xfrm>
          <a:prstGeom prst="rect">
            <a:avLst/>
          </a:prstGeom>
          <a:solidFill>
            <a:srgbClr val="07131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3" name="Future label">
            <a:extLst>
              <a:ext uri="{FF2B5EF4-FFF2-40B4-BE49-F238E27FC236}">
                <a16:creationId xmlns:a16="http://schemas.microsoft.com/office/drawing/2014/main" id="{6B9DD0E0-0231-DEE5-D7B7-AABD61189605}"/>
              </a:ext>
            </a:extLst>
          </p:cNvPr>
          <p:cNvSpPr txBox="1"/>
          <p:nvPr/>
        </p:nvSpPr>
        <p:spPr>
          <a:xfrm>
            <a:off x="1193800" y="5257800"/>
            <a:ext cx="190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100" b="1">
                <a:solidFill>
                  <a:srgbClr val="CCFBF1"/>
                </a:solidFill>
                <a:latin typeface="Arial" panose="020B0604020202020204" pitchFamily="34" charset="0"/>
              </a:rPr>
              <a:t>PRIORIDAD FUTURA</a:t>
            </a:r>
          </a:p>
        </p:txBody>
      </p:sp>
      <p:sp>
        <p:nvSpPr>
          <p:cNvPr id="14" name="Future items">
            <a:extLst>
              <a:ext uri="{FF2B5EF4-FFF2-40B4-BE49-F238E27FC236}">
                <a16:creationId xmlns:a16="http://schemas.microsoft.com/office/drawing/2014/main" id="{F5357919-6EBA-F4C9-5D62-3B3006571F88}"/>
              </a:ext>
            </a:extLst>
          </p:cNvPr>
          <p:cNvSpPr txBox="1"/>
          <p:nvPr/>
        </p:nvSpPr>
        <p:spPr>
          <a:xfrm>
            <a:off x="3352800" y="5181600"/>
            <a:ext cx="7569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spcAft>
                <a:spcPts val="400"/>
              </a:spcAft>
            </a:pPr>
            <a:r>
              <a:rPr lang="es-ES" sz="1500" b="1">
                <a:solidFill>
                  <a:srgbClr val="FFFFFF"/>
                </a:solidFill>
                <a:latin typeface="Arial" panose="020B0604020202020204" pitchFamily="34" charset="0"/>
              </a:rPr>
              <a:t>Corpus reciente, bilingüe, anonimizado e independiente · TLS y autenticación · reputación de dominios</a:t>
            </a:r>
          </a:p>
        </p:txBody>
      </p:sp>
    </p:spTree>
    <p:extLst>
      <p:ext uri="{BB962C8B-B14F-4D97-AF65-F5344CB8AC3E}">
        <p14:creationId xmlns:p14="http://schemas.microsoft.com/office/powerpoint/2010/main" val="6318852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3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osing label">
            <a:extLst>
              <a:ext uri="{FF2B5EF4-FFF2-40B4-BE49-F238E27FC236}">
                <a16:creationId xmlns:a16="http://schemas.microsoft.com/office/drawing/2014/main" id="{E8D4D2A4-3A77-FFBC-4197-04B9266D80A3}"/>
              </a:ext>
            </a:extLst>
          </p:cNvPr>
          <p:cNvSpPr txBox="1"/>
          <p:nvPr/>
        </p:nvSpPr>
        <p:spPr>
          <a:xfrm>
            <a:off x="736600" y="6350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200" b="1">
                <a:solidFill>
                  <a:srgbClr val="CCFBF1"/>
                </a:solidFill>
                <a:latin typeface="Arial" panose="020B0604020202020204" pitchFamily="34" charset="0"/>
              </a:rPr>
              <a:t>CONCLUSIÓN</a:t>
            </a:r>
          </a:p>
        </p:txBody>
      </p:sp>
      <p:sp>
        <p:nvSpPr>
          <p:cNvPr id="3" name="Closing title">
            <a:extLst>
              <a:ext uri="{FF2B5EF4-FFF2-40B4-BE49-F238E27FC236}">
                <a16:creationId xmlns:a16="http://schemas.microsoft.com/office/drawing/2014/main" id="{D2405325-1BD4-7661-0B2D-94A7B013063D}"/>
              </a:ext>
            </a:extLst>
          </p:cNvPr>
          <p:cNvSpPr txBox="1"/>
          <p:nvPr/>
        </p:nvSpPr>
        <p:spPr>
          <a:xfrm>
            <a:off x="736600" y="1651000"/>
            <a:ext cx="7747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5000" b="1">
                <a:solidFill>
                  <a:srgbClr val="FFFFFF"/>
                </a:solidFill>
                <a:latin typeface="Arial" panose="020B0604020202020204" pitchFamily="34" charset="0"/>
              </a:rPr>
              <a:t>Una decisión central,
varias interfaces</a:t>
            </a:r>
          </a:p>
        </p:txBody>
      </p:sp>
      <p:sp>
        <p:nvSpPr>
          <p:cNvPr id="4" name="Closing thesis">
            <a:extLst>
              <a:ext uri="{FF2B5EF4-FFF2-40B4-BE49-F238E27FC236}">
                <a16:creationId xmlns:a16="http://schemas.microsoft.com/office/drawing/2014/main" id="{E892545F-232A-9A2D-E594-9112255D700C}"/>
              </a:ext>
            </a:extLst>
          </p:cNvPr>
          <p:cNvSpPr txBox="1"/>
          <p:nvPr/>
        </p:nvSpPr>
        <p:spPr>
          <a:xfrm>
            <a:off x="736600" y="3708400"/>
            <a:ext cx="825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900">
                <a:solidFill>
                  <a:srgbClr val="C9D7E0"/>
                </a:solidFill>
                <a:latin typeface="Arial" panose="020B0604020202020204" pitchFamily="34" charset="0"/>
              </a:rPr>
              <a:t>El prototipo separa presentación y análisis, combina evidencias explicables con aprendizaje supervisado y permite actualizar los modelos una sola vez para todos los clientes.</a:t>
            </a:r>
          </a:p>
        </p:txBody>
      </p:sp>
      <p:cxnSp>
        <p:nvCxnSpPr>
          <p:cNvPr id="5" name="Closing rule">
            <a:extLst>
              <a:ext uri="{FF2B5EF4-FFF2-40B4-BE49-F238E27FC236}">
                <a16:creationId xmlns:a16="http://schemas.microsoft.com/office/drawing/2014/main" id="{6EAA712F-ADF8-B92A-AB04-C2844C438365}"/>
              </a:ext>
            </a:extLst>
          </p:cNvPr>
          <p:cNvCxnSpPr/>
          <p:nvPr/>
        </p:nvCxnSpPr>
        <p:spPr>
          <a:xfrm>
            <a:off x="736600" y="5181600"/>
            <a:ext cx="8255000" cy="0"/>
          </a:xfrm>
          <a:prstGeom prst="line">
            <a:avLst/>
          </a:prstGeom>
          <a:ln w="50800">
            <a:solidFill>
              <a:srgbClr val="0D9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Closing contribution">
            <a:extLst>
              <a:ext uri="{FF2B5EF4-FFF2-40B4-BE49-F238E27FC236}">
                <a16:creationId xmlns:a16="http://schemas.microsoft.com/office/drawing/2014/main" id="{F8BB2A8A-987E-F1EB-BC1F-C7A616CB2D6C}"/>
              </a:ext>
            </a:extLst>
          </p:cNvPr>
          <p:cNvSpPr txBox="1"/>
          <p:nvPr/>
        </p:nvSpPr>
        <p:spPr>
          <a:xfrm>
            <a:off x="736600" y="5473700"/>
            <a:ext cx="825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600" b="1">
                <a:solidFill>
                  <a:srgbClr val="FFFFFF"/>
                </a:solidFill>
                <a:latin typeface="Arial" panose="020B0604020202020204" pitchFamily="34" charset="0"/>
              </a:rPr>
              <a:t>Aportación: un detector mantenible, evaluado y preparado para evolucionar sin duplicar modelos.</a:t>
            </a:r>
          </a:p>
        </p:txBody>
      </p:sp>
      <p:sp>
        <p:nvSpPr>
          <p:cNvPr id="7" name="Questions">
            <a:extLst>
              <a:ext uri="{FF2B5EF4-FFF2-40B4-BE49-F238E27FC236}">
                <a16:creationId xmlns:a16="http://schemas.microsoft.com/office/drawing/2014/main" id="{63A0A0FC-D726-00CA-D59A-A29F9380F425}"/>
              </a:ext>
            </a:extLst>
          </p:cNvPr>
          <p:cNvSpPr txBox="1"/>
          <p:nvPr/>
        </p:nvSpPr>
        <p:spPr>
          <a:xfrm>
            <a:off x="9423400" y="5537200"/>
            <a:ext cx="2133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500" b="1">
                <a:solidFill>
                  <a:srgbClr val="CCFBF1"/>
                </a:solidFill>
                <a:latin typeface="Arial" panose="020B0604020202020204" pitchFamily="34" charset="0"/>
              </a:rPr>
              <a:t>Preguntas del tribunal</a:t>
            </a:r>
          </a:p>
        </p:txBody>
      </p:sp>
    </p:spTree>
    <p:extLst>
      <p:ext uri="{BB962C8B-B14F-4D97-AF65-F5344CB8AC3E}">
        <p14:creationId xmlns:p14="http://schemas.microsoft.com/office/powerpoint/2010/main" val="319570768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1891</Words>
  <Application>Microsoft Office PowerPoint</Application>
  <PresentationFormat>Personalizado</PresentationFormat>
  <Paragraphs>237</Paragraphs>
  <Slides>14</Slides>
  <Notes>14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8" baseType="lpstr">
      <vt:lpstr>Aptos</vt:lpstr>
      <vt:lpstr>Aptos Display</vt:lpstr>
      <vt:lpstr>Arial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ALEJANDRO VILLARRUBIA</dc:creator>
  <cp:lastModifiedBy>ALEJANDRO VILLARRUBIA</cp:lastModifiedBy>
  <cp:revision>1</cp:revision>
  <dcterms:created xsi:type="dcterms:W3CDTF">2026-08-30T14:27:46Z</dcterms:created>
  <dcterms:modified xsi:type="dcterms:W3CDTF">2026-08-30T14:27:46Z</dcterms:modified>
</cp:coreProperties>
</file>