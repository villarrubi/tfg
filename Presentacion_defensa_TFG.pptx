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C186FB-0339-42DD-8219-60C2673475E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51BCC-4392-4008-A116-89654DD6F7E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6070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Apertura: presentar el problema y la aportación en dos frases. El sistema combina señales explicables y aprendizaje supervisado, pero la decisión se centraliza en un único servidor.
[Sources]
- TFG.txt: portada y resumen.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1447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que el phishing combina aspectos técnicos y humanos. La propuesta no devuelve solo una clase: muestra evidencias que permiten revisar la decisión.
[Sources]
- TFG.txt: introducción, señales analizadas y diseño de la aplicación.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3252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objetivos como decisiones de diseño. La centralización permite que una actualización del servidor llegue a todos los clientes sin distribuir modelos.
[Sources]
- TFG.txt: objetivos y resumen de arquitectura.
- README.md: Cómo está montado.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454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 es la diapositiva clave. El navegador habla con Streamlit y Streamlit con el backend; la extensión y el monitor llaman a la misma API. Local describe la ubicación, no elimina la separación cliente-servidor.
[Sources]
- README.md: Cómo está montado y Componentes.
- TFG.txt: Arquitectura general.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91192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el correo de izquierda a derecha. Todas las entradas terminan en la misma representación y todos los clientes reciben el mismo formato de salida.
[Sources]
- TFG.txt: Flujo de análisis y contrato del backend.
- README.md: Contrato del backend.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083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Contrastar interpretabilidad y capacidad de generalización. El modo combinado fue calibrado con un conjunto separado; la evidencia individual fuerte no se diluye en la media.
[Sources]
- TFG.txt: Diseño del clasificador y metodología cuantitativa.
- evaluation/calibration_results.json.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0577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por qué la arquitectura responde al requisito principal: se entrena y activa una sola versión por idioma. Los clientes no guardan copias ni ejecutan inferencia local.
[Sources]
- README.md: centralización de modelos.
- TFG.txt: entrenamiento, activación y versión central.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7135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Relacionar cada tecnología con una decisión, no enumerar herramientas. Aclarar que SPF, DKIM y DMARC se interpretan desde las cabeceras recibidas: no hay consultas DNS ni validación criptográfica. Diferenciar los controles ya implementados de los controles necesarios para producción.
[Sources]
- TFG.txt: herramientas, seguridad y privacidad.
- README.md: Configuración y Alcance.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8410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artefactos declaran 1.298 muestras ES y 164.971 EN. Subrayar que no se usó una división 70/30 inventada: entrenamiento, calibración de 40 casos y evaluación de 16 EML cumplen funciones separadas. DIFrauD es un diagnóstico útil, pero no una validación independiente concluyente por posible solapamiento y falta de MIME completo.
[Sources]
- TFG.txt: diseño experimental y datasets.
- EVALUATION_REPORT.md.
- EXTERNAL_EVALUATION_REPORT.md.
- evaluation/README.md.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45163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Mostrar que el combinado conserva el recall del heurístico con una accuracy alta. Explicar el único falso positivo y evitar presentar los porcentajes como rendimiento garantizado en una empresa.
[Sources]
- EVALUATION_REPORT.md: resultados globales.
- EXTERNAL_EVALUATION_REPORT.md: resultado DIFrauD.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25121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evidencia de tres niveles: pruebas de código, recorrido real del navegador y medición de rendimiento. Las advertencias de convergencia pertenecen a pruebas rápidas del MLP.
[Sources]
- README.md: Validación automática.
- PERFORMANCE_REPORT.md.
- docs/INTEGRATION_VALIDATION.md.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158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demostración debe durar unos tres minutos. Si falla OAuth, usar los EML sintéticos y las capturas de respaldo. En el acceso móvil solo se expone Streamlit a la LAN privada.
[Sources]
- docs/DEFENSE_SCREENSHOTS.md.
- defense_demo/README.md.
- README.md: acceso temporal desde la red local.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154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Responder con honestidad. La limitación científica principal es la falta de un corpus real reciente e independiente; no falta una función del prototipo, falta evidencia para extrapolar a producción.
[Sources]
- TFG.txt: Limitaciones y trabajo futuro.
- CLEANUP_PLAN.md: deuda técnica que no debe ocultarse.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4129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Cierre: volver a la tesis inicial. El valor no es solo detectar; es centralizar la decisión, conservar la explicación y permitir evolución controlada. Abrir el turno de preguntas.
[Sources]
- TFG.txt: conclusiones.
- README.md: arquitectura y alcance.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51BCC-4392-4008-A116-89654DD6F7E1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3900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4083F0-58B1-AF58-FFBA-6315538A5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C3E214F-C515-104D-689E-733ACCF318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A350AA-DB93-C75E-FA09-A88E7B6EC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946EE0-1C36-643A-EB8A-C4C2BAD1D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9A4340-8280-9DCB-296D-3C4226CA8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2733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EB6C7E-ECA3-CED3-6732-97CDF957B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2AE0D7D-2E64-E2EA-AE2E-5C0FDA7AF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51A944-7F4A-A4AE-A031-3DBD62A5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DD56EA-A768-7008-03D2-AD2A0519B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F7430C-EB0B-5DB1-3859-D464CC8C3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5057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A27210-6884-F031-3E2F-26ED863D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BEDD68-54F1-355D-B083-5A31CDE49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DFF1A85-7E75-CA37-D782-798C951ED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323111-1B3C-64E9-5045-A4E6818B3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CEC49E3-11CF-CCDA-D2AA-D491D2768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7467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AC7F5-60D2-EFE4-4B60-D8A9678E7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436F4C-4C55-DAA2-3E72-E7D53E8C07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125A72A-0B63-1829-2517-1924F7757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BE8AF2F-E4CF-A2B6-7BC9-959D4B0CF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CC64C9F-B59C-E205-E844-CCF04C1B5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4822B96-68F1-60B6-42B8-50B3C64C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7859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05199C-3CBB-1402-61A8-F6E2C64F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731004-1159-D8C4-6358-9A0304EF5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D640963-B30E-CB3F-2106-FDAA20D423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63F8E84-9131-BDD5-A7C5-57D693EE2E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2CFC5EF-D15C-01F2-AA66-B50B703CCD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6DBD9EA-023A-41D1-0B4B-6D9FB1AC5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AF7BF42-0375-87DD-F2F4-520021D45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9FA8646-1895-E141-091E-B3252DF0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2851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D838CD-FB2A-25E6-0C14-F743E5618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FDD6E43-692E-C85C-9B49-3D221148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8ED8E08-27AA-0874-4EAC-8F3C5B596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AEB461-5DBB-B53B-A1B1-268B6932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98838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3BDBC4E-ED4B-2977-B810-139EFF930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61B963-96DA-B129-7718-681D10F6A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8EE67-A66B-EB10-A68B-191F32B20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7273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B1C087-3642-9EBC-CF37-76BAA7F4D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BC9711-5CD3-AB53-08C4-96F9686F3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A499CA-6E30-65F3-82B2-7CE8C0B0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03ED32A-68FC-66A5-1F38-C856AB0CB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9E0C3DC-67E9-8AD7-C8EA-852075519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0EA00AF-A9CD-8594-E088-7D736E0D1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4402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7F0D7A-D62E-40B7-D850-3A85DC858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CEF1E1F-6D65-A7C8-0D39-6CF2AEA29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5879EB-CEC0-46AD-FCF2-851989D72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20ABF9-16C8-D6B0-E312-8FA8BCE92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4C0EC0B-F14F-EB74-2B73-46507B3DE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05E5DC-2170-C950-7A29-3B7BF4239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5151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0621D1-190C-7076-FC55-B77F92436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9DDC5B-9311-AAFC-6CAC-E04AE54201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ABAE14-E204-D319-1106-0253858B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40E06B-7475-4EEB-50E9-A83A7C139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434BCE6-09AF-BCAB-0D5F-111BF115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9551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0D8D713-F6E0-8173-F238-027FB105CA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6092661-4A5C-ECCD-02DE-E366640A4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197B39-BB2C-DB78-735E-A1F4DFD79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E99148-54AD-C10B-83DA-47ECFDAD7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CFBC52-DCC1-421B-9260-20ED5F960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4339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25E07CD-888D-08C7-D9B2-2003E1B1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35A8A78-5928-5DDB-2B65-856F9405D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3ABB17-A8B4-70F2-A36E-C2A5B0BC6B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062895-02B9-4539-8A29-6999C3E43A53}" type="datetimeFigureOut">
              <a:rPr lang="es-ES" smtClean="0"/>
              <a:t>30/08/2026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9958F8-2DB2-BAC9-43CF-69C44DE858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1417D5E-9870-4B22-B515-745E71110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D2AD85-226A-431D-94CD-1256CC25EA7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0793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field">
            <a:extLst>
              <a:ext uri="{FF2B5EF4-FFF2-40B4-BE49-F238E27FC236}">
                <a16:creationId xmlns:a16="http://schemas.microsoft.com/office/drawing/2014/main" id="{579A25A2-22A0-93C2-9544-F1BAAC8C165C}"/>
              </a:ext>
            </a:extLst>
          </p:cNvPr>
          <p:cNvSpPr/>
          <p:nvPr/>
        </p:nvSpPr>
        <p:spPr>
          <a:xfrm>
            <a:off x="9245600" y="0"/>
            <a:ext cx="2946400" cy="68580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3" name="Cover accent">
            <a:extLst>
              <a:ext uri="{FF2B5EF4-FFF2-40B4-BE49-F238E27FC236}">
                <a16:creationId xmlns:a16="http://schemas.microsoft.com/office/drawing/2014/main" id="{00DC7F2F-B423-1673-129F-5C7E05D0A45C}"/>
              </a:ext>
            </a:extLst>
          </p:cNvPr>
          <p:cNvCxnSpPr/>
          <p:nvPr/>
        </p:nvCxnSpPr>
        <p:spPr>
          <a:xfrm>
            <a:off x="9652000" y="1193800"/>
            <a:ext cx="1778000" cy="0"/>
          </a:xfrm>
          <a:prstGeom prst="line">
            <a:avLst/>
          </a:prstGeom>
          <a:ln w="635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ver secondary accent">
            <a:extLst>
              <a:ext uri="{FF2B5EF4-FFF2-40B4-BE49-F238E27FC236}">
                <a16:creationId xmlns:a16="http://schemas.microsoft.com/office/drawing/2014/main" id="{85C21662-3021-DA26-E8CE-CC9AF12477CB}"/>
              </a:ext>
            </a:extLst>
          </p:cNvPr>
          <p:cNvCxnSpPr/>
          <p:nvPr/>
        </p:nvCxnSpPr>
        <p:spPr>
          <a:xfrm>
            <a:off x="9652000" y="1498600"/>
            <a:ext cx="13970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Eyebrow">
            <a:extLst>
              <a:ext uri="{FF2B5EF4-FFF2-40B4-BE49-F238E27FC236}">
                <a16:creationId xmlns:a16="http://schemas.microsoft.com/office/drawing/2014/main" id="{BED0055D-19F1-CA70-9157-9D8D7DB9A972}"/>
              </a:ext>
            </a:extLst>
          </p:cNvPr>
          <p:cNvSpPr txBox="1"/>
          <p:nvPr/>
        </p:nvSpPr>
        <p:spPr>
          <a:xfrm>
            <a:off x="736600" y="6350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TRABAJO FIN DE GRADO · 2026</a:t>
            </a:r>
          </a:p>
        </p:txBody>
      </p:sp>
      <p:sp>
        <p:nvSpPr>
          <p:cNvPr id="6" name="Deck title">
            <a:extLst>
              <a:ext uri="{FF2B5EF4-FFF2-40B4-BE49-F238E27FC236}">
                <a16:creationId xmlns:a16="http://schemas.microsoft.com/office/drawing/2014/main" id="{8CB24675-B676-A69E-777D-C79C5294BBD0}"/>
              </a:ext>
            </a:extLst>
          </p:cNvPr>
          <p:cNvSpPr txBox="1"/>
          <p:nvPr/>
        </p:nvSpPr>
        <p:spPr>
          <a:xfrm>
            <a:off x="736600" y="17526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5000" b="1">
                <a:solidFill>
                  <a:srgbClr val="FFFFFF"/>
                </a:solidFill>
                <a:latin typeface="Arial" panose="020B0604020202020204" pitchFamily="34" charset="0"/>
              </a:rPr>
              <a:t>Detección de phishing
en correos electrónicos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59EC86AD-B3DB-A750-53C2-17F539FBFF6A}"/>
              </a:ext>
            </a:extLst>
          </p:cNvPr>
          <p:cNvSpPr txBox="1"/>
          <p:nvPr/>
        </p:nvSpPr>
        <p:spPr>
          <a:xfrm>
            <a:off x="736600" y="3860800"/>
            <a:ext cx="749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>
                <a:solidFill>
                  <a:srgbClr val="C9D7E0"/>
                </a:solidFill>
                <a:latin typeface="Arial" panose="020B0604020202020204" pitchFamily="34" charset="0"/>
              </a:rPr>
              <a:t>Sistema cliente-servidor con análisis explicable y modelos centralizados</a:t>
            </a: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93415A81-B9E9-69DE-2AB4-F52F6EFFBADE}"/>
              </a:ext>
            </a:extLst>
          </p:cNvPr>
          <p:cNvSpPr txBox="1"/>
          <p:nvPr/>
        </p:nvSpPr>
        <p:spPr>
          <a:xfrm>
            <a:off x="736600" y="5461000"/>
            <a:ext cx="482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 b="1">
                <a:solidFill>
                  <a:srgbClr val="FFFFFF"/>
                </a:solidFill>
                <a:latin typeface="Arial" panose="020B0604020202020204" pitchFamily="34" charset="0"/>
              </a:rPr>
              <a:t>Alejandro Villarrubia García</a:t>
            </a:r>
          </a:p>
        </p:txBody>
      </p:sp>
      <p:sp>
        <p:nvSpPr>
          <p:cNvPr id="9" name="Tutor">
            <a:extLst>
              <a:ext uri="{FF2B5EF4-FFF2-40B4-BE49-F238E27FC236}">
                <a16:creationId xmlns:a16="http://schemas.microsoft.com/office/drawing/2014/main" id="{EDC8FE3B-B12D-4EED-7788-C8ACAEB19D31}"/>
              </a:ext>
            </a:extLst>
          </p:cNvPr>
          <p:cNvSpPr txBox="1"/>
          <p:nvPr/>
        </p:nvSpPr>
        <p:spPr>
          <a:xfrm>
            <a:off x="736600" y="58420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A9BBC8"/>
                </a:solidFill>
                <a:latin typeface="Arial" panose="020B0604020202020204" pitchFamily="34" charset="0"/>
              </a:rPr>
              <a:t>Tutor: Carmelo González García · UEMC</a:t>
            </a:r>
          </a:p>
        </p:txBody>
      </p:sp>
      <p:sp>
        <p:nvSpPr>
          <p:cNvPr id="10" name="Cover mark">
            <a:extLst>
              <a:ext uri="{FF2B5EF4-FFF2-40B4-BE49-F238E27FC236}">
                <a16:creationId xmlns:a16="http://schemas.microsoft.com/office/drawing/2014/main" id="{B3ACB225-2561-3DFC-7BC3-370DADCF5B9F}"/>
              </a:ext>
            </a:extLst>
          </p:cNvPr>
          <p:cNvSpPr txBox="1"/>
          <p:nvPr/>
        </p:nvSpPr>
        <p:spPr>
          <a:xfrm>
            <a:off x="9753600" y="5080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3800" b="1">
                <a:solidFill>
                  <a:srgbClr val="FFFFFF"/>
                </a:solidFill>
                <a:latin typeface="Arial" panose="020B0604020202020204" pitchFamily="34" charset="0"/>
              </a:rPr>
              <a:t>TFG</a:t>
            </a:r>
          </a:p>
        </p:txBody>
      </p:sp>
    </p:spTree>
    <p:extLst>
      <p:ext uri="{BB962C8B-B14F-4D97-AF65-F5344CB8AC3E}">
        <p14:creationId xmlns:p14="http://schemas.microsoft.com/office/powerpoint/2010/main" val="1191948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075C0818-D8BB-0573-073B-53B38734CFD9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MOTIVACIÓN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B91543EB-136D-6D33-DFFC-FD7F4E851CEF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El problema exige una decisión explicable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6DFED996-1D5B-A332-990C-6D58CAB980EF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E303F36B-D40A-6C26-9A1B-04DB833B8F06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DB884B-40E0-95DF-7D97-50648220AD4C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Question field">
            <a:extLst>
              <a:ext uri="{FF2B5EF4-FFF2-40B4-BE49-F238E27FC236}">
                <a16:creationId xmlns:a16="http://schemas.microsoft.com/office/drawing/2014/main" id="{36592ECE-A28A-9B30-1BEC-E33FB995D068}"/>
              </a:ext>
            </a:extLst>
          </p:cNvPr>
          <p:cNvSpPr/>
          <p:nvPr/>
        </p:nvSpPr>
        <p:spPr>
          <a:xfrm>
            <a:off x="711200" y="1676400"/>
            <a:ext cx="3835400" cy="4089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Question">
            <a:extLst>
              <a:ext uri="{FF2B5EF4-FFF2-40B4-BE49-F238E27FC236}">
                <a16:creationId xmlns:a16="http://schemas.microsoft.com/office/drawing/2014/main" id="{81645575-EE0D-3D0C-7419-13689792C723}"/>
              </a:ext>
            </a:extLst>
          </p:cNvPr>
          <p:cNvSpPr txBox="1"/>
          <p:nvPr/>
        </p:nvSpPr>
        <p:spPr>
          <a:xfrm>
            <a:off x="1041400" y="21590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200" b="1">
                <a:solidFill>
                  <a:srgbClr val="FFFFFF"/>
                </a:solidFill>
                <a:latin typeface="Arial" panose="020B0604020202020204" pitchFamily="34" charset="0"/>
              </a:rPr>
              <a:t>¿Cómo detectar phishing sin perder la explicación?</a:t>
            </a:r>
          </a:p>
        </p:txBody>
      </p:sp>
      <p:sp>
        <p:nvSpPr>
          <p:cNvPr id="9" name="Question support">
            <a:extLst>
              <a:ext uri="{FF2B5EF4-FFF2-40B4-BE49-F238E27FC236}">
                <a16:creationId xmlns:a16="http://schemas.microsoft.com/office/drawing/2014/main" id="{183FE2D8-B2B0-3AEE-9540-A1C9E3D5BA3D}"/>
              </a:ext>
            </a:extLst>
          </p:cNvPr>
          <p:cNvSpPr txBox="1"/>
          <p:nvPr/>
        </p:nvSpPr>
        <p:spPr>
          <a:xfrm>
            <a:off x="1041400" y="46355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C9D7E0"/>
                </a:solidFill>
                <a:latin typeface="Arial" panose="020B0604020202020204" pitchFamily="34" charset="0"/>
              </a:rPr>
              <a:t>Una etiqueta aislada no basta para revisar un correo sospechoso.</a:t>
            </a:r>
          </a:p>
        </p:txBody>
      </p:sp>
      <p:sp>
        <p:nvSpPr>
          <p:cNvPr id="10" name="Index 01">
            <a:extLst>
              <a:ext uri="{FF2B5EF4-FFF2-40B4-BE49-F238E27FC236}">
                <a16:creationId xmlns:a16="http://schemas.microsoft.com/office/drawing/2014/main" id="{2B2153E1-8D8B-89F5-3A10-1818074A190B}"/>
              </a:ext>
            </a:extLst>
          </p:cNvPr>
          <p:cNvSpPr txBox="1"/>
          <p:nvPr/>
        </p:nvSpPr>
        <p:spPr>
          <a:xfrm>
            <a:off x="5207000" y="18034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1" name="Problem 01">
            <a:extLst>
              <a:ext uri="{FF2B5EF4-FFF2-40B4-BE49-F238E27FC236}">
                <a16:creationId xmlns:a16="http://schemas.microsoft.com/office/drawing/2014/main" id="{8978378E-70F9-0025-5DD6-5AF161F04E98}"/>
              </a:ext>
            </a:extLst>
          </p:cNvPr>
          <p:cNvSpPr txBox="1"/>
          <p:nvPr/>
        </p:nvSpPr>
        <p:spPr>
          <a:xfrm>
            <a:off x="5943600" y="18034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Señales técnicas</a:t>
            </a:r>
          </a:p>
        </p:txBody>
      </p:sp>
      <p:sp>
        <p:nvSpPr>
          <p:cNvPr id="12" name="Problem detail 01">
            <a:extLst>
              <a:ext uri="{FF2B5EF4-FFF2-40B4-BE49-F238E27FC236}">
                <a16:creationId xmlns:a16="http://schemas.microsoft.com/office/drawing/2014/main" id="{CBE1086D-1152-3ECE-848B-C84A76726C0A}"/>
              </a:ext>
            </a:extLst>
          </p:cNvPr>
          <p:cNvSpPr txBox="1"/>
          <p:nvPr/>
        </p:nvSpPr>
        <p:spPr>
          <a:xfrm>
            <a:off x="5943600" y="22352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Resultados SPF, DKIM y DMARC presentes en cabeceras, dominios, URLs, HTML y adjuntos.</a:t>
            </a:r>
          </a:p>
        </p:txBody>
      </p:sp>
      <p:cxnSp>
        <p:nvCxnSpPr>
          <p:cNvPr id="13" name="Problem divider">
            <a:extLst>
              <a:ext uri="{FF2B5EF4-FFF2-40B4-BE49-F238E27FC236}">
                <a16:creationId xmlns:a16="http://schemas.microsoft.com/office/drawing/2014/main" id="{EF2FC6A1-08EB-BF45-77CD-D715FC849E7E}"/>
              </a:ext>
            </a:extLst>
          </p:cNvPr>
          <p:cNvCxnSpPr/>
          <p:nvPr/>
        </p:nvCxnSpPr>
        <p:spPr>
          <a:xfrm>
            <a:off x="5207000" y="2959100"/>
            <a:ext cx="58420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ndex 02">
            <a:extLst>
              <a:ext uri="{FF2B5EF4-FFF2-40B4-BE49-F238E27FC236}">
                <a16:creationId xmlns:a16="http://schemas.microsoft.com/office/drawing/2014/main" id="{C98320FA-F415-1EA6-FD66-D7C1D86CA287}"/>
              </a:ext>
            </a:extLst>
          </p:cNvPr>
          <p:cNvSpPr txBox="1"/>
          <p:nvPr/>
        </p:nvSpPr>
        <p:spPr>
          <a:xfrm>
            <a:off x="5207000" y="31750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5" name="Problem 02">
            <a:extLst>
              <a:ext uri="{FF2B5EF4-FFF2-40B4-BE49-F238E27FC236}">
                <a16:creationId xmlns:a16="http://schemas.microsoft.com/office/drawing/2014/main" id="{4E4E6FCD-91FD-0F28-CF67-89CD79FFF049}"/>
              </a:ext>
            </a:extLst>
          </p:cNvPr>
          <p:cNvSpPr txBox="1"/>
          <p:nvPr/>
        </p:nvSpPr>
        <p:spPr>
          <a:xfrm>
            <a:off x="5943600" y="31750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Ingeniería social</a:t>
            </a:r>
          </a:p>
        </p:txBody>
      </p:sp>
      <p:sp>
        <p:nvSpPr>
          <p:cNvPr id="16" name="Problem detail 02">
            <a:extLst>
              <a:ext uri="{FF2B5EF4-FFF2-40B4-BE49-F238E27FC236}">
                <a16:creationId xmlns:a16="http://schemas.microsoft.com/office/drawing/2014/main" id="{83426D22-47FB-1CA2-24AD-0A4DAAE31F9F}"/>
              </a:ext>
            </a:extLst>
          </p:cNvPr>
          <p:cNvSpPr txBox="1"/>
          <p:nvPr/>
        </p:nvSpPr>
        <p:spPr>
          <a:xfrm>
            <a:off x="5943600" y="36068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Urgencia, autoridad, credenciales y patrones BEC.</a:t>
            </a:r>
          </a:p>
        </p:txBody>
      </p:sp>
      <p:cxnSp>
        <p:nvCxnSpPr>
          <p:cNvPr id="17" name="Problem divider">
            <a:extLst>
              <a:ext uri="{FF2B5EF4-FFF2-40B4-BE49-F238E27FC236}">
                <a16:creationId xmlns:a16="http://schemas.microsoft.com/office/drawing/2014/main" id="{D1129BA5-1AE6-3563-8639-40AC04B9CEE4}"/>
              </a:ext>
            </a:extLst>
          </p:cNvPr>
          <p:cNvCxnSpPr/>
          <p:nvPr/>
        </p:nvCxnSpPr>
        <p:spPr>
          <a:xfrm>
            <a:off x="5207000" y="4330700"/>
            <a:ext cx="58420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ndex 03">
            <a:extLst>
              <a:ext uri="{FF2B5EF4-FFF2-40B4-BE49-F238E27FC236}">
                <a16:creationId xmlns:a16="http://schemas.microsoft.com/office/drawing/2014/main" id="{EAE45CD0-26F8-8572-F90B-5A244EF81CED}"/>
              </a:ext>
            </a:extLst>
          </p:cNvPr>
          <p:cNvSpPr txBox="1"/>
          <p:nvPr/>
        </p:nvSpPr>
        <p:spPr>
          <a:xfrm>
            <a:off x="5207000" y="45466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9" name="Problem 03">
            <a:extLst>
              <a:ext uri="{FF2B5EF4-FFF2-40B4-BE49-F238E27FC236}">
                <a16:creationId xmlns:a16="http://schemas.microsoft.com/office/drawing/2014/main" id="{BC28FF93-0468-5DB8-1472-0206745B31E7}"/>
              </a:ext>
            </a:extLst>
          </p:cNvPr>
          <p:cNvSpPr txBox="1"/>
          <p:nvPr/>
        </p:nvSpPr>
        <p:spPr>
          <a:xfrm>
            <a:off x="5943600" y="4546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Decisión trazable</a:t>
            </a:r>
          </a:p>
        </p:txBody>
      </p:sp>
      <p:sp>
        <p:nvSpPr>
          <p:cNvPr id="20" name="Problem detail 03">
            <a:extLst>
              <a:ext uri="{FF2B5EF4-FFF2-40B4-BE49-F238E27FC236}">
                <a16:creationId xmlns:a16="http://schemas.microsoft.com/office/drawing/2014/main" id="{AF25C870-5EBA-24A2-D56D-3D58AFF70C64}"/>
              </a:ext>
            </a:extLst>
          </p:cNvPr>
          <p:cNvSpPr txBox="1"/>
          <p:nvPr/>
        </p:nvSpPr>
        <p:spPr>
          <a:xfrm>
            <a:off x="5943600" y="4978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Riesgo, señales activadas y explicación para el usuario.</a:t>
            </a:r>
          </a:p>
        </p:txBody>
      </p:sp>
    </p:spTree>
    <p:extLst>
      <p:ext uri="{BB962C8B-B14F-4D97-AF65-F5344CB8AC3E}">
        <p14:creationId xmlns:p14="http://schemas.microsoft.com/office/powerpoint/2010/main" val="284445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2F7FFEFF-9ECC-ECD6-F870-50D8F8DDD8A0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OBJETIVOS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2A73C2E8-6DDB-F372-339E-267B46BEA4BD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Un backend central cumple cuatro objetivos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AB4EC1FF-543B-2040-4A81-55367EE995CD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34F76A29-1178-0A22-04AC-6A5A5B2A4FA4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A7E6418E-BB23-1A69-4191-7DB0B23D18A6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7" name="Thesis">
            <a:extLst>
              <a:ext uri="{FF2B5EF4-FFF2-40B4-BE49-F238E27FC236}">
                <a16:creationId xmlns:a16="http://schemas.microsoft.com/office/drawing/2014/main" id="{ED701BA1-59DE-6B21-BBC0-08D038530823}"/>
              </a:ext>
            </a:extLst>
          </p:cNvPr>
          <p:cNvSpPr txBox="1"/>
          <p:nvPr/>
        </p:nvSpPr>
        <p:spPr>
          <a:xfrm>
            <a:off x="711200" y="16256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500" b="1">
                <a:solidFill>
                  <a:srgbClr val="12304A"/>
                </a:solidFill>
                <a:latin typeface="Arial" panose="020B0604020202020204" pitchFamily="34" charset="0"/>
              </a:rPr>
              <a:t>Una única lógica de análisis; varias formas de usarla.</a:t>
            </a:r>
          </a:p>
        </p:txBody>
      </p:sp>
      <p:sp>
        <p:nvSpPr>
          <p:cNvPr id="8" name="Thesis detail">
            <a:extLst>
              <a:ext uri="{FF2B5EF4-FFF2-40B4-BE49-F238E27FC236}">
                <a16:creationId xmlns:a16="http://schemas.microsoft.com/office/drawing/2014/main" id="{1A0EB1CA-E4BB-FCC4-8651-4B9409CF6C0F}"/>
              </a:ext>
            </a:extLst>
          </p:cNvPr>
          <p:cNvSpPr txBox="1"/>
          <p:nvPr/>
        </p:nvSpPr>
        <p:spPr>
          <a:xfrm>
            <a:off x="711200" y="22987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49657A"/>
                </a:solidFill>
                <a:latin typeface="Arial" panose="020B0604020202020204" pitchFamily="34" charset="0"/>
              </a:rPr>
              <a:t>El cliente recoge datos y presenta resultados. El servidor concentra parser, detectores, entrenamiento y versiones.</a:t>
            </a:r>
          </a:p>
        </p:txBody>
      </p:sp>
      <p:sp>
        <p:nvSpPr>
          <p:cNvPr id="9" name="Objective index">
            <a:extLst>
              <a:ext uri="{FF2B5EF4-FFF2-40B4-BE49-F238E27FC236}">
                <a16:creationId xmlns:a16="http://schemas.microsoft.com/office/drawing/2014/main" id="{FAA28E44-8717-5689-B983-ADAAA298DBAA}"/>
              </a:ext>
            </a:extLst>
          </p:cNvPr>
          <p:cNvSpPr txBox="1"/>
          <p:nvPr/>
        </p:nvSpPr>
        <p:spPr>
          <a:xfrm>
            <a:off x="7874000" y="1574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0" name="Objective">
            <a:extLst>
              <a:ext uri="{FF2B5EF4-FFF2-40B4-BE49-F238E27FC236}">
                <a16:creationId xmlns:a16="http://schemas.microsoft.com/office/drawing/2014/main" id="{02A84831-3673-F18C-B99C-C94135C42191}"/>
              </a:ext>
            </a:extLst>
          </p:cNvPr>
          <p:cNvSpPr txBox="1"/>
          <p:nvPr/>
        </p:nvSpPr>
        <p:spPr>
          <a:xfrm>
            <a:off x="8686800" y="1574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Aceptar varias entradas</a:t>
            </a:r>
          </a:p>
        </p:txBody>
      </p:sp>
      <p:sp>
        <p:nvSpPr>
          <p:cNvPr id="11" name="Objective detail">
            <a:extLst>
              <a:ext uri="{FF2B5EF4-FFF2-40B4-BE49-F238E27FC236}">
                <a16:creationId xmlns:a16="http://schemas.microsoft.com/office/drawing/2014/main" id="{23C25EED-0629-98D1-9C83-9A3053D55793}"/>
              </a:ext>
            </a:extLst>
          </p:cNvPr>
          <p:cNvSpPr txBox="1"/>
          <p:nvPr/>
        </p:nvSpPr>
        <p:spPr>
          <a:xfrm>
            <a:off x="8686800" y="1955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Texto, EML, Gmail, extensión y monitor.</a:t>
            </a:r>
          </a:p>
        </p:txBody>
      </p:sp>
      <p:cxnSp>
        <p:nvCxnSpPr>
          <p:cNvPr id="12" name="Objective divider">
            <a:extLst>
              <a:ext uri="{FF2B5EF4-FFF2-40B4-BE49-F238E27FC236}">
                <a16:creationId xmlns:a16="http://schemas.microsoft.com/office/drawing/2014/main" id="{A0B3549E-4B27-F67F-97E2-C5135EC31E79}"/>
              </a:ext>
            </a:extLst>
          </p:cNvPr>
          <p:cNvCxnSpPr/>
          <p:nvPr/>
        </p:nvCxnSpPr>
        <p:spPr>
          <a:xfrm>
            <a:off x="7874000" y="26162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bjective index">
            <a:extLst>
              <a:ext uri="{FF2B5EF4-FFF2-40B4-BE49-F238E27FC236}">
                <a16:creationId xmlns:a16="http://schemas.microsoft.com/office/drawing/2014/main" id="{03599531-6230-C99F-E46A-37E64DE8CB8D}"/>
              </a:ext>
            </a:extLst>
          </p:cNvPr>
          <p:cNvSpPr txBox="1"/>
          <p:nvPr/>
        </p:nvSpPr>
        <p:spPr>
          <a:xfrm>
            <a:off x="7874000" y="27432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4" name="Objective">
            <a:extLst>
              <a:ext uri="{FF2B5EF4-FFF2-40B4-BE49-F238E27FC236}">
                <a16:creationId xmlns:a16="http://schemas.microsoft.com/office/drawing/2014/main" id="{F1B03966-D628-E8B6-6831-68141D6AD87F}"/>
              </a:ext>
            </a:extLst>
          </p:cNvPr>
          <p:cNvSpPr txBox="1"/>
          <p:nvPr/>
        </p:nvSpPr>
        <p:spPr>
          <a:xfrm>
            <a:off x="8686800" y="27432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Combinar dos enfoques</a:t>
            </a:r>
          </a:p>
        </p:txBody>
      </p:sp>
      <p:sp>
        <p:nvSpPr>
          <p:cNvPr id="15" name="Objective detail">
            <a:extLst>
              <a:ext uri="{FF2B5EF4-FFF2-40B4-BE49-F238E27FC236}">
                <a16:creationId xmlns:a16="http://schemas.microsoft.com/office/drawing/2014/main" id="{5450AAFD-EDFF-C3C8-009A-1AC70F7C4BD7}"/>
              </a:ext>
            </a:extLst>
          </p:cNvPr>
          <p:cNvSpPr txBox="1"/>
          <p:nvPr/>
        </p:nvSpPr>
        <p:spPr>
          <a:xfrm>
            <a:off x="8686800" y="31242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Heurística explicable + TF-IDF y MLP bilingüe.</a:t>
            </a:r>
          </a:p>
        </p:txBody>
      </p:sp>
      <p:cxnSp>
        <p:nvCxnSpPr>
          <p:cNvPr id="16" name="Objective divider">
            <a:extLst>
              <a:ext uri="{FF2B5EF4-FFF2-40B4-BE49-F238E27FC236}">
                <a16:creationId xmlns:a16="http://schemas.microsoft.com/office/drawing/2014/main" id="{1D354A64-78EF-4F9F-3B8F-543125EC4299}"/>
              </a:ext>
            </a:extLst>
          </p:cNvPr>
          <p:cNvCxnSpPr/>
          <p:nvPr/>
        </p:nvCxnSpPr>
        <p:spPr>
          <a:xfrm>
            <a:off x="7874000" y="37846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bjective index">
            <a:extLst>
              <a:ext uri="{FF2B5EF4-FFF2-40B4-BE49-F238E27FC236}">
                <a16:creationId xmlns:a16="http://schemas.microsoft.com/office/drawing/2014/main" id="{5C5DF361-CD53-0071-2195-484B99620776}"/>
              </a:ext>
            </a:extLst>
          </p:cNvPr>
          <p:cNvSpPr txBox="1"/>
          <p:nvPr/>
        </p:nvSpPr>
        <p:spPr>
          <a:xfrm>
            <a:off x="7874000" y="39116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8" name="Objective">
            <a:extLst>
              <a:ext uri="{FF2B5EF4-FFF2-40B4-BE49-F238E27FC236}">
                <a16:creationId xmlns:a16="http://schemas.microsoft.com/office/drawing/2014/main" id="{9A6EBACE-D031-807D-4B83-A6B0301294E4}"/>
              </a:ext>
            </a:extLst>
          </p:cNvPr>
          <p:cNvSpPr txBox="1"/>
          <p:nvPr/>
        </p:nvSpPr>
        <p:spPr>
          <a:xfrm>
            <a:off x="8686800" y="3911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Compartir los modelos</a:t>
            </a:r>
          </a:p>
        </p:txBody>
      </p:sp>
      <p:sp>
        <p:nvSpPr>
          <p:cNvPr id="19" name="Objective detail">
            <a:extLst>
              <a:ext uri="{FF2B5EF4-FFF2-40B4-BE49-F238E27FC236}">
                <a16:creationId xmlns:a16="http://schemas.microsoft.com/office/drawing/2014/main" id="{A9F63596-A27A-FA95-84A5-C8ADD98489DA}"/>
              </a:ext>
            </a:extLst>
          </p:cNvPr>
          <p:cNvSpPr txBox="1"/>
          <p:nvPr/>
        </p:nvSpPr>
        <p:spPr>
          <a:xfrm>
            <a:off x="8686800" y="4292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Una versión activa ES/EN para todos los clientes.</a:t>
            </a:r>
          </a:p>
        </p:txBody>
      </p:sp>
      <p:cxnSp>
        <p:nvCxnSpPr>
          <p:cNvPr id="20" name="Objective divider">
            <a:extLst>
              <a:ext uri="{FF2B5EF4-FFF2-40B4-BE49-F238E27FC236}">
                <a16:creationId xmlns:a16="http://schemas.microsoft.com/office/drawing/2014/main" id="{D64ABAB4-5AC0-AC34-763A-E533529E7B26}"/>
              </a:ext>
            </a:extLst>
          </p:cNvPr>
          <p:cNvCxnSpPr/>
          <p:nvPr/>
        </p:nvCxnSpPr>
        <p:spPr>
          <a:xfrm>
            <a:off x="7874000" y="49530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bjective index">
            <a:extLst>
              <a:ext uri="{FF2B5EF4-FFF2-40B4-BE49-F238E27FC236}">
                <a16:creationId xmlns:a16="http://schemas.microsoft.com/office/drawing/2014/main" id="{21FB28C7-92F5-757D-7D2F-F87413F75ADB}"/>
              </a:ext>
            </a:extLst>
          </p:cNvPr>
          <p:cNvSpPr txBox="1"/>
          <p:nvPr/>
        </p:nvSpPr>
        <p:spPr>
          <a:xfrm>
            <a:off x="7874000" y="50800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2" name="Objective">
            <a:extLst>
              <a:ext uri="{FF2B5EF4-FFF2-40B4-BE49-F238E27FC236}">
                <a16:creationId xmlns:a16="http://schemas.microsoft.com/office/drawing/2014/main" id="{74FBC23F-A2DB-4A09-6EA0-AB05A56E92D6}"/>
              </a:ext>
            </a:extLst>
          </p:cNvPr>
          <p:cNvSpPr txBox="1"/>
          <p:nvPr/>
        </p:nvSpPr>
        <p:spPr>
          <a:xfrm>
            <a:off x="8686800" y="5080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Evaluar con trazabilidad</a:t>
            </a:r>
          </a:p>
        </p:txBody>
      </p:sp>
      <p:sp>
        <p:nvSpPr>
          <p:cNvPr id="23" name="Objective detail">
            <a:extLst>
              <a:ext uri="{FF2B5EF4-FFF2-40B4-BE49-F238E27FC236}">
                <a16:creationId xmlns:a16="http://schemas.microsoft.com/office/drawing/2014/main" id="{F9BCE289-D306-9CBD-6DB8-680724E931A8}"/>
              </a:ext>
            </a:extLst>
          </p:cNvPr>
          <p:cNvSpPr txBox="1"/>
          <p:nvPr/>
        </p:nvSpPr>
        <p:spPr>
          <a:xfrm>
            <a:off x="8686800" y="5461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Calibración separada, EML reservados y pruebas reproducibles.</a:t>
            </a:r>
          </a:p>
        </p:txBody>
      </p:sp>
    </p:spTree>
    <p:extLst>
      <p:ext uri="{BB962C8B-B14F-4D97-AF65-F5344CB8AC3E}">
        <p14:creationId xmlns:p14="http://schemas.microsoft.com/office/powerpoint/2010/main" val="174996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01282EB4-7CFB-DD1F-728A-D092EA9301AB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ARQUITECTURA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EDBDC7F9-AB71-A997-0C5C-126BCCB6FEFD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Sí: es una arquitectura cliente-servidor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A151D008-5CBC-AAB5-154E-5009F874CCAB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887C2F5-19AF-E8C7-4326-D82A30D74304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21DD0612-58CC-0451-8154-38CB408AA0A2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4</a:t>
            </a:r>
          </a:p>
        </p:txBody>
      </p:sp>
      <p:cxnSp>
        <p:nvCxnSpPr>
          <p:cNvPr id="7" name="Browser to web">
            <a:extLst>
              <a:ext uri="{FF2B5EF4-FFF2-40B4-BE49-F238E27FC236}">
                <a16:creationId xmlns:a16="http://schemas.microsoft.com/office/drawing/2014/main" id="{52E7113E-D3C3-627B-73B1-04C96574952E}"/>
              </a:ext>
            </a:extLst>
          </p:cNvPr>
          <p:cNvCxnSpPr/>
          <p:nvPr/>
        </p:nvCxnSpPr>
        <p:spPr>
          <a:xfrm>
            <a:off x="2476500" y="2489200"/>
            <a:ext cx="0" cy="139700"/>
          </a:xfrm>
          <a:prstGeom prst="line">
            <a:avLst/>
          </a:prstGeom>
          <a:ln w="19050">
            <a:solidFill>
              <a:srgbClr val="4965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Web to backend">
            <a:extLst>
              <a:ext uri="{FF2B5EF4-FFF2-40B4-BE49-F238E27FC236}">
                <a16:creationId xmlns:a16="http://schemas.microsoft.com/office/drawing/2014/main" id="{E1BE4715-221F-5CC2-C823-318AC91A3804}"/>
              </a:ext>
            </a:extLst>
          </p:cNvPr>
          <p:cNvCxnSpPr/>
          <p:nvPr/>
        </p:nvCxnSpPr>
        <p:spPr>
          <a:xfrm>
            <a:off x="3632200" y="3187700"/>
            <a:ext cx="2971800" cy="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Extension to backend">
            <a:extLst>
              <a:ext uri="{FF2B5EF4-FFF2-40B4-BE49-F238E27FC236}">
                <a16:creationId xmlns:a16="http://schemas.microsoft.com/office/drawing/2014/main" id="{C66CF468-2CB7-8B79-CEC7-12A43F912C32}"/>
              </a:ext>
            </a:extLst>
          </p:cNvPr>
          <p:cNvCxnSpPr/>
          <p:nvPr/>
        </p:nvCxnSpPr>
        <p:spPr>
          <a:xfrm flipV="1">
            <a:off x="3632200" y="3848100"/>
            <a:ext cx="2971800" cy="44450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onitor to backend">
            <a:extLst>
              <a:ext uri="{FF2B5EF4-FFF2-40B4-BE49-F238E27FC236}">
                <a16:creationId xmlns:a16="http://schemas.microsoft.com/office/drawing/2014/main" id="{5AB36BBB-7F4C-C817-5EC3-6BE5458B586D}"/>
              </a:ext>
            </a:extLst>
          </p:cNvPr>
          <p:cNvCxnSpPr/>
          <p:nvPr/>
        </p:nvCxnSpPr>
        <p:spPr>
          <a:xfrm flipV="1">
            <a:off x="3632200" y="4508500"/>
            <a:ext cx="2971800" cy="88900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rowser">
            <a:extLst>
              <a:ext uri="{FF2B5EF4-FFF2-40B4-BE49-F238E27FC236}">
                <a16:creationId xmlns:a16="http://schemas.microsoft.com/office/drawing/2014/main" id="{BF66F511-B5E0-8DCA-3E1D-1474C26863FB}"/>
              </a:ext>
            </a:extLst>
          </p:cNvPr>
          <p:cNvSpPr/>
          <p:nvPr/>
        </p:nvSpPr>
        <p:spPr>
          <a:xfrm>
            <a:off x="1371600" y="1676400"/>
            <a:ext cx="2209800" cy="812800"/>
          </a:xfrm>
          <a:prstGeom prst="roundRect">
            <a:avLst/>
          </a:prstGeom>
          <a:solidFill>
            <a:srgbClr val="EAF0F3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Browser title">
            <a:extLst>
              <a:ext uri="{FF2B5EF4-FFF2-40B4-BE49-F238E27FC236}">
                <a16:creationId xmlns:a16="http://schemas.microsoft.com/office/drawing/2014/main" id="{09E22B8C-0404-2381-5FAD-75D20142EE11}"/>
              </a:ext>
            </a:extLst>
          </p:cNvPr>
          <p:cNvSpPr txBox="1"/>
          <p:nvPr/>
        </p:nvSpPr>
        <p:spPr>
          <a:xfrm>
            <a:off x="1549400" y="1828800"/>
            <a:ext cx="185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Navegador</a:t>
            </a:r>
          </a:p>
        </p:txBody>
      </p:sp>
      <p:sp>
        <p:nvSpPr>
          <p:cNvPr id="13" name="Browser body">
            <a:extLst>
              <a:ext uri="{FF2B5EF4-FFF2-40B4-BE49-F238E27FC236}">
                <a16:creationId xmlns:a16="http://schemas.microsoft.com/office/drawing/2014/main" id="{965D824D-B024-8DFD-7AC3-786426453937}"/>
              </a:ext>
            </a:extLst>
          </p:cNvPr>
          <p:cNvSpPr txBox="1"/>
          <p:nvPr/>
        </p:nvSpPr>
        <p:spPr>
          <a:xfrm>
            <a:off x="1549400" y="2171700"/>
            <a:ext cx="185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Interfaz visible</a:t>
            </a:r>
          </a:p>
        </p:txBody>
      </p:sp>
      <p:sp>
        <p:nvSpPr>
          <p:cNvPr id="14" name="Streamlit">
            <a:extLst>
              <a:ext uri="{FF2B5EF4-FFF2-40B4-BE49-F238E27FC236}">
                <a16:creationId xmlns:a16="http://schemas.microsoft.com/office/drawing/2014/main" id="{DA3125ED-A024-D2FA-8659-6F2C79CFD7D3}"/>
              </a:ext>
            </a:extLst>
          </p:cNvPr>
          <p:cNvSpPr/>
          <p:nvPr/>
        </p:nvSpPr>
        <p:spPr>
          <a:xfrm>
            <a:off x="1219200" y="26289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Streamlit title">
            <a:extLst>
              <a:ext uri="{FF2B5EF4-FFF2-40B4-BE49-F238E27FC236}">
                <a16:creationId xmlns:a16="http://schemas.microsoft.com/office/drawing/2014/main" id="{FF15C288-6C39-995F-42E4-E9D7576E7D93}"/>
              </a:ext>
            </a:extLst>
          </p:cNvPr>
          <p:cNvSpPr txBox="1"/>
          <p:nvPr/>
        </p:nvSpPr>
        <p:spPr>
          <a:xfrm>
            <a:off x="1397000" y="27813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Streamlit</a:t>
            </a:r>
          </a:p>
        </p:txBody>
      </p:sp>
      <p:sp>
        <p:nvSpPr>
          <p:cNvPr id="16" name="Streamlit body">
            <a:extLst>
              <a:ext uri="{FF2B5EF4-FFF2-40B4-BE49-F238E27FC236}">
                <a16:creationId xmlns:a16="http://schemas.microsoft.com/office/drawing/2014/main" id="{33E48DE7-6C1B-50D1-CA67-10A75F4E488B}"/>
              </a:ext>
            </a:extLst>
          </p:cNvPr>
          <p:cNvSpPr txBox="1"/>
          <p:nvPr/>
        </p:nvSpPr>
        <p:spPr>
          <a:xfrm>
            <a:off x="1397000" y="31242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Presentación y cliente HTTP</a:t>
            </a:r>
          </a:p>
        </p:txBody>
      </p:sp>
      <p:sp>
        <p:nvSpPr>
          <p:cNvPr id="17" name="Extension">
            <a:extLst>
              <a:ext uri="{FF2B5EF4-FFF2-40B4-BE49-F238E27FC236}">
                <a16:creationId xmlns:a16="http://schemas.microsoft.com/office/drawing/2014/main" id="{D398F88F-C60D-BF6C-C704-B4234481C75C}"/>
              </a:ext>
            </a:extLst>
          </p:cNvPr>
          <p:cNvSpPr/>
          <p:nvPr/>
        </p:nvSpPr>
        <p:spPr>
          <a:xfrm>
            <a:off x="1219200" y="38354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Extension title">
            <a:extLst>
              <a:ext uri="{FF2B5EF4-FFF2-40B4-BE49-F238E27FC236}">
                <a16:creationId xmlns:a16="http://schemas.microsoft.com/office/drawing/2014/main" id="{546FC7A0-5DBE-C84C-AE97-AD483D1B9BDF}"/>
              </a:ext>
            </a:extLst>
          </p:cNvPr>
          <p:cNvSpPr txBox="1"/>
          <p:nvPr/>
        </p:nvSpPr>
        <p:spPr>
          <a:xfrm>
            <a:off x="1397000" y="39878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Extensión Gmail</a:t>
            </a:r>
          </a:p>
        </p:txBody>
      </p:sp>
      <p:sp>
        <p:nvSpPr>
          <p:cNvPr id="19" name="Extension body">
            <a:extLst>
              <a:ext uri="{FF2B5EF4-FFF2-40B4-BE49-F238E27FC236}">
                <a16:creationId xmlns:a16="http://schemas.microsoft.com/office/drawing/2014/main" id="{98267644-82C9-3D5E-7CAB-543A9363FB94}"/>
              </a:ext>
            </a:extLst>
          </p:cNvPr>
          <p:cNvSpPr txBox="1"/>
          <p:nvPr/>
        </p:nvSpPr>
        <p:spPr>
          <a:xfrm>
            <a:off x="1397000" y="43307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Correo visible → /analyze</a:t>
            </a:r>
          </a:p>
        </p:txBody>
      </p:sp>
      <p:sp>
        <p:nvSpPr>
          <p:cNvPr id="20" name="Monitor">
            <a:extLst>
              <a:ext uri="{FF2B5EF4-FFF2-40B4-BE49-F238E27FC236}">
                <a16:creationId xmlns:a16="http://schemas.microsoft.com/office/drawing/2014/main" id="{BB1EB741-F019-F4CF-B111-5B175A6A4F1D}"/>
              </a:ext>
            </a:extLst>
          </p:cNvPr>
          <p:cNvSpPr/>
          <p:nvPr/>
        </p:nvSpPr>
        <p:spPr>
          <a:xfrm>
            <a:off x="1219200" y="50419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Monitor title">
            <a:extLst>
              <a:ext uri="{FF2B5EF4-FFF2-40B4-BE49-F238E27FC236}">
                <a16:creationId xmlns:a16="http://schemas.microsoft.com/office/drawing/2014/main" id="{6DC6E016-49E7-E370-7413-A2C8D7250AD8}"/>
              </a:ext>
            </a:extLst>
          </p:cNvPr>
          <p:cNvSpPr txBox="1"/>
          <p:nvPr/>
        </p:nvSpPr>
        <p:spPr>
          <a:xfrm>
            <a:off x="1397000" y="51943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Monitor Gmail</a:t>
            </a:r>
          </a:p>
        </p:txBody>
      </p:sp>
      <p:sp>
        <p:nvSpPr>
          <p:cNvPr id="22" name="Monitor body">
            <a:extLst>
              <a:ext uri="{FF2B5EF4-FFF2-40B4-BE49-F238E27FC236}">
                <a16:creationId xmlns:a16="http://schemas.microsoft.com/office/drawing/2014/main" id="{A88DC26B-6BAD-D6B2-3DB5-9223124E229E}"/>
              </a:ext>
            </a:extLst>
          </p:cNvPr>
          <p:cNvSpPr txBox="1"/>
          <p:nvPr/>
        </p:nvSpPr>
        <p:spPr>
          <a:xfrm>
            <a:off x="1397000" y="55372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Lote + alerta Telegram</a:t>
            </a:r>
          </a:p>
        </p:txBody>
      </p:sp>
      <p:sp>
        <p:nvSpPr>
          <p:cNvPr id="23" name="Backend central">
            <a:extLst>
              <a:ext uri="{FF2B5EF4-FFF2-40B4-BE49-F238E27FC236}">
                <a16:creationId xmlns:a16="http://schemas.microsoft.com/office/drawing/2014/main" id="{6B9833D1-07CE-52DD-76BA-2406D8B13FA9}"/>
              </a:ext>
            </a:extLst>
          </p:cNvPr>
          <p:cNvSpPr/>
          <p:nvPr/>
        </p:nvSpPr>
        <p:spPr>
          <a:xfrm>
            <a:off x="6604000" y="2006600"/>
            <a:ext cx="4394200" cy="3708400"/>
          </a:xfrm>
          <a:prstGeom prst="round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Backend title">
            <a:extLst>
              <a:ext uri="{FF2B5EF4-FFF2-40B4-BE49-F238E27FC236}">
                <a16:creationId xmlns:a16="http://schemas.microsoft.com/office/drawing/2014/main" id="{28C54ABF-EEB5-E734-79A1-5B4296BC7CE7}"/>
              </a:ext>
            </a:extLst>
          </p:cNvPr>
          <p:cNvSpPr txBox="1"/>
          <p:nvPr/>
        </p:nvSpPr>
        <p:spPr>
          <a:xfrm>
            <a:off x="6959600" y="2298700"/>
            <a:ext cx="3581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000" b="1">
                <a:solidFill>
                  <a:srgbClr val="CCFBF1"/>
                </a:solidFill>
                <a:latin typeface="Arial" panose="020B0604020202020204" pitchFamily="34" charset="0"/>
              </a:rPr>
              <a:t>BACKEND CENTRAL · :8766</a:t>
            </a:r>
          </a:p>
        </p:txBody>
      </p:sp>
      <p:sp>
        <p:nvSpPr>
          <p:cNvPr id="25" name="Backend contents">
            <a:extLst>
              <a:ext uri="{FF2B5EF4-FFF2-40B4-BE49-F238E27FC236}">
                <a16:creationId xmlns:a16="http://schemas.microsoft.com/office/drawing/2014/main" id="{9A10B739-FADB-3AC2-8709-B44AED1EAC5B}"/>
              </a:ext>
            </a:extLst>
          </p:cNvPr>
          <p:cNvSpPr txBox="1"/>
          <p:nvPr/>
        </p:nvSpPr>
        <p:spPr>
          <a:xfrm>
            <a:off x="6959600" y="29083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FFFFFF"/>
                </a:solidFill>
                <a:latin typeface="Arial" panose="020B0604020202020204" pitchFamily="34" charset="0"/>
              </a:rPr>
              <a:t>• Parser MIME / EML
• Señales heurísticas
• Modelo neuronal ES activo
• Modelo neuronal EN activo
• Entrenamiento y versionado</a:t>
            </a:r>
          </a:p>
        </p:txBody>
      </p:sp>
      <p:sp>
        <p:nvSpPr>
          <p:cNvPr id="26" name="Protocol">
            <a:extLst>
              <a:ext uri="{FF2B5EF4-FFF2-40B4-BE49-F238E27FC236}">
                <a16:creationId xmlns:a16="http://schemas.microsoft.com/office/drawing/2014/main" id="{2627FC65-43B2-DB01-B706-190089526B67}"/>
              </a:ext>
            </a:extLst>
          </p:cNvPr>
          <p:cNvSpPr txBox="1"/>
          <p:nvPr/>
        </p:nvSpPr>
        <p:spPr>
          <a:xfrm>
            <a:off x="4927600" y="28194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HTTP / JSON</a:t>
            </a:r>
          </a:p>
        </p:txBody>
      </p:sp>
      <p:sp>
        <p:nvSpPr>
          <p:cNvPr id="27" name="Architecture note">
            <a:extLst>
              <a:ext uri="{FF2B5EF4-FFF2-40B4-BE49-F238E27FC236}">
                <a16:creationId xmlns:a16="http://schemas.microsoft.com/office/drawing/2014/main" id="{D02D1D62-8E62-EDCE-86AA-C1649A9AE5AD}"/>
              </a:ext>
            </a:extLst>
          </p:cNvPr>
          <p:cNvSpPr txBox="1"/>
          <p:nvPr/>
        </p:nvSpPr>
        <p:spPr>
          <a:xfrm>
            <a:off x="6604000" y="5867400"/>
            <a:ext cx="439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En la defensa ambos procesos pueden estar en el mismo equipo; siguen separados por un contrato HTTP.</a:t>
            </a:r>
          </a:p>
        </p:txBody>
      </p:sp>
    </p:spTree>
    <p:extLst>
      <p:ext uri="{BB962C8B-B14F-4D97-AF65-F5344CB8AC3E}">
        <p14:creationId xmlns:p14="http://schemas.microsoft.com/office/powerpoint/2010/main" val="1349258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695371FE-FC7C-CC17-B40F-057336B0D9D2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FUNCIONAMIENTO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755F3470-C7E0-2190-7826-BABECCE6F4F2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Cada correo sigue un flujo único y trazable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AA31563F-7FFF-6B1B-7F3B-EF113FD69496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FDAFAF4B-3CEA-D0B6-B92D-C8C3656D9FB8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F222151-2522-E5DD-901C-7A06587FA967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5</a:t>
            </a:r>
          </a:p>
        </p:txBody>
      </p:sp>
      <p:cxnSp>
        <p:nvCxnSpPr>
          <p:cNvPr id="7" name="Flow arrow 0">
            <a:extLst>
              <a:ext uri="{FF2B5EF4-FFF2-40B4-BE49-F238E27FC236}">
                <a16:creationId xmlns:a16="http://schemas.microsoft.com/office/drawing/2014/main" id="{7E685763-9B7A-EBB2-4957-DCFF17B5ECD9}"/>
              </a:ext>
            </a:extLst>
          </p:cNvPr>
          <p:cNvCxnSpPr/>
          <p:nvPr/>
        </p:nvCxnSpPr>
        <p:spPr>
          <a:xfrm>
            <a:off x="2540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Flow arrow 1">
            <a:extLst>
              <a:ext uri="{FF2B5EF4-FFF2-40B4-BE49-F238E27FC236}">
                <a16:creationId xmlns:a16="http://schemas.microsoft.com/office/drawing/2014/main" id="{2D47D1E2-F968-3263-6D14-C265FF0D0B9D}"/>
              </a:ext>
            </a:extLst>
          </p:cNvPr>
          <p:cNvCxnSpPr/>
          <p:nvPr/>
        </p:nvCxnSpPr>
        <p:spPr>
          <a:xfrm>
            <a:off x="4699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Flow arrow 2">
            <a:extLst>
              <a:ext uri="{FF2B5EF4-FFF2-40B4-BE49-F238E27FC236}">
                <a16:creationId xmlns:a16="http://schemas.microsoft.com/office/drawing/2014/main" id="{5ADA03BA-8515-98F2-377C-39F2D4C466B5}"/>
              </a:ext>
            </a:extLst>
          </p:cNvPr>
          <p:cNvCxnSpPr/>
          <p:nvPr/>
        </p:nvCxnSpPr>
        <p:spPr>
          <a:xfrm>
            <a:off x="6858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Flow arrow 3">
            <a:extLst>
              <a:ext uri="{FF2B5EF4-FFF2-40B4-BE49-F238E27FC236}">
                <a16:creationId xmlns:a16="http://schemas.microsoft.com/office/drawing/2014/main" id="{FB2FD5D5-ADA1-7DA2-F294-1F66FF4F83E6}"/>
              </a:ext>
            </a:extLst>
          </p:cNvPr>
          <p:cNvCxnSpPr/>
          <p:nvPr/>
        </p:nvCxnSpPr>
        <p:spPr>
          <a:xfrm>
            <a:off x="9017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node 0">
            <a:extLst>
              <a:ext uri="{FF2B5EF4-FFF2-40B4-BE49-F238E27FC236}">
                <a16:creationId xmlns:a16="http://schemas.microsoft.com/office/drawing/2014/main" id="{F3CD2709-112D-AAED-09BD-F080619D09A5}"/>
              </a:ext>
            </a:extLst>
          </p:cNvPr>
          <p:cNvSpPr/>
          <p:nvPr/>
        </p:nvSpPr>
        <p:spPr>
          <a:xfrm>
            <a:off x="939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Flow number">
            <a:extLst>
              <a:ext uri="{FF2B5EF4-FFF2-40B4-BE49-F238E27FC236}">
                <a16:creationId xmlns:a16="http://schemas.microsoft.com/office/drawing/2014/main" id="{F119DD92-144F-1225-CDA8-F96668EB533D}"/>
              </a:ext>
            </a:extLst>
          </p:cNvPr>
          <p:cNvSpPr txBox="1"/>
          <p:nvPr/>
        </p:nvSpPr>
        <p:spPr>
          <a:xfrm>
            <a:off x="1028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3" name="Flow title">
            <a:extLst>
              <a:ext uri="{FF2B5EF4-FFF2-40B4-BE49-F238E27FC236}">
                <a16:creationId xmlns:a16="http://schemas.microsoft.com/office/drawing/2014/main" id="{45B30140-8F9C-ADED-213C-86D9DA4C57FE}"/>
              </a:ext>
            </a:extLst>
          </p:cNvPr>
          <p:cNvSpPr txBox="1"/>
          <p:nvPr/>
        </p:nvSpPr>
        <p:spPr>
          <a:xfrm>
            <a:off x="812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Entrada</a:t>
            </a:r>
          </a:p>
        </p:txBody>
      </p:sp>
      <p:sp>
        <p:nvSpPr>
          <p:cNvPr id="14" name="Flow detail">
            <a:extLst>
              <a:ext uri="{FF2B5EF4-FFF2-40B4-BE49-F238E27FC236}">
                <a16:creationId xmlns:a16="http://schemas.microsoft.com/office/drawing/2014/main" id="{BDB45368-354D-2286-1CEA-CC190D0BC5D2}"/>
              </a:ext>
            </a:extLst>
          </p:cNvPr>
          <p:cNvSpPr txBox="1"/>
          <p:nvPr/>
        </p:nvSpPr>
        <p:spPr>
          <a:xfrm>
            <a:off x="736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pt-BR" sz="1200">
                <a:solidFill>
                  <a:srgbClr val="49657A"/>
                </a:solidFill>
                <a:latin typeface="Arial" panose="020B0604020202020204" pitchFamily="34" charset="0"/>
              </a:rPr>
              <a:t>Texto, EML o campos JSON</a:t>
            </a:r>
            <a:endParaRPr lang="es-ES" sz="1200">
              <a:solidFill>
                <a:srgbClr val="49657A"/>
              </a:solidFill>
              <a:latin typeface="Arial" panose="020B0604020202020204" pitchFamily="34" charset="0"/>
            </a:endParaRPr>
          </a:p>
        </p:txBody>
      </p:sp>
      <p:sp>
        <p:nvSpPr>
          <p:cNvPr id="15" name="Flow node 1">
            <a:extLst>
              <a:ext uri="{FF2B5EF4-FFF2-40B4-BE49-F238E27FC236}">
                <a16:creationId xmlns:a16="http://schemas.microsoft.com/office/drawing/2014/main" id="{91F82242-6FCB-9B7B-3116-0420829088D7}"/>
              </a:ext>
            </a:extLst>
          </p:cNvPr>
          <p:cNvSpPr/>
          <p:nvPr/>
        </p:nvSpPr>
        <p:spPr>
          <a:xfrm>
            <a:off x="3098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Flow number">
            <a:extLst>
              <a:ext uri="{FF2B5EF4-FFF2-40B4-BE49-F238E27FC236}">
                <a16:creationId xmlns:a16="http://schemas.microsoft.com/office/drawing/2014/main" id="{2E6B8507-3E90-953D-6F99-4EA5417E35B1}"/>
              </a:ext>
            </a:extLst>
          </p:cNvPr>
          <p:cNvSpPr txBox="1"/>
          <p:nvPr/>
        </p:nvSpPr>
        <p:spPr>
          <a:xfrm>
            <a:off x="3187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7" name="Flow title">
            <a:extLst>
              <a:ext uri="{FF2B5EF4-FFF2-40B4-BE49-F238E27FC236}">
                <a16:creationId xmlns:a16="http://schemas.microsoft.com/office/drawing/2014/main" id="{DB9E837E-6293-6453-B217-E034AE933DA5}"/>
              </a:ext>
            </a:extLst>
          </p:cNvPr>
          <p:cNvSpPr txBox="1"/>
          <p:nvPr/>
        </p:nvSpPr>
        <p:spPr>
          <a:xfrm>
            <a:off x="2971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Normalización</a:t>
            </a:r>
          </a:p>
        </p:txBody>
      </p:sp>
      <p:sp>
        <p:nvSpPr>
          <p:cNvPr id="18" name="Flow detail">
            <a:extLst>
              <a:ext uri="{FF2B5EF4-FFF2-40B4-BE49-F238E27FC236}">
                <a16:creationId xmlns:a16="http://schemas.microsoft.com/office/drawing/2014/main" id="{CE166610-169D-9FCB-5945-852946F11E02}"/>
              </a:ext>
            </a:extLst>
          </p:cNvPr>
          <p:cNvSpPr txBox="1"/>
          <p:nvPr/>
        </p:nvSpPr>
        <p:spPr>
          <a:xfrm>
            <a:off x="2895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Cabeceras, HTML, enlaces y adjuntos</a:t>
            </a:r>
          </a:p>
        </p:txBody>
      </p:sp>
      <p:sp>
        <p:nvSpPr>
          <p:cNvPr id="19" name="Flow node 2">
            <a:extLst>
              <a:ext uri="{FF2B5EF4-FFF2-40B4-BE49-F238E27FC236}">
                <a16:creationId xmlns:a16="http://schemas.microsoft.com/office/drawing/2014/main" id="{624471FB-A4B2-0FCA-6490-2849B0AF55B4}"/>
              </a:ext>
            </a:extLst>
          </p:cNvPr>
          <p:cNvSpPr/>
          <p:nvPr/>
        </p:nvSpPr>
        <p:spPr>
          <a:xfrm>
            <a:off x="5257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ow number">
            <a:extLst>
              <a:ext uri="{FF2B5EF4-FFF2-40B4-BE49-F238E27FC236}">
                <a16:creationId xmlns:a16="http://schemas.microsoft.com/office/drawing/2014/main" id="{337E2CFB-C0D6-2C6A-2C7E-90485CB95483}"/>
              </a:ext>
            </a:extLst>
          </p:cNvPr>
          <p:cNvSpPr txBox="1"/>
          <p:nvPr/>
        </p:nvSpPr>
        <p:spPr>
          <a:xfrm>
            <a:off x="5346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21" name="Flow title">
            <a:extLst>
              <a:ext uri="{FF2B5EF4-FFF2-40B4-BE49-F238E27FC236}">
                <a16:creationId xmlns:a16="http://schemas.microsoft.com/office/drawing/2014/main" id="{3D313CD6-A3CF-580B-C928-BBCD395AEAB2}"/>
              </a:ext>
            </a:extLst>
          </p:cNvPr>
          <p:cNvSpPr txBox="1"/>
          <p:nvPr/>
        </p:nvSpPr>
        <p:spPr>
          <a:xfrm>
            <a:off x="5130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Detección</a:t>
            </a:r>
          </a:p>
        </p:txBody>
      </p:sp>
      <p:sp>
        <p:nvSpPr>
          <p:cNvPr id="22" name="Flow detail">
            <a:extLst>
              <a:ext uri="{FF2B5EF4-FFF2-40B4-BE49-F238E27FC236}">
                <a16:creationId xmlns:a16="http://schemas.microsoft.com/office/drawing/2014/main" id="{B9FE6254-E693-33A1-4BAD-8E4E3068AFF4}"/>
              </a:ext>
            </a:extLst>
          </p:cNvPr>
          <p:cNvSpPr txBox="1"/>
          <p:nvPr/>
        </p:nvSpPr>
        <p:spPr>
          <a:xfrm>
            <a:off x="5054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Heurística + modelo por idioma</a:t>
            </a:r>
          </a:p>
        </p:txBody>
      </p:sp>
      <p:sp>
        <p:nvSpPr>
          <p:cNvPr id="23" name="Flow node 3">
            <a:extLst>
              <a:ext uri="{FF2B5EF4-FFF2-40B4-BE49-F238E27FC236}">
                <a16:creationId xmlns:a16="http://schemas.microsoft.com/office/drawing/2014/main" id="{2EE552D0-20E8-1B5B-5EF4-827AACFD77C5}"/>
              </a:ext>
            </a:extLst>
          </p:cNvPr>
          <p:cNvSpPr/>
          <p:nvPr/>
        </p:nvSpPr>
        <p:spPr>
          <a:xfrm>
            <a:off x="7416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ow number">
            <a:extLst>
              <a:ext uri="{FF2B5EF4-FFF2-40B4-BE49-F238E27FC236}">
                <a16:creationId xmlns:a16="http://schemas.microsoft.com/office/drawing/2014/main" id="{5F96225E-7D66-65B0-2C49-03B03A034B73}"/>
              </a:ext>
            </a:extLst>
          </p:cNvPr>
          <p:cNvSpPr txBox="1"/>
          <p:nvPr/>
        </p:nvSpPr>
        <p:spPr>
          <a:xfrm>
            <a:off x="7505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5" name="Flow title">
            <a:extLst>
              <a:ext uri="{FF2B5EF4-FFF2-40B4-BE49-F238E27FC236}">
                <a16:creationId xmlns:a16="http://schemas.microsoft.com/office/drawing/2014/main" id="{9AB67BA3-A1EE-5F05-FDBC-F593FCB37EEB}"/>
              </a:ext>
            </a:extLst>
          </p:cNvPr>
          <p:cNvSpPr txBox="1"/>
          <p:nvPr/>
        </p:nvSpPr>
        <p:spPr>
          <a:xfrm>
            <a:off x="7289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Fusión</a:t>
            </a:r>
          </a:p>
        </p:txBody>
      </p:sp>
      <p:sp>
        <p:nvSpPr>
          <p:cNvPr id="26" name="Flow detail">
            <a:extLst>
              <a:ext uri="{FF2B5EF4-FFF2-40B4-BE49-F238E27FC236}">
                <a16:creationId xmlns:a16="http://schemas.microsoft.com/office/drawing/2014/main" id="{79FE645F-0CDB-D8D9-4906-4F77920A771E}"/>
              </a:ext>
            </a:extLst>
          </p:cNvPr>
          <p:cNvSpPr txBox="1"/>
          <p:nvPr/>
        </p:nvSpPr>
        <p:spPr>
          <a:xfrm>
            <a:off x="7213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Pesos, umbral y alta confianza</a:t>
            </a:r>
          </a:p>
        </p:txBody>
      </p:sp>
      <p:sp>
        <p:nvSpPr>
          <p:cNvPr id="27" name="Flow node 4">
            <a:extLst>
              <a:ext uri="{FF2B5EF4-FFF2-40B4-BE49-F238E27FC236}">
                <a16:creationId xmlns:a16="http://schemas.microsoft.com/office/drawing/2014/main" id="{0CD0B705-5B35-97D6-32DE-84FBA6579860}"/>
              </a:ext>
            </a:extLst>
          </p:cNvPr>
          <p:cNvSpPr/>
          <p:nvPr/>
        </p:nvSpPr>
        <p:spPr>
          <a:xfrm>
            <a:off x="9575800" y="3149600"/>
            <a:ext cx="533400" cy="5334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ow number">
            <a:extLst>
              <a:ext uri="{FF2B5EF4-FFF2-40B4-BE49-F238E27FC236}">
                <a16:creationId xmlns:a16="http://schemas.microsoft.com/office/drawing/2014/main" id="{3CC311FF-4FC7-D6BB-0FB1-761EE4717C40}"/>
              </a:ext>
            </a:extLst>
          </p:cNvPr>
          <p:cNvSpPr txBox="1"/>
          <p:nvPr/>
        </p:nvSpPr>
        <p:spPr>
          <a:xfrm>
            <a:off x="9664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29" name="Flow title">
            <a:extLst>
              <a:ext uri="{FF2B5EF4-FFF2-40B4-BE49-F238E27FC236}">
                <a16:creationId xmlns:a16="http://schemas.microsoft.com/office/drawing/2014/main" id="{82678DE3-E380-E1F1-F0A2-E2C556032FF0}"/>
              </a:ext>
            </a:extLst>
          </p:cNvPr>
          <p:cNvSpPr txBox="1"/>
          <p:nvPr/>
        </p:nvSpPr>
        <p:spPr>
          <a:xfrm>
            <a:off x="9448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Respuesta</a:t>
            </a:r>
          </a:p>
        </p:txBody>
      </p:sp>
      <p:sp>
        <p:nvSpPr>
          <p:cNvPr id="30" name="Flow detail">
            <a:extLst>
              <a:ext uri="{FF2B5EF4-FFF2-40B4-BE49-F238E27FC236}">
                <a16:creationId xmlns:a16="http://schemas.microsoft.com/office/drawing/2014/main" id="{235E21FF-A2CD-15F4-C759-3494561842E8}"/>
              </a:ext>
            </a:extLst>
          </p:cNvPr>
          <p:cNvSpPr txBox="1"/>
          <p:nvPr/>
        </p:nvSpPr>
        <p:spPr>
          <a:xfrm>
            <a:off x="9372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Riesgo, señales y explicación</a:t>
            </a:r>
          </a:p>
        </p:txBody>
      </p:sp>
      <p:sp>
        <p:nvSpPr>
          <p:cNvPr id="31" name="Flow takeaway">
            <a:extLst>
              <a:ext uri="{FF2B5EF4-FFF2-40B4-BE49-F238E27FC236}">
                <a16:creationId xmlns:a16="http://schemas.microsoft.com/office/drawing/2014/main" id="{365369D1-A73C-90FA-87E2-3500AFFCB9AF}"/>
              </a:ext>
            </a:extLst>
          </p:cNvPr>
          <p:cNvSpPr txBox="1"/>
          <p:nvPr/>
        </p:nvSpPr>
        <p:spPr>
          <a:xfrm>
            <a:off x="1778000" y="5588000"/>
            <a:ext cx="863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500" b="1">
                <a:solidFill>
                  <a:srgbClr val="12304A"/>
                </a:solidFill>
                <a:latin typeface="Arial" panose="020B0604020202020204" pitchFamily="34" charset="0"/>
              </a:rPr>
              <a:t>El contrato /analyze limita la entrada, devuelve una respuesta común y mantiene la lógica fuera de los clientes.</a:t>
            </a:r>
          </a:p>
        </p:txBody>
      </p:sp>
    </p:spTree>
    <p:extLst>
      <p:ext uri="{BB962C8B-B14F-4D97-AF65-F5344CB8AC3E}">
        <p14:creationId xmlns:p14="http://schemas.microsoft.com/office/powerpoint/2010/main" val="2784817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1C408FDB-6EBD-2FAA-D43D-0E83BB35AE52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MÉTODO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738B6BFE-F89E-8A4B-C6C9-F5A4CF7586BE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Dos detectores aportan señales complementarias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C443A20D-3FB1-0E58-6BF6-3471BD0CFB69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BFA88040-84F8-293A-9515-BFE6773DB8F4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A0EC5276-8A83-53E1-7FB7-DB256156F444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7" name="Heuristic label">
            <a:extLst>
              <a:ext uri="{FF2B5EF4-FFF2-40B4-BE49-F238E27FC236}">
                <a16:creationId xmlns:a16="http://schemas.microsoft.com/office/drawing/2014/main" id="{93D67275-0874-B482-5BED-7CF0DFD08E74}"/>
              </a:ext>
            </a:extLst>
          </p:cNvPr>
          <p:cNvSpPr txBox="1"/>
          <p:nvPr/>
        </p:nvSpPr>
        <p:spPr>
          <a:xfrm>
            <a:off x="914400" y="17399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HEURÍSTICA EXPLICABLE</a:t>
            </a:r>
          </a:p>
        </p:txBody>
      </p:sp>
      <p:sp>
        <p:nvSpPr>
          <p:cNvPr id="8" name="Heuristic title">
            <a:extLst>
              <a:ext uri="{FF2B5EF4-FFF2-40B4-BE49-F238E27FC236}">
                <a16:creationId xmlns:a16="http://schemas.microsoft.com/office/drawing/2014/main" id="{3E6B61F1-1418-04AB-0905-BECD411952B5}"/>
              </a:ext>
            </a:extLst>
          </p:cNvPr>
          <p:cNvSpPr txBox="1"/>
          <p:nvPr/>
        </p:nvSpPr>
        <p:spPr>
          <a:xfrm>
            <a:off x="914400" y="215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400" b="1">
                <a:solidFill>
                  <a:srgbClr val="07131F"/>
                </a:solidFill>
                <a:latin typeface="Arial" panose="020B0604020202020204" pitchFamily="34" charset="0"/>
              </a:rPr>
              <a:t>Inspecciona indicios concretos</a:t>
            </a:r>
          </a:p>
        </p:txBody>
      </p:sp>
      <p:sp>
        <p:nvSpPr>
          <p:cNvPr id="9" name="Heuristic list">
            <a:extLst>
              <a:ext uri="{FF2B5EF4-FFF2-40B4-BE49-F238E27FC236}">
                <a16:creationId xmlns:a16="http://schemas.microsoft.com/office/drawing/2014/main" id="{AC512D70-837A-9D13-663B-0F1FC2D2DFD7}"/>
              </a:ext>
            </a:extLst>
          </p:cNvPr>
          <p:cNvSpPr txBox="1"/>
          <p:nvPr/>
        </p:nvSpPr>
        <p:spPr>
          <a:xfrm>
            <a:off x="914400" y="2857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49657A"/>
                </a:solidFill>
                <a:latin typeface="Arial" panose="020B0604020202020204" pitchFamily="34" charset="0"/>
              </a:rPr>
              <a:t>Lectura pasiva de SPF/DKIM/DMARC en cabeceras
Remitente, dominio y URLs
HTML, adjuntos y redirecciones
Urgencia, credenciales y BEC</a:t>
            </a:r>
          </a:p>
        </p:txBody>
      </p:sp>
      <p:cxnSp>
        <p:nvCxnSpPr>
          <p:cNvPr id="10" name="Detector divider">
            <a:extLst>
              <a:ext uri="{FF2B5EF4-FFF2-40B4-BE49-F238E27FC236}">
                <a16:creationId xmlns:a16="http://schemas.microsoft.com/office/drawing/2014/main" id="{AE51C9BA-6066-13D1-F2AB-770E0CAC1009}"/>
              </a:ext>
            </a:extLst>
          </p:cNvPr>
          <p:cNvCxnSpPr/>
          <p:nvPr/>
        </p:nvCxnSpPr>
        <p:spPr>
          <a:xfrm>
            <a:off x="6096000" y="1727200"/>
            <a:ext cx="0" cy="3225800"/>
          </a:xfrm>
          <a:prstGeom prst="line">
            <a:avLst/>
          </a:prstGeom>
          <a:ln w="1778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eural label">
            <a:extLst>
              <a:ext uri="{FF2B5EF4-FFF2-40B4-BE49-F238E27FC236}">
                <a16:creationId xmlns:a16="http://schemas.microsoft.com/office/drawing/2014/main" id="{91AA6548-D264-24AF-9BA4-AB1567D80C9D}"/>
              </a:ext>
            </a:extLst>
          </p:cNvPr>
          <p:cNvSpPr txBox="1"/>
          <p:nvPr/>
        </p:nvSpPr>
        <p:spPr>
          <a:xfrm>
            <a:off x="6705600" y="17399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3D8DFF"/>
                </a:solidFill>
                <a:latin typeface="Arial" panose="020B0604020202020204" pitchFamily="34" charset="0"/>
              </a:rPr>
              <a:t>CLASIFICADOR NEURONAL</a:t>
            </a:r>
          </a:p>
        </p:txBody>
      </p:sp>
      <p:sp>
        <p:nvSpPr>
          <p:cNvPr id="12" name="Neural title">
            <a:extLst>
              <a:ext uri="{FF2B5EF4-FFF2-40B4-BE49-F238E27FC236}">
                <a16:creationId xmlns:a16="http://schemas.microsoft.com/office/drawing/2014/main" id="{772F9279-FB4A-F5DF-EE76-F3EA90A57BF6}"/>
              </a:ext>
            </a:extLst>
          </p:cNvPr>
          <p:cNvSpPr txBox="1"/>
          <p:nvPr/>
        </p:nvSpPr>
        <p:spPr>
          <a:xfrm>
            <a:off x="6705600" y="215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400" b="1">
                <a:solidFill>
                  <a:srgbClr val="07131F"/>
                </a:solidFill>
                <a:latin typeface="Arial" panose="020B0604020202020204" pitchFamily="34" charset="0"/>
              </a:rPr>
              <a:t>Aprende patrones del lenguaje</a:t>
            </a:r>
          </a:p>
        </p:txBody>
      </p:sp>
      <p:sp>
        <p:nvSpPr>
          <p:cNvPr id="13" name="Neural list">
            <a:extLst>
              <a:ext uri="{FF2B5EF4-FFF2-40B4-BE49-F238E27FC236}">
                <a16:creationId xmlns:a16="http://schemas.microsoft.com/office/drawing/2014/main" id="{46EE265F-9DA4-60D9-6B31-67E09ECC78C1}"/>
              </a:ext>
            </a:extLst>
          </p:cNvPr>
          <p:cNvSpPr txBox="1"/>
          <p:nvPr/>
        </p:nvSpPr>
        <p:spPr>
          <a:xfrm>
            <a:off x="6705600" y="2857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49657A"/>
                </a:solidFill>
                <a:latin typeface="Arial" panose="020B0604020202020204" pitchFamily="34" charset="0"/>
              </a:rPr>
              <a:t>TF-IDF con n-gramas
Perceptrón multicapa (MLP)
Modelos separados ES / EN
Probabilidad de phishing</a:t>
            </a:r>
          </a:p>
        </p:txBody>
      </p:sp>
      <p:sp>
        <p:nvSpPr>
          <p:cNvPr id="14" name="Combined band">
            <a:extLst>
              <a:ext uri="{FF2B5EF4-FFF2-40B4-BE49-F238E27FC236}">
                <a16:creationId xmlns:a16="http://schemas.microsoft.com/office/drawing/2014/main" id="{C66CAFB2-17A9-056C-00CA-27274A77FD0B}"/>
              </a:ext>
            </a:extLst>
          </p:cNvPr>
          <p:cNvSpPr/>
          <p:nvPr/>
        </p:nvSpPr>
        <p:spPr>
          <a:xfrm>
            <a:off x="1574800" y="5207000"/>
            <a:ext cx="9042400" cy="787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ombined label">
            <a:extLst>
              <a:ext uri="{FF2B5EF4-FFF2-40B4-BE49-F238E27FC236}">
                <a16:creationId xmlns:a16="http://schemas.microsoft.com/office/drawing/2014/main" id="{B4A5E45F-B5AB-C3AB-1806-5374550C13D2}"/>
              </a:ext>
            </a:extLst>
          </p:cNvPr>
          <p:cNvSpPr txBox="1"/>
          <p:nvPr/>
        </p:nvSpPr>
        <p:spPr>
          <a:xfrm>
            <a:off x="1879600" y="5461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MODO COMBINADO</a:t>
            </a:r>
          </a:p>
        </p:txBody>
      </p:sp>
      <p:sp>
        <p:nvSpPr>
          <p:cNvPr id="16" name="Combined formula">
            <a:extLst>
              <a:ext uri="{FF2B5EF4-FFF2-40B4-BE49-F238E27FC236}">
                <a16:creationId xmlns:a16="http://schemas.microsoft.com/office/drawing/2014/main" id="{8A566F99-10D3-AA2C-0BC7-F297C04C91CB}"/>
              </a:ext>
            </a:extLst>
          </p:cNvPr>
          <p:cNvSpPr txBox="1"/>
          <p:nvPr/>
        </p:nvSpPr>
        <p:spPr>
          <a:xfrm>
            <a:off x="4038600" y="5397500"/>
            <a:ext cx="622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FFFFFF"/>
                </a:solidFill>
                <a:latin typeface="Arial" panose="020B0604020202020204" pitchFamily="34" charset="0"/>
              </a:rPr>
              <a:t>35/65 · umbral 26 · alta confianza ≥ 70</a:t>
            </a:r>
          </a:p>
        </p:txBody>
      </p:sp>
    </p:spTree>
    <p:extLst>
      <p:ext uri="{BB962C8B-B14F-4D97-AF65-F5344CB8AC3E}">
        <p14:creationId xmlns:p14="http://schemas.microsoft.com/office/powerpoint/2010/main" val="4272814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E61ED8B1-09C0-A539-16D2-FDB664F96F8D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CENTRALIZACIÓN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BC342770-BB8D-C6D0-7B6C-DFB207EDBA74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Una versión activa sirve a todos los clientes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82F699E5-F238-60D1-CDF2-807AB6FDD607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B7D346D-6A38-4B45-694A-AE7AC8642B12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9EEE3DF-BFA1-CE0A-310C-B06115B916F5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7</a:t>
            </a:r>
          </a:p>
        </p:txBody>
      </p:sp>
      <p:cxnSp>
        <p:nvCxnSpPr>
          <p:cNvPr id="7" name="Model timeline">
            <a:extLst>
              <a:ext uri="{FF2B5EF4-FFF2-40B4-BE49-F238E27FC236}">
                <a16:creationId xmlns:a16="http://schemas.microsoft.com/office/drawing/2014/main" id="{19650182-1952-A51E-979B-CE3E3CFE8C76}"/>
              </a:ext>
            </a:extLst>
          </p:cNvPr>
          <p:cNvCxnSpPr/>
          <p:nvPr/>
        </p:nvCxnSpPr>
        <p:spPr>
          <a:xfrm>
            <a:off x="1244600" y="3454400"/>
            <a:ext cx="9702800" cy="0"/>
          </a:xfrm>
          <a:prstGeom prst="line">
            <a:avLst/>
          </a:prstGeom>
          <a:ln w="19050">
            <a:solidFill>
              <a:srgbClr val="0713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meline dot">
            <a:extLst>
              <a:ext uri="{FF2B5EF4-FFF2-40B4-BE49-F238E27FC236}">
                <a16:creationId xmlns:a16="http://schemas.microsoft.com/office/drawing/2014/main" id="{80FF5BFC-BB1D-AD26-73F5-E6E438F187DE}"/>
              </a:ext>
            </a:extLst>
          </p:cNvPr>
          <p:cNvSpPr/>
          <p:nvPr/>
        </p:nvSpPr>
        <p:spPr>
          <a:xfrm>
            <a:off x="15367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imeline dot">
            <a:extLst>
              <a:ext uri="{FF2B5EF4-FFF2-40B4-BE49-F238E27FC236}">
                <a16:creationId xmlns:a16="http://schemas.microsoft.com/office/drawing/2014/main" id="{00233E41-0AF5-E4F1-61FC-63009FD64549}"/>
              </a:ext>
            </a:extLst>
          </p:cNvPr>
          <p:cNvSpPr/>
          <p:nvPr/>
        </p:nvSpPr>
        <p:spPr>
          <a:xfrm>
            <a:off x="52451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imeline dot">
            <a:extLst>
              <a:ext uri="{FF2B5EF4-FFF2-40B4-BE49-F238E27FC236}">
                <a16:creationId xmlns:a16="http://schemas.microsoft.com/office/drawing/2014/main" id="{0CB61D57-7BC9-00A6-4462-9E1EDA347614}"/>
              </a:ext>
            </a:extLst>
          </p:cNvPr>
          <p:cNvSpPr/>
          <p:nvPr/>
        </p:nvSpPr>
        <p:spPr>
          <a:xfrm>
            <a:off x="89535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Timeline label">
            <a:extLst>
              <a:ext uri="{FF2B5EF4-FFF2-40B4-BE49-F238E27FC236}">
                <a16:creationId xmlns:a16="http://schemas.microsoft.com/office/drawing/2014/main" id="{ED17C14F-629C-6BC1-E108-C065845EB321}"/>
              </a:ext>
            </a:extLst>
          </p:cNvPr>
          <p:cNvSpPr txBox="1"/>
          <p:nvPr/>
        </p:nvSpPr>
        <p:spPr>
          <a:xfrm>
            <a:off x="10922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01 · ENTRENAR</a:t>
            </a:r>
          </a:p>
        </p:txBody>
      </p:sp>
      <p:sp>
        <p:nvSpPr>
          <p:cNvPr id="12" name="Timeline title">
            <a:extLst>
              <a:ext uri="{FF2B5EF4-FFF2-40B4-BE49-F238E27FC236}">
                <a16:creationId xmlns:a16="http://schemas.microsoft.com/office/drawing/2014/main" id="{5C3E91B8-7963-1665-7922-AF7726975198}"/>
              </a:ext>
            </a:extLst>
          </p:cNvPr>
          <p:cNvSpPr txBox="1"/>
          <p:nvPr/>
        </p:nvSpPr>
        <p:spPr>
          <a:xfrm>
            <a:off x="10922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El cliente envía CSV e hiperparámetros</a:t>
            </a:r>
          </a:p>
        </p:txBody>
      </p:sp>
      <p:sp>
        <p:nvSpPr>
          <p:cNvPr id="13" name="Timeline detail">
            <a:extLst>
              <a:ext uri="{FF2B5EF4-FFF2-40B4-BE49-F238E27FC236}">
                <a16:creationId xmlns:a16="http://schemas.microsoft.com/office/drawing/2014/main" id="{114EDBE0-6F59-D9BF-F35C-7259AEFEC2E3}"/>
              </a:ext>
            </a:extLst>
          </p:cNvPr>
          <p:cNvSpPr txBox="1"/>
          <p:nvPr/>
        </p:nvSpPr>
        <p:spPr>
          <a:xfrm>
            <a:off x="10922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El backend crea un pipeline nuevo desde cero.</a:t>
            </a:r>
          </a:p>
        </p:txBody>
      </p:sp>
      <p:sp>
        <p:nvSpPr>
          <p:cNvPr id="14" name="Timeline label">
            <a:extLst>
              <a:ext uri="{FF2B5EF4-FFF2-40B4-BE49-F238E27FC236}">
                <a16:creationId xmlns:a16="http://schemas.microsoft.com/office/drawing/2014/main" id="{F991FDAE-C420-A6CD-021B-294F38086BB2}"/>
              </a:ext>
            </a:extLst>
          </p:cNvPr>
          <p:cNvSpPr txBox="1"/>
          <p:nvPr/>
        </p:nvSpPr>
        <p:spPr>
          <a:xfrm>
            <a:off x="48006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02 · ACTIVAR</a:t>
            </a:r>
          </a:p>
        </p:txBody>
      </p:sp>
      <p:sp>
        <p:nvSpPr>
          <p:cNvPr id="15" name="Timeline title">
            <a:extLst>
              <a:ext uri="{FF2B5EF4-FFF2-40B4-BE49-F238E27FC236}">
                <a16:creationId xmlns:a16="http://schemas.microsoft.com/office/drawing/2014/main" id="{BE5B8A07-69FB-2380-82D4-264EE69EF43B}"/>
              </a:ext>
            </a:extLst>
          </p:cNvPr>
          <p:cNvSpPr txBox="1"/>
          <p:nvPr/>
        </p:nvSpPr>
        <p:spPr>
          <a:xfrm>
            <a:off x="48006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Guardado atómico y caché invalidada</a:t>
            </a:r>
          </a:p>
        </p:txBody>
      </p:sp>
      <p:sp>
        <p:nvSpPr>
          <p:cNvPr id="16" name="Timeline detail">
            <a:extLst>
              <a:ext uri="{FF2B5EF4-FFF2-40B4-BE49-F238E27FC236}">
                <a16:creationId xmlns:a16="http://schemas.microsoft.com/office/drawing/2014/main" id="{2E12BD5F-7AF3-CF04-9678-923F354FAB2D}"/>
              </a:ext>
            </a:extLst>
          </p:cNvPr>
          <p:cNvSpPr txBox="1"/>
          <p:nvPr/>
        </p:nvSpPr>
        <p:spPr>
          <a:xfrm>
            <a:off x="48006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Una versión activa por idioma: ES y EN.</a:t>
            </a:r>
          </a:p>
        </p:txBody>
      </p:sp>
      <p:sp>
        <p:nvSpPr>
          <p:cNvPr id="17" name="Timeline label">
            <a:extLst>
              <a:ext uri="{FF2B5EF4-FFF2-40B4-BE49-F238E27FC236}">
                <a16:creationId xmlns:a16="http://schemas.microsoft.com/office/drawing/2014/main" id="{8DA08FD5-ADA4-091C-A5A7-929ED3064B52}"/>
              </a:ext>
            </a:extLst>
          </p:cNvPr>
          <p:cNvSpPr txBox="1"/>
          <p:nvPr/>
        </p:nvSpPr>
        <p:spPr>
          <a:xfrm>
            <a:off x="85090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03 · COMPARTIR</a:t>
            </a:r>
          </a:p>
        </p:txBody>
      </p:sp>
      <p:sp>
        <p:nvSpPr>
          <p:cNvPr id="18" name="Timeline title">
            <a:extLst>
              <a:ext uri="{FF2B5EF4-FFF2-40B4-BE49-F238E27FC236}">
                <a16:creationId xmlns:a16="http://schemas.microsoft.com/office/drawing/2014/main" id="{0CFB078B-0BAE-E80C-79C5-AED45745F275}"/>
              </a:ext>
            </a:extLst>
          </p:cNvPr>
          <p:cNvSpPr txBox="1"/>
          <p:nvPr/>
        </p:nvSpPr>
        <p:spPr>
          <a:xfrm>
            <a:off x="85090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Web, extensión y monitor</a:t>
            </a:r>
          </a:p>
        </p:txBody>
      </p:sp>
      <p:sp>
        <p:nvSpPr>
          <p:cNvPr id="19" name="Timeline detail">
            <a:extLst>
              <a:ext uri="{FF2B5EF4-FFF2-40B4-BE49-F238E27FC236}">
                <a16:creationId xmlns:a16="http://schemas.microsoft.com/office/drawing/2014/main" id="{D881C9D5-C398-2E27-FD6B-3E7043C95151}"/>
              </a:ext>
            </a:extLst>
          </p:cNvPr>
          <p:cNvSpPr txBox="1"/>
          <p:nvPr/>
        </p:nvSpPr>
        <p:spPr>
          <a:xfrm>
            <a:off x="85090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La siguiente petición usa la versión nueva.</a:t>
            </a:r>
          </a:p>
        </p:txBody>
      </p:sp>
      <p:sp>
        <p:nvSpPr>
          <p:cNvPr id="20" name="Central takeaway">
            <a:extLst>
              <a:ext uri="{FF2B5EF4-FFF2-40B4-BE49-F238E27FC236}">
                <a16:creationId xmlns:a16="http://schemas.microsoft.com/office/drawing/2014/main" id="{E7D98F60-A972-DF19-4829-66D9225A1B3D}"/>
              </a:ext>
            </a:extLst>
          </p:cNvPr>
          <p:cNvSpPr txBox="1"/>
          <p:nvPr/>
        </p:nvSpPr>
        <p:spPr>
          <a:xfrm>
            <a:off x="1981200" y="5727700"/>
            <a:ext cx="822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b="1">
                <a:solidFill>
                  <a:srgbClr val="12304A"/>
                </a:solidFill>
                <a:latin typeface="Arial" panose="020B0604020202020204" pitchFamily="34" charset="0"/>
              </a:rPr>
              <a:t>Resultado: cambiar el modelo en el servidor actualiza a todos sin reinstalar clientes.</a:t>
            </a:r>
          </a:p>
        </p:txBody>
      </p:sp>
    </p:spTree>
    <p:extLst>
      <p:ext uri="{BB962C8B-B14F-4D97-AF65-F5344CB8AC3E}">
        <p14:creationId xmlns:p14="http://schemas.microsoft.com/office/powerpoint/2010/main" val="2889043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2AC87802-1966-68F6-C470-739E6FD0753B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IMPLEMENTACIÓN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49578E8E-5E4D-D24C-0CCD-34F88552CAFF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tecnología prioriza claridad y control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E924B0C4-D06D-4272-1B45-8427E2B4B031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1ED1ED9-035A-BAB1-8983-AC581C893752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FAB1FCC-6A0C-3E5C-EA68-22FABA6FF26A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7" name="Tech label">
            <a:extLst>
              <a:ext uri="{FF2B5EF4-FFF2-40B4-BE49-F238E27FC236}">
                <a16:creationId xmlns:a16="http://schemas.microsoft.com/office/drawing/2014/main" id="{47072F21-4372-4C10-6972-3898A1CC8468}"/>
              </a:ext>
            </a:extLst>
          </p:cNvPr>
          <p:cNvSpPr txBox="1"/>
          <p:nvPr/>
        </p:nvSpPr>
        <p:spPr>
          <a:xfrm>
            <a:off x="863600" y="16764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DECISIONES</a:t>
            </a:r>
          </a:p>
        </p:txBody>
      </p:sp>
      <p:sp>
        <p:nvSpPr>
          <p:cNvPr id="8" name="Python">
            <a:extLst>
              <a:ext uri="{FF2B5EF4-FFF2-40B4-BE49-F238E27FC236}">
                <a16:creationId xmlns:a16="http://schemas.microsoft.com/office/drawing/2014/main" id="{AD0D40F2-FC4D-C8C6-C690-CA148E41CB97}"/>
              </a:ext>
            </a:extLst>
          </p:cNvPr>
          <p:cNvSpPr txBox="1"/>
          <p:nvPr/>
        </p:nvSpPr>
        <p:spPr>
          <a:xfrm>
            <a:off x="863600" y="21590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Python</a:t>
            </a:r>
          </a:p>
        </p:txBody>
      </p:sp>
      <p:sp>
        <p:nvSpPr>
          <p:cNvPr id="9" name="Python reason">
            <a:extLst>
              <a:ext uri="{FF2B5EF4-FFF2-40B4-BE49-F238E27FC236}">
                <a16:creationId xmlns:a16="http://schemas.microsoft.com/office/drawing/2014/main" id="{A7F7A43B-258E-9CEF-2B08-604DC3DA6EE9}"/>
              </a:ext>
            </a:extLst>
          </p:cNvPr>
          <p:cNvSpPr txBox="1"/>
          <p:nvPr/>
        </p:nvSpPr>
        <p:spPr>
          <a:xfrm>
            <a:off x="3175000" y="21844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Núcleo, API, pruebas y automatización.</a:t>
            </a:r>
          </a:p>
        </p:txBody>
      </p:sp>
      <p:cxnSp>
        <p:nvCxnSpPr>
          <p:cNvPr id="10" name="Tech line">
            <a:extLst>
              <a:ext uri="{FF2B5EF4-FFF2-40B4-BE49-F238E27FC236}">
                <a16:creationId xmlns:a16="http://schemas.microsoft.com/office/drawing/2014/main" id="{628007C5-B4A9-E65F-2B90-57696E9C1214}"/>
              </a:ext>
            </a:extLst>
          </p:cNvPr>
          <p:cNvCxnSpPr/>
          <p:nvPr/>
        </p:nvCxnSpPr>
        <p:spPr>
          <a:xfrm>
            <a:off x="863600" y="28448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treamlit tech">
            <a:extLst>
              <a:ext uri="{FF2B5EF4-FFF2-40B4-BE49-F238E27FC236}">
                <a16:creationId xmlns:a16="http://schemas.microsoft.com/office/drawing/2014/main" id="{A3E28D18-AF7C-822F-7638-5AA3454F0F50}"/>
              </a:ext>
            </a:extLst>
          </p:cNvPr>
          <p:cNvSpPr txBox="1"/>
          <p:nvPr/>
        </p:nvSpPr>
        <p:spPr>
          <a:xfrm>
            <a:off x="863600" y="3124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Streamlit</a:t>
            </a:r>
          </a:p>
        </p:txBody>
      </p:sp>
      <p:sp>
        <p:nvSpPr>
          <p:cNvPr id="12" name="Streamlit reason">
            <a:extLst>
              <a:ext uri="{FF2B5EF4-FFF2-40B4-BE49-F238E27FC236}">
                <a16:creationId xmlns:a16="http://schemas.microsoft.com/office/drawing/2014/main" id="{F57A94F1-546E-979E-D139-5412F4726119}"/>
              </a:ext>
            </a:extLst>
          </p:cNvPr>
          <p:cNvSpPr txBox="1"/>
          <p:nvPr/>
        </p:nvSpPr>
        <p:spPr>
          <a:xfrm>
            <a:off x="3175000" y="3149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Cliente web rápido y adaptable.</a:t>
            </a:r>
          </a:p>
        </p:txBody>
      </p:sp>
      <p:cxnSp>
        <p:nvCxnSpPr>
          <p:cNvPr id="13" name="Tech line">
            <a:extLst>
              <a:ext uri="{FF2B5EF4-FFF2-40B4-BE49-F238E27FC236}">
                <a16:creationId xmlns:a16="http://schemas.microsoft.com/office/drawing/2014/main" id="{AB55293A-0EBE-78D1-E870-65C367CE3C66}"/>
              </a:ext>
            </a:extLst>
          </p:cNvPr>
          <p:cNvCxnSpPr/>
          <p:nvPr/>
        </p:nvCxnSpPr>
        <p:spPr>
          <a:xfrm>
            <a:off x="863600" y="38100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klearn">
            <a:extLst>
              <a:ext uri="{FF2B5EF4-FFF2-40B4-BE49-F238E27FC236}">
                <a16:creationId xmlns:a16="http://schemas.microsoft.com/office/drawing/2014/main" id="{31D4B4E4-1E46-DA35-B99E-0348789FB1B1}"/>
              </a:ext>
            </a:extLst>
          </p:cNvPr>
          <p:cNvSpPr txBox="1"/>
          <p:nvPr/>
        </p:nvSpPr>
        <p:spPr>
          <a:xfrm>
            <a:off x="863600" y="40894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scikit-learn</a:t>
            </a:r>
          </a:p>
        </p:txBody>
      </p:sp>
      <p:sp>
        <p:nvSpPr>
          <p:cNvPr id="15" name="Sklearn reason">
            <a:extLst>
              <a:ext uri="{FF2B5EF4-FFF2-40B4-BE49-F238E27FC236}">
                <a16:creationId xmlns:a16="http://schemas.microsoft.com/office/drawing/2014/main" id="{073B89BD-AF63-B572-8228-F9993C71778B}"/>
              </a:ext>
            </a:extLst>
          </p:cNvPr>
          <p:cNvSpPr txBox="1"/>
          <p:nvPr/>
        </p:nvSpPr>
        <p:spPr>
          <a:xfrm>
            <a:off x="3175000" y="41148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Pipeline reproducible TF-IDF + MLP.</a:t>
            </a:r>
          </a:p>
        </p:txBody>
      </p:sp>
      <p:cxnSp>
        <p:nvCxnSpPr>
          <p:cNvPr id="16" name="Tech line">
            <a:extLst>
              <a:ext uri="{FF2B5EF4-FFF2-40B4-BE49-F238E27FC236}">
                <a16:creationId xmlns:a16="http://schemas.microsoft.com/office/drawing/2014/main" id="{514A4AD2-8EBA-CD34-3996-3D746B9774F9}"/>
              </a:ext>
            </a:extLst>
          </p:cNvPr>
          <p:cNvCxnSpPr/>
          <p:nvPr/>
        </p:nvCxnSpPr>
        <p:spPr>
          <a:xfrm>
            <a:off x="863600" y="47752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ntegrations">
            <a:extLst>
              <a:ext uri="{FF2B5EF4-FFF2-40B4-BE49-F238E27FC236}">
                <a16:creationId xmlns:a16="http://schemas.microsoft.com/office/drawing/2014/main" id="{48578878-D226-10D8-FD9F-9459C6BEB793}"/>
              </a:ext>
            </a:extLst>
          </p:cNvPr>
          <p:cNvSpPr txBox="1"/>
          <p:nvPr/>
        </p:nvSpPr>
        <p:spPr>
          <a:xfrm>
            <a:off x="863600" y="50546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Gmail + Telegram</a:t>
            </a:r>
          </a:p>
        </p:txBody>
      </p:sp>
      <p:sp>
        <p:nvSpPr>
          <p:cNvPr id="18" name="Integrations reason">
            <a:extLst>
              <a:ext uri="{FF2B5EF4-FFF2-40B4-BE49-F238E27FC236}">
                <a16:creationId xmlns:a16="http://schemas.microsoft.com/office/drawing/2014/main" id="{458700F3-D95C-E0DF-7E58-108F78DFC3A3}"/>
              </a:ext>
            </a:extLst>
          </p:cNvPr>
          <p:cNvSpPr txBox="1"/>
          <p:nvPr/>
        </p:nvSpPr>
        <p:spPr>
          <a:xfrm>
            <a:off x="3175000" y="5080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Entrada OAuth y alertas opcionales.</a:t>
            </a:r>
          </a:p>
        </p:txBody>
      </p:sp>
      <p:sp>
        <p:nvSpPr>
          <p:cNvPr id="19" name="Security field">
            <a:extLst>
              <a:ext uri="{FF2B5EF4-FFF2-40B4-BE49-F238E27FC236}">
                <a16:creationId xmlns:a16="http://schemas.microsoft.com/office/drawing/2014/main" id="{C88114F4-97C1-16B4-82E9-EC4C75654A6F}"/>
              </a:ext>
            </a:extLst>
          </p:cNvPr>
          <p:cNvSpPr/>
          <p:nvPr/>
        </p:nvSpPr>
        <p:spPr>
          <a:xfrm>
            <a:off x="6553200" y="1676400"/>
            <a:ext cx="4724400" cy="4089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ecurity label">
            <a:extLst>
              <a:ext uri="{FF2B5EF4-FFF2-40B4-BE49-F238E27FC236}">
                <a16:creationId xmlns:a16="http://schemas.microsoft.com/office/drawing/2014/main" id="{D991A222-0955-1A82-B2C0-AB1A1120180B}"/>
              </a:ext>
            </a:extLst>
          </p:cNvPr>
          <p:cNvSpPr txBox="1"/>
          <p:nvPr/>
        </p:nvSpPr>
        <p:spPr>
          <a:xfrm>
            <a:off x="6908800" y="2032000"/>
            <a:ext cx="393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CCFBF1"/>
                </a:solidFill>
                <a:latin typeface="Arial" panose="020B0604020202020204" pitchFamily="34" charset="0"/>
              </a:rPr>
              <a:t>CONTROLES DEL PROTOTIPO</a:t>
            </a:r>
          </a:p>
        </p:txBody>
      </p:sp>
      <p:sp>
        <p:nvSpPr>
          <p:cNvPr id="21" name="Security list">
            <a:extLst>
              <a:ext uri="{FF2B5EF4-FFF2-40B4-BE49-F238E27FC236}">
                <a16:creationId xmlns:a16="http://schemas.microsoft.com/office/drawing/2014/main" id="{32727AAD-4978-F4E1-4234-37C0ACAB9D41}"/>
              </a:ext>
            </a:extLst>
          </p:cNvPr>
          <p:cNvSpPr txBox="1"/>
          <p:nvPr/>
        </p:nvSpPr>
        <p:spPr>
          <a:xfrm>
            <a:off x="6908800" y="2565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FFFFFF"/>
                </a:solidFill>
                <a:latin typeface="Arial" panose="020B0604020202020204" pitchFamily="34" charset="0"/>
              </a:rPr>
              <a:t>• Backend en loopback por defecto
• Límites de petición y rutas seguras
• Orígenes CORS restringidos
• Credenciales fuera de Git
• Escrituras y activación atómicas
• Sin ejecución de adjuntos</a:t>
            </a:r>
          </a:p>
        </p:txBody>
      </p:sp>
      <p:sp>
        <p:nvSpPr>
          <p:cNvPr id="22" name="Security caveat">
            <a:extLst>
              <a:ext uri="{FF2B5EF4-FFF2-40B4-BE49-F238E27FC236}">
                <a16:creationId xmlns:a16="http://schemas.microsoft.com/office/drawing/2014/main" id="{443E0702-DC05-5915-1FF6-2767AB619344}"/>
              </a:ext>
            </a:extLst>
          </p:cNvPr>
          <p:cNvSpPr txBox="1"/>
          <p:nvPr/>
        </p:nvSpPr>
        <p:spPr>
          <a:xfrm>
            <a:off x="6908800" y="4953000"/>
            <a:ext cx="370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C9D7E0"/>
                </a:solidFill>
                <a:latin typeface="Arial" panose="020B0604020202020204" pitchFamily="34" charset="0"/>
              </a:rPr>
              <a:t>Un despliegue público requeriría TLS, autenticación y aislamiento multiusuario.</a:t>
            </a:r>
          </a:p>
        </p:txBody>
      </p:sp>
    </p:spTree>
    <p:extLst>
      <p:ext uri="{BB962C8B-B14F-4D97-AF65-F5344CB8AC3E}">
        <p14:creationId xmlns:p14="http://schemas.microsoft.com/office/powerpoint/2010/main" val="35925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C8E6B875-14F4-CE1D-DDF3-4E7CCDE4FEE9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EVALUACIÓN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489A4AF9-5463-2C7B-EF8C-49D79558A148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evaluación separa ajuste y comprobación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240B07B8-06F0-F6CF-C0B4-B7E605C22F67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42050EFB-BC16-B29E-F08C-302443A9E40B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C87988F-7C81-B46D-3B06-B8900C8DABE4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9</a:t>
            </a:r>
          </a:p>
        </p:txBody>
      </p:sp>
      <p:cxnSp>
        <p:nvCxnSpPr>
          <p:cNvPr id="7" name="Evaluation timeline">
            <a:extLst>
              <a:ext uri="{FF2B5EF4-FFF2-40B4-BE49-F238E27FC236}">
                <a16:creationId xmlns:a16="http://schemas.microsoft.com/office/drawing/2014/main" id="{5EF75F59-2A2A-64BC-1E72-FD1C86CA647B}"/>
              </a:ext>
            </a:extLst>
          </p:cNvPr>
          <p:cNvCxnSpPr/>
          <p:nvPr/>
        </p:nvCxnSpPr>
        <p:spPr>
          <a:xfrm>
            <a:off x="1244600" y="3429000"/>
            <a:ext cx="9702800" cy="0"/>
          </a:xfrm>
          <a:prstGeom prst="line">
            <a:avLst/>
          </a:prstGeom>
          <a:ln w="19050">
            <a:solidFill>
              <a:srgbClr val="0713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valuation dot">
            <a:extLst>
              <a:ext uri="{FF2B5EF4-FFF2-40B4-BE49-F238E27FC236}">
                <a16:creationId xmlns:a16="http://schemas.microsoft.com/office/drawing/2014/main" id="{C592F643-E45B-2654-E15C-D7A4D05A146F}"/>
              </a:ext>
            </a:extLst>
          </p:cNvPr>
          <p:cNvSpPr/>
          <p:nvPr/>
        </p:nvSpPr>
        <p:spPr>
          <a:xfrm>
            <a:off x="15240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Evaluation dot">
            <a:extLst>
              <a:ext uri="{FF2B5EF4-FFF2-40B4-BE49-F238E27FC236}">
                <a16:creationId xmlns:a16="http://schemas.microsoft.com/office/drawing/2014/main" id="{9F76FCF7-B6F6-2EAF-BCB5-645347F923D7}"/>
              </a:ext>
            </a:extLst>
          </p:cNvPr>
          <p:cNvSpPr/>
          <p:nvPr/>
        </p:nvSpPr>
        <p:spPr>
          <a:xfrm>
            <a:off x="52324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Evaluation dot">
            <a:extLst>
              <a:ext uri="{FF2B5EF4-FFF2-40B4-BE49-F238E27FC236}">
                <a16:creationId xmlns:a16="http://schemas.microsoft.com/office/drawing/2014/main" id="{F0DDADA4-3328-94CC-A55D-123F2D5CEEEC}"/>
              </a:ext>
            </a:extLst>
          </p:cNvPr>
          <p:cNvSpPr/>
          <p:nvPr/>
        </p:nvSpPr>
        <p:spPr>
          <a:xfrm>
            <a:off x="89408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valuation metric">
            <a:extLst>
              <a:ext uri="{FF2B5EF4-FFF2-40B4-BE49-F238E27FC236}">
                <a16:creationId xmlns:a16="http://schemas.microsoft.com/office/drawing/2014/main" id="{8B2A8239-9FBE-ABED-B7F1-6C4EC5FD0CC8}"/>
              </a:ext>
            </a:extLst>
          </p:cNvPr>
          <p:cNvSpPr txBox="1"/>
          <p:nvPr/>
        </p:nvSpPr>
        <p:spPr>
          <a:xfrm>
            <a:off x="10922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40 CASOS</a:t>
            </a:r>
          </a:p>
        </p:txBody>
      </p:sp>
      <p:sp>
        <p:nvSpPr>
          <p:cNvPr id="12" name="Evaluation title">
            <a:extLst>
              <a:ext uri="{FF2B5EF4-FFF2-40B4-BE49-F238E27FC236}">
                <a16:creationId xmlns:a16="http://schemas.microsoft.com/office/drawing/2014/main" id="{4CEBA28D-D44E-1BA5-8DE6-1143F2BDD649}"/>
              </a:ext>
            </a:extLst>
          </p:cNvPr>
          <p:cNvSpPr txBox="1"/>
          <p:nvPr/>
        </p:nvSpPr>
        <p:spPr>
          <a:xfrm>
            <a:off x="10922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Calibración controlada</a:t>
            </a:r>
          </a:p>
        </p:txBody>
      </p:sp>
      <p:sp>
        <p:nvSpPr>
          <p:cNvPr id="13" name="Evaluation detail">
            <a:extLst>
              <a:ext uri="{FF2B5EF4-FFF2-40B4-BE49-F238E27FC236}">
                <a16:creationId xmlns:a16="http://schemas.microsoft.com/office/drawing/2014/main" id="{75DE5515-7791-A782-DEC5-45B161F17820}"/>
              </a:ext>
            </a:extLst>
          </p:cNvPr>
          <p:cNvSpPr txBox="1"/>
          <p:nvPr/>
        </p:nvSpPr>
        <p:spPr>
          <a:xfrm>
            <a:off x="10922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Cinco particiones estratificadas seleccionan pesos y umbrales.</a:t>
            </a:r>
          </a:p>
        </p:txBody>
      </p:sp>
      <p:sp>
        <p:nvSpPr>
          <p:cNvPr id="14" name="Evaluation metric">
            <a:extLst>
              <a:ext uri="{FF2B5EF4-FFF2-40B4-BE49-F238E27FC236}">
                <a16:creationId xmlns:a16="http://schemas.microsoft.com/office/drawing/2014/main" id="{D728BB12-B330-0F78-FD3D-8257268EBB86}"/>
              </a:ext>
            </a:extLst>
          </p:cNvPr>
          <p:cNvSpPr txBox="1"/>
          <p:nvPr/>
        </p:nvSpPr>
        <p:spPr>
          <a:xfrm>
            <a:off x="48006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16 EML</a:t>
            </a:r>
          </a:p>
        </p:txBody>
      </p:sp>
      <p:sp>
        <p:nvSpPr>
          <p:cNvPr id="15" name="Evaluation title">
            <a:extLst>
              <a:ext uri="{FF2B5EF4-FFF2-40B4-BE49-F238E27FC236}">
                <a16:creationId xmlns:a16="http://schemas.microsoft.com/office/drawing/2014/main" id="{5C22CD0B-E052-DCE1-69E0-FFCFA42B78BB}"/>
              </a:ext>
            </a:extLst>
          </p:cNvPr>
          <p:cNvSpPr txBox="1"/>
          <p:nvPr/>
        </p:nvSpPr>
        <p:spPr>
          <a:xfrm>
            <a:off x="48006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Comprobación final</a:t>
            </a:r>
          </a:p>
        </p:txBody>
      </p:sp>
      <p:sp>
        <p:nvSpPr>
          <p:cNvPr id="16" name="Evaluation detail">
            <a:extLst>
              <a:ext uri="{FF2B5EF4-FFF2-40B4-BE49-F238E27FC236}">
                <a16:creationId xmlns:a16="http://schemas.microsoft.com/office/drawing/2014/main" id="{8B8F5994-7254-0BB2-25FC-4E4A5C59AAB8}"/>
              </a:ext>
            </a:extLst>
          </p:cNvPr>
          <p:cNvSpPr txBox="1"/>
          <p:nvPr/>
        </p:nvSpPr>
        <p:spPr>
          <a:xfrm>
            <a:off x="48006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Mensajes bilingües reservados con MIME, cabeceras y escenarios BEC.</a:t>
            </a:r>
          </a:p>
        </p:txBody>
      </p:sp>
      <p:sp>
        <p:nvSpPr>
          <p:cNvPr id="17" name="Evaluation metric">
            <a:extLst>
              <a:ext uri="{FF2B5EF4-FFF2-40B4-BE49-F238E27FC236}">
                <a16:creationId xmlns:a16="http://schemas.microsoft.com/office/drawing/2014/main" id="{C1259433-9FD3-8130-5F0F-0F85B5AF3ADA}"/>
              </a:ext>
            </a:extLst>
          </p:cNvPr>
          <p:cNvSpPr txBox="1"/>
          <p:nvPr/>
        </p:nvSpPr>
        <p:spPr>
          <a:xfrm>
            <a:off x="85090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1.528 TEXTOS</a:t>
            </a:r>
          </a:p>
        </p:txBody>
      </p:sp>
      <p:sp>
        <p:nvSpPr>
          <p:cNvPr id="18" name="Evaluation title">
            <a:extLst>
              <a:ext uri="{FF2B5EF4-FFF2-40B4-BE49-F238E27FC236}">
                <a16:creationId xmlns:a16="http://schemas.microsoft.com/office/drawing/2014/main" id="{D39480F3-FB59-57CB-F32A-37B3D08E83F3}"/>
              </a:ext>
            </a:extLst>
          </p:cNvPr>
          <p:cNvSpPr txBox="1"/>
          <p:nvPr/>
        </p:nvSpPr>
        <p:spPr>
          <a:xfrm>
            <a:off x="85090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Diagnóstico externo</a:t>
            </a:r>
          </a:p>
        </p:txBody>
      </p:sp>
      <p:sp>
        <p:nvSpPr>
          <p:cNvPr id="19" name="Evaluation detail">
            <a:extLst>
              <a:ext uri="{FF2B5EF4-FFF2-40B4-BE49-F238E27FC236}">
                <a16:creationId xmlns:a16="http://schemas.microsoft.com/office/drawing/2014/main" id="{33D48F9A-6EEF-1E8A-D785-ABB6EE255839}"/>
              </a:ext>
            </a:extLst>
          </p:cNvPr>
          <p:cNvSpPr txBox="1"/>
          <p:nvPr/>
        </p:nvSpPr>
        <p:spPr>
          <a:xfrm>
            <a:off x="85090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DIFrauD aporta escala, pero es histórico y puede solaparse.</a:t>
            </a:r>
          </a:p>
        </p:txBody>
      </p:sp>
      <p:sp>
        <p:nvSpPr>
          <p:cNvPr id="20" name="Evaluation caveat">
            <a:extLst>
              <a:ext uri="{FF2B5EF4-FFF2-40B4-BE49-F238E27FC236}">
                <a16:creationId xmlns:a16="http://schemas.microsoft.com/office/drawing/2014/main" id="{8CEFFA73-3781-550F-F469-29C0AC8DAE60}"/>
              </a:ext>
            </a:extLst>
          </p:cNvPr>
          <p:cNvSpPr txBox="1"/>
          <p:nvPr/>
        </p:nvSpPr>
        <p:spPr>
          <a:xfrm>
            <a:off x="1676400" y="5778500"/>
            <a:ext cx="883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B42318"/>
                </a:solidFill>
                <a:latin typeface="Arial" panose="020B0604020202020204" pitchFamily="34" charset="0"/>
              </a:rPr>
              <a:t>Principio metodológico: ninguna muestra se presenta como estimación de producción.</a:t>
            </a:r>
          </a:p>
        </p:txBody>
      </p:sp>
    </p:spTree>
    <p:extLst>
      <p:ext uri="{BB962C8B-B14F-4D97-AF65-F5344CB8AC3E}">
        <p14:creationId xmlns:p14="http://schemas.microsoft.com/office/powerpoint/2010/main" val="35028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7B066443-65BA-C977-E041-0356704DF9A6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RESULTADOS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86C2C0B0-EB2D-C4A3-11A9-336E5D202A93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El modo combinado evita falsos negativos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EE54E7E4-7CBE-1AB5-C191-F2DCFB26CA56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88F63AE6-1E31-C82F-7485-AD34990B6030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5C5EB55-3193-E533-9C17-A28400DC7C18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10</a:t>
            </a:r>
          </a:p>
        </p:txBody>
      </p:sp>
      <p:sp>
        <p:nvSpPr>
          <p:cNvPr id="7" name="Chart subtitle">
            <a:extLst>
              <a:ext uri="{FF2B5EF4-FFF2-40B4-BE49-F238E27FC236}">
                <a16:creationId xmlns:a16="http://schemas.microsoft.com/office/drawing/2014/main" id="{7DBCB663-B45E-FE0A-2793-40366BFEEB59}"/>
              </a:ext>
            </a:extLst>
          </p:cNvPr>
          <p:cNvSpPr txBox="1"/>
          <p:nvPr/>
        </p:nvSpPr>
        <p:spPr>
          <a:xfrm>
            <a:off x="863600" y="1536700"/>
            <a:ext cx="520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6A8192"/>
                </a:solidFill>
                <a:latin typeface="Arial" panose="020B0604020202020204" pitchFamily="34" charset="0"/>
              </a:rPr>
              <a:t>Evaluación final · 16 EML reservados</a:t>
            </a:r>
          </a:p>
        </p:txBody>
      </p:sp>
      <p:cxnSp>
        <p:nvCxnSpPr>
          <p:cNvPr id="8" name="Chart axis">
            <a:extLst>
              <a:ext uri="{FF2B5EF4-FFF2-40B4-BE49-F238E27FC236}">
                <a16:creationId xmlns:a16="http://schemas.microsoft.com/office/drawing/2014/main" id="{049EA37F-50F4-2A4C-9745-07402E96A0FD}"/>
              </a:ext>
            </a:extLst>
          </p:cNvPr>
          <p:cNvCxnSpPr/>
          <p:nvPr/>
        </p:nvCxnSpPr>
        <p:spPr>
          <a:xfrm>
            <a:off x="2565400" y="5613400"/>
            <a:ext cx="4826000" cy="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rid 0">
            <a:extLst>
              <a:ext uri="{FF2B5EF4-FFF2-40B4-BE49-F238E27FC236}">
                <a16:creationId xmlns:a16="http://schemas.microsoft.com/office/drawing/2014/main" id="{3F5431E2-F52C-9556-27A8-C893BEA0F305}"/>
              </a:ext>
            </a:extLst>
          </p:cNvPr>
          <p:cNvCxnSpPr/>
          <p:nvPr/>
        </p:nvCxnSpPr>
        <p:spPr>
          <a:xfrm>
            <a:off x="25654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ck 0">
            <a:extLst>
              <a:ext uri="{FF2B5EF4-FFF2-40B4-BE49-F238E27FC236}">
                <a16:creationId xmlns:a16="http://schemas.microsoft.com/office/drawing/2014/main" id="{398E9EAF-93F2-E666-5FE9-6DE715B9A2D6}"/>
              </a:ext>
            </a:extLst>
          </p:cNvPr>
          <p:cNvSpPr txBox="1"/>
          <p:nvPr/>
        </p:nvSpPr>
        <p:spPr>
          <a:xfrm>
            <a:off x="23876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0</a:t>
            </a:r>
          </a:p>
        </p:txBody>
      </p:sp>
      <p:cxnSp>
        <p:nvCxnSpPr>
          <p:cNvPr id="11" name="Grid 25">
            <a:extLst>
              <a:ext uri="{FF2B5EF4-FFF2-40B4-BE49-F238E27FC236}">
                <a16:creationId xmlns:a16="http://schemas.microsoft.com/office/drawing/2014/main" id="{9994E793-A0A6-D06C-D926-A2BB550D351F}"/>
              </a:ext>
            </a:extLst>
          </p:cNvPr>
          <p:cNvCxnSpPr/>
          <p:nvPr/>
        </p:nvCxnSpPr>
        <p:spPr>
          <a:xfrm>
            <a:off x="37719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ck 25">
            <a:extLst>
              <a:ext uri="{FF2B5EF4-FFF2-40B4-BE49-F238E27FC236}">
                <a16:creationId xmlns:a16="http://schemas.microsoft.com/office/drawing/2014/main" id="{EA74CCC4-9565-2AEF-C1DC-4585F5C57F8E}"/>
              </a:ext>
            </a:extLst>
          </p:cNvPr>
          <p:cNvSpPr txBox="1"/>
          <p:nvPr/>
        </p:nvSpPr>
        <p:spPr>
          <a:xfrm>
            <a:off x="35941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25</a:t>
            </a:r>
          </a:p>
        </p:txBody>
      </p:sp>
      <p:cxnSp>
        <p:nvCxnSpPr>
          <p:cNvPr id="13" name="Grid 50">
            <a:extLst>
              <a:ext uri="{FF2B5EF4-FFF2-40B4-BE49-F238E27FC236}">
                <a16:creationId xmlns:a16="http://schemas.microsoft.com/office/drawing/2014/main" id="{8D395468-E910-47EB-454A-01E4720F5817}"/>
              </a:ext>
            </a:extLst>
          </p:cNvPr>
          <p:cNvCxnSpPr/>
          <p:nvPr/>
        </p:nvCxnSpPr>
        <p:spPr>
          <a:xfrm>
            <a:off x="49784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ck 50">
            <a:extLst>
              <a:ext uri="{FF2B5EF4-FFF2-40B4-BE49-F238E27FC236}">
                <a16:creationId xmlns:a16="http://schemas.microsoft.com/office/drawing/2014/main" id="{D47B7408-B524-7AE9-75D8-FA7888A42F36}"/>
              </a:ext>
            </a:extLst>
          </p:cNvPr>
          <p:cNvSpPr txBox="1"/>
          <p:nvPr/>
        </p:nvSpPr>
        <p:spPr>
          <a:xfrm>
            <a:off x="48006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50</a:t>
            </a:r>
          </a:p>
        </p:txBody>
      </p:sp>
      <p:cxnSp>
        <p:nvCxnSpPr>
          <p:cNvPr id="15" name="Grid 75">
            <a:extLst>
              <a:ext uri="{FF2B5EF4-FFF2-40B4-BE49-F238E27FC236}">
                <a16:creationId xmlns:a16="http://schemas.microsoft.com/office/drawing/2014/main" id="{F7F12925-2128-D274-0A06-3C595B186A08}"/>
              </a:ext>
            </a:extLst>
          </p:cNvPr>
          <p:cNvCxnSpPr/>
          <p:nvPr/>
        </p:nvCxnSpPr>
        <p:spPr>
          <a:xfrm>
            <a:off x="61849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ck 75">
            <a:extLst>
              <a:ext uri="{FF2B5EF4-FFF2-40B4-BE49-F238E27FC236}">
                <a16:creationId xmlns:a16="http://schemas.microsoft.com/office/drawing/2014/main" id="{71407645-4CA2-C5E2-6C95-0CF2D1422CD2}"/>
              </a:ext>
            </a:extLst>
          </p:cNvPr>
          <p:cNvSpPr txBox="1"/>
          <p:nvPr/>
        </p:nvSpPr>
        <p:spPr>
          <a:xfrm>
            <a:off x="60071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75</a:t>
            </a:r>
          </a:p>
        </p:txBody>
      </p:sp>
      <p:cxnSp>
        <p:nvCxnSpPr>
          <p:cNvPr id="17" name="Grid 100">
            <a:extLst>
              <a:ext uri="{FF2B5EF4-FFF2-40B4-BE49-F238E27FC236}">
                <a16:creationId xmlns:a16="http://schemas.microsoft.com/office/drawing/2014/main" id="{8540CE09-32F8-BCDB-4219-C4B55BC0C1B4}"/>
              </a:ext>
            </a:extLst>
          </p:cNvPr>
          <p:cNvCxnSpPr/>
          <p:nvPr/>
        </p:nvCxnSpPr>
        <p:spPr>
          <a:xfrm>
            <a:off x="7391400" y="2006600"/>
            <a:ext cx="0" cy="36068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ick 100">
            <a:extLst>
              <a:ext uri="{FF2B5EF4-FFF2-40B4-BE49-F238E27FC236}">
                <a16:creationId xmlns:a16="http://schemas.microsoft.com/office/drawing/2014/main" id="{82D34BA5-A0E0-E0D1-454E-4582EBD65165}"/>
              </a:ext>
            </a:extLst>
          </p:cNvPr>
          <p:cNvSpPr txBox="1"/>
          <p:nvPr/>
        </p:nvSpPr>
        <p:spPr>
          <a:xfrm>
            <a:off x="7213600" y="5727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19" name="Legend swatch">
            <a:extLst>
              <a:ext uri="{FF2B5EF4-FFF2-40B4-BE49-F238E27FC236}">
                <a16:creationId xmlns:a16="http://schemas.microsoft.com/office/drawing/2014/main" id="{F1397946-8F2B-FF51-5388-70471B190A4F}"/>
              </a:ext>
            </a:extLst>
          </p:cNvPr>
          <p:cNvSpPr/>
          <p:nvPr/>
        </p:nvSpPr>
        <p:spPr>
          <a:xfrm>
            <a:off x="2667000" y="1676400"/>
            <a:ext cx="139700" cy="1397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Legend">
            <a:extLst>
              <a:ext uri="{FF2B5EF4-FFF2-40B4-BE49-F238E27FC236}">
                <a16:creationId xmlns:a16="http://schemas.microsoft.com/office/drawing/2014/main" id="{FC9376B8-C350-365C-D0FC-841C81A3436D}"/>
              </a:ext>
            </a:extLst>
          </p:cNvPr>
          <p:cNvSpPr txBox="1"/>
          <p:nvPr/>
        </p:nvSpPr>
        <p:spPr>
          <a:xfrm>
            <a:off x="2882900" y="16256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Accuracy</a:t>
            </a:r>
          </a:p>
        </p:txBody>
      </p:sp>
      <p:sp>
        <p:nvSpPr>
          <p:cNvPr id="21" name="Legend swatch">
            <a:extLst>
              <a:ext uri="{FF2B5EF4-FFF2-40B4-BE49-F238E27FC236}">
                <a16:creationId xmlns:a16="http://schemas.microsoft.com/office/drawing/2014/main" id="{4E3DB846-3A8D-9518-9C8E-CC5A21A16B88}"/>
              </a:ext>
            </a:extLst>
          </p:cNvPr>
          <p:cNvSpPr/>
          <p:nvPr/>
        </p:nvSpPr>
        <p:spPr>
          <a:xfrm>
            <a:off x="3937000" y="1676400"/>
            <a:ext cx="139700" cy="1397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Legend">
            <a:extLst>
              <a:ext uri="{FF2B5EF4-FFF2-40B4-BE49-F238E27FC236}">
                <a16:creationId xmlns:a16="http://schemas.microsoft.com/office/drawing/2014/main" id="{9A966DE6-2ED5-35FD-3D79-A9668707F5A0}"/>
              </a:ext>
            </a:extLst>
          </p:cNvPr>
          <p:cNvSpPr txBox="1"/>
          <p:nvPr/>
        </p:nvSpPr>
        <p:spPr>
          <a:xfrm>
            <a:off x="4152900" y="16256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Recall</a:t>
            </a:r>
          </a:p>
        </p:txBody>
      </p:sp>
      <p:sp>
        <p:nvSpPr>
          <p:cNvPr id="23" name="Legend swatch">
            <a:extLst>
              <a:ext uri="{FF2B5EF4-FFF2-40B4-BE49-F238E27FC236}">
                <a16:creationId xmlns:a16="http://schemas.microsoft.com/office/drawing/2014/main" id="{60B31D6B-760E-8A9E-E52F-12B6CF98FAF0}"/>
              </a:ext>
            </a:extLst>
          </p:cNvPr>
          <p:cNvSpPr/>
          <p:nvPr/>
        </p:nvSpPr>
        <p:spPr>
          <a:xfrm>
            <a:off x="5207000" y="1676400"/>
            <a:ext cx="139700" cy="1397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Legend">
            <a:extLst>
              <a:ext uri="{FF2B5EF4-FFF2-40B4-BE49-F238E27FC236}">
                <a16:creationId xmlns:a16="http://schemas.microsoft.com/office/drawing/2014/main" id="{A5814203-3DC8-E4ED-BCDC-72F806D8F52D}"/>
              </a:ext>
            </a:extLst>
          </p:cNvPr>
          <p:cNvSpPr txBox="1"/>
          <p:nvPr/>
        </p:nvSpPr>
        <p:spPr>
          <a:xfrm>
            <a:off x="5422900" y="16256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F1</a:t>
            </a:r>
          </a:p>
        </p:txBody>
      </p:sp>
      <p:sp>
        <p:nvSpPr>
          <p:cNvPr id="25" name="Mode label">
            <a:extLst>
              <a:ext uri="{FF2B5EF4-FFF2-40B4-BE49-F238E27FC236}">
                <a16:creationId xmlns:a16="http://schemas.microsoft.com/office/drawing/2014/main" id="{B01DDFA8-4FFC-8886-B8CA-99616E936747}"/>
              </a:ext>
            </a:extLst>
          </p:cNvPr>
          <p:cNvSpPr txBox="1"/>
          <p:nvPr/>
        </p:nvSpPr>
        <p:spPr>
          <a:xfrm>
            <a:off x="863600" y="25781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Heurístico</a:t>
            </a:r>
          </a:p>
        </p:txBody>
      </p:sp>
      <p:sp>
        <p:nvSpPr>
          <p:cNvPr id="26" name="Result bar">
            <a:extLst>
              <a:ext uri="{FF2B5EF4-FFF2-40B4-BE49-F238E27FC236}">
                <a16:creationId xmlns:a16="http://schemas.microsoft.com/office/drawing/2014/main" id="{A8FF5A0E-D860-DDCC-836E-40BF2AE3CAAA}"/>
              </a:ext>
            </a:extLst>
          </p:cNvPr>
          <p:cNvSpPr/>
          <p:nvPr/>
        </p:nvSpPr>
        <p:spPr>
          <a:xfrm>
            <a:off x="2565400" y="2413000"/>
            <a:ext cx="4826000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sult value">
            <a:extLst>
              <a:ext uri="{FF2B5EF4-FFF2-40B4-BE49-F238E27FC236}">
                <a16:creationId xmlns:a16="http://schemas.microsoft.com/office/drawing/2014/main" id="{816D8A4F-B5E5-66AD-93F4-6C469D2ACB63}"/>
              </a:ext>
            </a:extLst>
          </p:cNvPr>
          <p:cNvSpPr txBox="1"/>
          <p:nvPr/>
        </p:nvSpPr>
        <p:spPr>
          <a:xfrm>
            <a:off x="7467600" y="24003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28" name="Result bar">
            <a:extLst>
              <a:ext uri="{FF2B5EF4-FFF2-40B4-BE49-F238E27FC236}">
                <a16:creationId xmlns:a16="http://schemas.microsoft.com/office/drawing/2014/main" id="{8FE538C1-4B22-0ECB-7433-C9349D1B6B4F}"/>
              </a:ext>
            </a:extLst>
          </p:cNvPr>
          <p:cNvSpPr/>
          <p:nvPr/>
        </p:nvSpPr>
        <p:spPr>
          <a:xfrm>
            <a:off x="2565400" y="2679700"/>
            <a:ext cx="48260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sult value">
            <a:extLst>
              <a:ext uri="{FF2B5EF4-FFF2-40B4-BE49-F238E27FC236}">
                <a16:creationId xmlns:a16="http://schemas.microsoft.com/office/drawing/2014/main" id="{BE72A289-A5D1-D47B-A2FF-BBC61401A7E9}"/>
              </a:ext>
            </a:extLst>
          </p:cNvPr>
          <p:cNvSpPr txBox="1"/>
          <p:nvPr/>
        </p:nvSpPr>
        <p:spPr>
          <a:xfrm>
            <a:off x="7467600" y="26670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30" name="Result bar">
            <a:extLst>
              <a:ext uri="{FF2B5EF4-FFF2-40B4-BE49-F238E27FC236}">
                <a16:creationId xmlns:a16="http://schemas.microsoft.com/office/drawing/2014/main" id="{676F0F67-DEEE-B6A2-61EE-3B6E716949AC}"/>
              </a:ext>
            </a:extLst>
          </p:cNvPr>
          <p:cNvSpPr/>
          <p:nvPr/>
        </p:nvSpPr>
        <p:spPr>
          <a:xfrm>
            <a:off x="2565400" y="2946400"/>
            <a:ext cx="4826000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sult value">
            <a:extLst>
              <a:ext uri="{FF2B5EF4-FFF2-40B4-BE49-F238E27FC236}">
                <a16:creationId xmlns:a16="http://schemas.microsoft.com/office/drawing/2014/main" id="{708B4C25-50FF-1C77-F78A-9DE426DAF891}"/>
              </a:ext>
            </a:extLst>
          </p:cNvPr>
          <p:cNvSpPr txBox="1"/>
          <p:nvPr/>
        </p:nvSpPr>
        <p:spPr>
          <a:xfrm>
            <a:off x="7467600" y="29337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32" name="Mode label">
            <a:extLst>
              <a:ext uri="{FF2B5EF4-FFF2-40B4-BE49-F238E27FC236}">
                <a16:creationId xmlns:a16="http://schemas.microsoft.com/office/drawing/2014/main" id="{8AC64CE8-4887-992C-C400-EA9F0532472E}"/>
              </a:ext>
            </a:extLst>
          </p:cNvPr>
          <p:cNvSpPr txBox="1"/>
          <p:nvPr/>
        </p:nvSpPr>
        <p:spPr>
          <a:xfrm>
            <a:off x="863600" y="37719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Neuronal</a:t>
            </a:r>
          </a:p>
        </p:txBody>
      </p:sp>
      <p:sp>
        <p:nvSpPr>
          <p:cNvPr id="33" name="Result bar">
            <a:extLst>
              <a:ext uri="{FF2B5EF4-FFF2-40B4-BE49-F238E27FC236}">
                <a16:creationId xmlns:a16="http://schemas.microsoft.com/office/drawing/2014/main" id="{0AC0EE4F-3227-C57B-5470-6B8FB1CEEBB5}"/>
              </a:ext>
            </a:extLst>
          </p:cNvPr>
          <p:cNvSpPr/>
          <p:nvPr/>
        </p:nvSpPr>
        <p:spPr>
          <a:xfrm>
            <a:off x="2565400" y="3606800"/>
            <a:ext cx="3619500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sult value">
            <a:extLst>
              <a:ext uri="{FF2B5EF4-FFF2-40B4-BE49-F238E27FC236}">
                <a16:creationId xmlns:a16="http://schemas.microsoft.com/office/drawing/2014/main" id="{426C174D-B4E0-C7B0-3489-367EA9747B07}"/>
              </a:ext>
            </a:extLst>
          </p:cNvPr>
          <p:cNvSpPr txBox="1"/>
          <p:nvPr/>
        </p:nvSpPr>
        <p:spPr>
          <a:xfrm>
            <a:off x="6261100" y="35941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75,0 %</a:t>
            </a:r>
          </a:p>
        </p:txBody>
      </p:sp>
      <p:sp>
        <p:nvSpPr>
          <p:cNvPr id="35" name="Result bar">
            <a:extLst>
              <a:ext uri="{FF2B5EF4-FFF2-40B4-BE49-F238E27FC236}">
                <a16:creationId xmlns:a16="http://schemas.microsoft.com/office/drawing/2014/main" id="{96E9F153-AAEA-8947-D07C-FE87E9B75487}"/>
              </a:ext>
            </a:extLst>
          </p:cNvPr>
          <p:cNvSpPr/>
          <p:nvPr/>
        </p:nvSpPr>
        <p:spPr>
          <a:xfrm>
            <a:off x="2565400" y="3873500"/>
            <a:ext cx="36195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sult value">
            <a:extLst>
              <a:ext uri="{FF2B5EF4-FFF2-40B4-BE49-F238E27FC236}">
                <a16:creationId xmlns:a16="http://schemas.microsoft.com/office/drawing/2014/main" id="{69BDCD0F-E71A-C000-613D-0F4CFD897F3D}"/>
              </a:ext>
            </a:extLst>
          </p:cNvPr>
          <p:cNvSpPr txBox="1"/>
          <p:nvPr/>
        </p:nvSpPr>
        <p:spPr>
          <a:xfrm>
            <a:off x="6261100" y="38608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75,0 %</a:t>
            </a:r>
          </a:p>
        </p:txBody>
      </p:sp>
      <p:sp>
        <p:nvSpPr>
          <p:cNvPr id="37" name="Result bar">
            <a:extLst>
              <a:ext uri="{FF2B5EF4-FFF2-40B4-BE49-F238E27FC236}">
                <a16:creationId xmlns:a16="http://schemas.microsoft.com/office/drawing/2014/main" id="{0D9C6E96-37FB-A005-288D-0CED6302D2ED}"/>
              </a:ext>
            </a:extLst>
          </p:cNvPr>
          <p:cNvSpPr/>
          <p:nvPr/>
        </p:nvSpPr>
        <p:spPr>
          <a:xfrm>
            <a:off x="2565400" y="4140200"/>
            <a:ext cx="3619500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Result value">
            <a:extLst>
              <a:ext uri="{FF2B5EF4-FFF2-40B4-BE49-F238E27FC236}">
                <a16:creationId xmlns:a16="http://schemas.microsoft.com/office/drawing/2014/main" id="{0F42A97B-87C8-9399-BD2F-7FCE7084B7C0}"/>
              </a:ext>
            </a:extLst>
          </p:cNvPr>
          <p:cNvSpPr txBox="1"/>
          <p:nvPr/>
        </p:nvSpPr>
        <p:spPr>
          <a:xfrm>
            <a:off x="6261100" y="41275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75,0 %</a:t>
            </a:r>
          </a:p>
        </p:txBody>
      </p:sp>
      <p:sp>
        <p:nvSpPr>
          <p:cNvPr id="39" name="Mode label">
            <a:extLst>
              <a:ext uri="{FF2B5EF4-FFF2-40B4-BE49-F238E27FC236}">
                <a16:creationId xmlns:a16="http://schemas.microsoft.com/office/drawing/2014/main" id="{5E9910C1-C1AB-A142-0620-6069E3399AC6}"/>
              </a:ext>
            </a:extLst>
          </p:cNvPr>
          <p:cNvSpPr txBox="1"/>
          <p:nvPr/>
        </p:nvSpPr>
        <p:spPr>
          <a:xfrm>
            <a:off x="863600" y="49657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Combinado</a:t>
            </a:r>
          </a:p>
        </p:txBody>
      </p:sp>
      <p:sp>
        <p:nvSpPr>
          <p:cNvPr id="40" name="Result bar">
            <a:extLst>
              <a:ext uri="{FF2B5EF4-FFF2-40B4-BE49-F238E27FC236}">
                <a16:creationId xmlns:a16="http://schemas.microsoft.com/office/drawing/2014/main" id="{75547680-B47C-BBCB-D6B3-335C9C507031}"/>
              </a:ext>
            </a:extLst>
          </p:cNvPr>
          <p:cNvSpPr/>
          <p:nvPr/>
        </p:nvSpPr>
        <p:spPr>
          <a:xfrm>
            <a:off x="2565400" y="4800600"/>
            <a:ext cx="4526788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sult value">
            <a:extLst>
              <a:ext uri="{FF2B5EF4-FFF2-40B4-BE49-F238E27FC236}">
                <a16:creationId xmlns:a16="http://schemas.microsoft.com/office/drawing/2014/main" id="{6A310FFC-5A15-5A4D-17A0-E4C96493AB51}"/>
              </a:ext>
            </a:extLst>
          </p:cNvPr>
          <p:cNvSpPr txBox="1"/>
          <p:nvPr/>
        </p:nvSpPr>
        <p:spPr>
          <a:xfrm>
            <a:off x="7168388" y="47879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93,8 %</a:t>
            </a:r>
          </a:p>
        </p:txBody>
      </p:sp>
      <p:sp>
        <p:nvSpPr>
          <p:cNvPr id="42" name="Result bar">
            <a:extLst>
              <a:ext uri="{FF2B5EF4-FFF2-40B4-BE49-F238E27FC236}">
                <a16:creationId xmlns:a16="http://schemas.microsoft.com/office/drawing/2014/main" id="{D5EF07D4-8AA8-AFE4-B48C-FD34803FFDD9}"/>
              </a:ext>
            </a:extLst>
          </p:cNvPr>
          <p:cNvSpPr/>
          <p:nvPr/>
        </p:nvSpPr>
        <p:spPr>
          <a:xfrm>
            <a:off x="2565400" y="5067300"/>
            <a:ext cx="48260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3" name="Result value">
            <a:extLst>
              <a:ext uri="{FF2B5EF4-FFF2-40B4-BE49-F238E27FC236}">
                <a16:creationId xmlns:a16="http://schemas.microsoft.com/office/drawing/2014/main" id="{41B2CF9F-D9FA-7293-F2E6-EACEB3A39F80}"/>
              </a:ext>
            </a:extLst>
          </p:cNvPr>
          <p:cNvSpPr txBox="1"/>
          <p:nvPr/>
        </p:nvSpPr>
        <p:spPr>
          <a:xfrm>
            <a:off x="7467600" y="50546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44" name="Result bar">
            <a:extLst>
              <a:ext uri="{FF2B5EF4-FFF2-40B4-BE49-F238E27FC236}">
                <a16:creationId xmlns:a16="http://schemas.microsoft.com/office/drawing/2014/main" id="{29BD125B-179C-A94F-085E-0E6893EC15AD}"/>
              </a:ext>
            </a:extLst>
          </p:cNvPr>
          <p:cNvSpPr/>
          <p:nvPr/>
        </p:nvSpPr>
        <p:spPr>
          <a:xfrm>
            <a:off x="2565400" y="5334000"/>
            <a:ext cx="4541265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Result value">
            <a:extLst>
              <a:ext uri="{FF2B5EF4-FFF2-40B4-BE49-F238E27FC236}">
                <a16:creationId xmlns:a16="http://schemas.microsoft.com/office/drawing/2014/main" id="{2CE524BA-8E4A-8CC6-4292-B3FD053E5A62}"/>
              </a:ext>
            </a:extLst>
          </p:cNvPr>
          <p:cNvSpPr txBox="1"/>
          <p:nvPr/>
        </p:nvSpPr>
        <p:spPr>
          <a:xfrm>
            <a:off x="7182866" y="53213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94,1 %</a:t>
            </a:r>
          </a:p>
        </p:txBody>
      </p:sp>
      <p:sp>
        <p:nvSpPr>
          <p:cNvPr id="46" name="Result callout">
            <a:extLst>
              <a:ext uri="{FF2B5EF4-FFF2-40B4-BE49-F238E27FC236}">
                <a16:creationId xmlns:a16="http://schemas.microsoft.com/office/drawing/2014/main" id="{EEB8F734-8260-1900-53A7-277DDE85A3CC}"/>
              </a:ext>
            </a:extLst>
          </p:cNvPr>
          <p:cNvSpPr/>
          <p:nvPr/>
        </p:nvSpPr>
        <p:spPr>
          <a:xfrm>
            <a:off x="8229600" y="1955800"/>
            <a:ext cx="3048000" cy="1422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Recall result">
            <a:extLst>
              <a:ext uri="{FF2B5EF4-FFF2-40B4-BE49-F238E27FC236}">
                <a16:creationId xmlns:a16="http://schemas.microsoft.com/office/drawing/2014/main" id="{CFD6BFBA-BF60-5CE7-9A3F-CA239B4270DF}"/>
              </a:ext>
            </a:extLst>
          </p:cNvPr>
          <p:cNvSpPr txBox="1"/>
          <p:nvPr/>
        </p:nvSpPr>
        <p:spPr>
          <a:xfrm>
            <a:off x="8534400" y="2286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500" b="1">
                <a:solidFill>
                  <a:srgbClr val="FFFFFF"/>
                </a:solidFill>
                <a:latin typeface="Arial" panose="020B0604020202020204" pitchFamily="34" charset="0"/>
              </a:rPr>
              <a:t>100 % recall</a:t>
            </a:r>
          </a:p>
        </p:txBody>
      </p:sp>
      <p:sp>
        <p:nvSpPr>
          <p:cNvPr id="48" name="Recall detail">
            <a:extLst>
              <a:ext uri="{FF2B5EF4-FFF2-40B4-BE49-F238E27FC236}">
                <a16:creationId xmlns:a16="http://schemas.microsoft.com/office/drawing/2014/main" id="{13A34FE3-099F-4F13-306E-0D525E02CF6D}"/>
              </a:ext>
            </a:extLst>
          </p:cNvPr>
          <p:cNvSpPr txBox="1"/>
          <p:nvPr/>
        </p:nvSpPr>
        <p:spPr>
          <a:xfrm>
            <a:off x="8534400" y="28067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C9D7E0"/>
                </a:solidFill>
                <a:latin typeface="Arial" panose="020B0604020202020204" pitchFamily="34" charset="0"/>
              </a:rPr>
              <a:t>8/8 phishing detectados
0 falsos negativos · 1 falso positivo</a:t>
            </a:r>
          </a:p>
        </p:txBody>
      </p:sp>
      <p:sp>
        <p:nvSpPr>
          <p:cNvPr id="49" name="External title">
            <a:extLst>
              <a:ext uri="{FF2B5EF4-FFF2-40B4-BE49-F238E27FC236}">
                <a16:creationId xmlns:a16="http://schemas.microsoft.com/office/drawing/2014/main" id="{00128DE3-65A6-C5A9-240B-A902B0068040}"/>
              </a:ext>
            </a:extLst>
          </p:cNvPr>
          <p:cNvSpPr txBox="1"/>
          <p:nvPr/>
        </p:nvSpPr>
        <p:spPr>
          <a:xfrm>
            <a:off x="8229600" y="383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Diagnóstico DIFrauD</a:t>
            </a:r>
          </a:p>
        </p:txBody>
      </p:sp>
      <p:sp>
        <p:nvSpPr>
          <p:cNvPr id="50" name="External metrics">
            <a:extLst>
              <a:ext uri="{FF2B5EF4-FFF2-40B4-BE49-F238E27FC236}">
                <a16:creationId xmlns:a16="http://schemas.microsoft.com/office/drawing/2014/main" id="{629CB0B9-6618-BB16-C075-5BD6F3963AAD}"/>
              </a:ext>
            </a:extLst>
          </p:cNvPr>
          <p:cNvSpPr txBox="1"/>
          <p:nvPr/>
        </p:nvSpPr>
        <p:spPr>
          <a:xfrm>
            <a:off x="8229600" y="43053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200" b="1">
                <a:solidFill>
                  <a:srgbClr val="0F766E"/>
                </a:solidFill>
                <a:latin typeface="Arial" panose="020B0604020202020204" pitchFamily="34" charset="0"/>
              </a:rPr>
              <a:t>90,8 % accuracy
96,4 % recall</a:t>
            </a:r>
          </a:p>
        </p:txBody>
      </p:sp>
      <p:sp>
        <p:nvSpPr>
          <p:cNvPr id="51" name="External caveat">
            <a:extLst>
              <a:ext uri="{FF2B5EF4-FFF2-40B4-BE49-F238E27FC236}">
                <a16:creationId xmlns:a16="http://schemas.microsoft.com/office/drawing/2014/main" id="{10678426-0D39-FF4A-3304-364FE32C6AF0}"/>
              </a:ext>
            </a:extLst>
          </p:cNvPr>
          <p:cNvSpPr txBox="1"/>
          <p:nvPr/>
        </p:nvSpPr>
        <p:spPr>
          <a:xfrm>
            <a:off x="8229600" y="5168900"/>
            <a:ext cx="287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Resultado complementario; no equivale a producción.</a:t>
            </a:r>
          </a:p>
        </p:txBody>
      </p:sp>
    </p:spTree>
    <p:extLst>
      <p:ext uri="{BB962C8B-B14F-4D97-AF65-F5344CB8AC3E}">
        <p14:creationId xmlns:p14="http://schemas.microsoft.com/office/powerpoint/2010/main" val="2010292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2306D38C-DED3-9ADD-85F1-4C25ADE095BC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VALIDACIÓN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5DFCA45A-9281-3817-4172-08B35651E5AA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evidencia cubre código, web y rendimiento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4C038949-B48E-DD49-F523-86F5E34A1B6F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1089E00C-5F33-81B5-47CF-D8FF872E95FA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C205370-FA64-00DB-F97D-F13B243BB5BC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11</a:t>
            </a:r>
          </a:p>
        </p:txBody>
      </p:sp>
      <p:cxnSp>
        <p:nvCxnSpPr>
          <p:cNvPr id="7" name="Metric vertical">
            <a:extLst>
              <a:ext uri="{FF2B5EF4-FFF2-40B4-BE49-F238E27FC236}">
                <a16:creationId xmlns:a16="http://schemas.microsoft.com/office/drawing/2014/main" id="{F643A131-58D2-1ECD-5CAB-D51AFDE9341F}"/>
              </a:ext>
            </a:extLst>
          </p:cNvPr>
          <p:cNvCxnSpPr/>
          <p:nvPr/>
        </p:nvCxnSpPr>
        <p:spPr>
          <a:xfrm>
            <a:off x="6096000" y="1803400"/>
            <a:ext cx="0" cy="382270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Metric horizontal">
            <a:extLst>
              <a:ext uri="{FF2B5EF4-FFF2-40B4-BE49-F238E27FC236}">
                <a16:creationId xmlns:a16="http://schemas.microsoft.com/office/drawing/2014/main" id="{D20394A4-BBD1-DCD4-2DCB-47B65CFBC500}"/>
              </a:ext>
            </a:extLst>
          </p:cNvPr>
          <p:cNvCxnSpPr/>
          <p:nvPr/>
        </p:nvCxnSpPr>
        <p:spPr>
          <a:xfrm>
            <a:off x="1016000" y="3708400"/>
            <a:ext cx="10160000" cy="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tric value">
            <a:extLst>
              <a:ext uri="{FF2B5EF4-FFF2-40B4-BE49-F238E27FC236}">
                <a16:creationId xmlns:a16="http://schemas.microsoft.com/office/drawing/2014/main" id="{92CD4023-4F0B-2657-7FD8-F101271D04EC}"/>
              </a:ext>
            </a:extLst>
          </p:cNvPr>
          <p:cNvSpPr txBox="1"/>
          <p:nvPr/>
        </p:nvSpPr>
        <p:spPr>
          <a:xfrm>
            <a:off x="1143000" y="19050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7131F"/>
                </a:solidFill>
                <a:latin typeface="Arial" panose="020B0604020202020204" pitchFamily="34" charset="0"/>
              </a:rPr>
              <a:t>87</a:t>
            </a:r>
          </a:p>
        </p:txBody>
      </p:sp>
      <p:sp>
        <p:nvSpPr>
          <p:cNvPr id="10" name="Metric title">
            <a:extLst>
              <a:ext uri="{FF2B5EF4-FFF2-40B4-BE49-F238E27FC236}">
                <a16:creationId xmlns:a16="http://schemas.microsoft.com/office/drawing/2014/main" id="{C4EAC619-A6CD-217B-D650-EB3C82BEFE93}"/>
              </a:ext>
            </a:extLst>
          </p:cNvPr>
          <p:cNvSpPr txBox="1"/>
          <p:nvPr/>
        </p:nvSpPr>
        <p:spPr>
          <a:xfrm>
            <a:off x="1143000" y="2641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pruebas Python</a:t>
            </a:r>
          </a:p>
        </p:txBody>
      </p:sp>
      <p:sp>
        <p:nvSpPr>
          <p:cNvPr id="11" name="Metric detail">
            <a:extLst>
              <a:ext uri="{FF2B5EF4-FFF2-40B4-BE49-F238E27FC236}">
                <a16:creationId xmlns:a16="http://schemas.microsoft.com/office/drawing/2014/main" id="{C17FDEBC-570A-0B80-EA53-F42E9818FAF9}"/>
              </a:ext>
            </a:extLst>
          </p:cNvPr>
          <p:cNvSpPr txBox="1"/>
          <p:nvPr/>
        </p:nvSpPr>
        <p:spPr>
          <a:xfrm>
            <a:off x="1143000" y="3048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Componentes, API, modelos e integraciones</a:t>
            </a:r>
          </a:p>
        </p:txBody>
      </p:sp>
      <p:sp>
        <p:nvSpPr>
          <p:cNvPr id="12" name="Metric value">
            <a:extLst>
              <a:ext uri="{FF2B5EF4-FFF2-40B4-BE49-F238E27FC236}">
                <a16:creationId xmlns:a16="http://schemas.microsoft.com/office/drawing/2014/main" id="{156E980B-F2EC-AED0-C31D-2C22907001E5}"/>
              </a:ext>
            </a:extLst>
          </p:cNvPr>
          <p:cNvSpPr txBox="1"/>
          <p:nvPr/>
        </p:nvSpPr>
        <p:spPr>
          <a:xfrm>
            <a:off x="6604000" y="19050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7131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Metric title">
            <a:extLst>
              <a:ext uri="{FF2B5EF4-FFF2-40B4-BE49-F238E27FC236}">
                <a16:creationId xmlns:a16="http://schemas.microsoft.com/office/drawing/2014/main" id="{B8E83EB2-EC35-ACA7-E722-B0CEDEFD127F}"/>
              </a:ext>
            </a:extLst>
          </p:cNvPr>
          <p:cNvSpPr txBox="1"/>
          <p:nvPr/>
        </p:nvSpPr>
        <p:spPr>
          <a:xfrm>
            <a:off x="6604000" y="2641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recorridos Chromium</a:t>
            </a:r>
          </a:p>
        </p:txBody>
      </p:sp>
      <p:sp>
        <p:nvSpPr>
          <p:cNvPr id="14" name="Metric detail">
            <a:extLst>
              <a:ext uri="{FF2B5EF4-FFF2-40B4-BE49-F238E27FC236}">
                <a16:creationId xmlns:a16="http://schemas.microsoft.com/office/drawing/2014/main" id="{A7171175-63C1-7627-FCC0-6F7532A18572}"/>
              </a:ext>
            </a:extLst>
          </p:cNvPr>
          <p:cNvSpPr txBox="1"/>
          <p:nvPr/>
        </p:nvSpPr>
        <p:spPr>
          <a:xfrm>
            <a:off x="6604000" y="3048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Incluido navegador → Streamlit → backend</a:t>
            </a:r>
          </a:p>
        </p:txBody>
      </p:sp>
      <p:sp>
        <p:nvSpPr>
          <p:cNvPr id="15" name="Metric value">
            <a:extLst>
              <a:ext uri="{FF2B5EF4-FFF2-40B4-BE49-F238E27FC236}">
                <a16:creationId xmlns:a16="http://schemas.microsoft.com/office/drawing/2014/main" id="{E41EFF04-1D19-A520-6602-BD53CA7EC647}"/>
              </a:ext>
            </a:extLst>
          </p:cNvPr>
          <p:cNvSpPr txBox="1"/>
          <p:nvPr/>
        </p:nvSpPr>
        <p:spPr>
          <a:xfrm>
            <a:off x="1143000" y="4038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F766E"/>
                </a:solidFill>
                <a:latin typeface="Arial" panose="020B0604020202020204" pitchFamily="34" charset="0"/>
              </a:rPr>
              <a:t>96,6 %</a:t>
            </a:r>
          </a:p>
        </p:txBody>
      </p:sp>
      <p:sp>
        <p:nvSpPr>
          <p:cNvPr id="16" name="Metric title">
            <a:extLst>
              <a:ext uri="{FF2B5EF4-FFF2-40B4-BE49-F238E27FC236}">
                <a16:creationId xmlns:a16="http://schemas.microsoft.com/office/drawing/2014/main" id="{A3699D75-92CC-6FED-8D4C-A8A6B53AE283}"/>
              </a:ext>
            </a:extLst>
          </p:cNvPr>
          <p:cNvSpPr txBox="1"/>
          <p:nvPr/>
        </p:nvSpPr>
        <p:spPr>
          <a:xfrm>
            <a:off x="1143000" y="4775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menos tiempo de importación</a:t>
            </a:r>
          </a:p>
        </p:txBody>
      </p:sp>
      <p:sp>
        <p:nvSpPr>
          <p:cNvPr id="17" name="Metric detail">
            <a:extLst>
              <a:ext uri="{FF2B5EF4-FFF2-40B4-BE49-F238E27FC236}">
                <a16:creationId xmlns:a16="http://schemas.microsoft.com/office/drawing/2014/main" id="{284445D9-6675-F597-D220-EAD149F1D3B1}"/>
              </a:ext>
            </a:extLst>
          </p:cNvPr>
          <p:cNvSpPr txBox="1"/>
          <p:nvPr/>
        </p:nvSpPr>
        <p:spPr>
          <a:xfrm>
            <a:off x="1143000" y="51816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Heurísticas tras diferir dependencias pesadas</a:t>
            </a:r>
          </a:p>
        </p:txBody>
      </p:sp>
      <p:sp>
        <p:nvSpPr>
          <p:cNvPr id="18" name="Metric value">
            <a:extLst>
              <a:ext uri="{FF2B5EF4-FFF2-40B4-BE49-F238E27FC236}">
                <a16:creationId xmlns:a16="http://schemas.microsoft.com/office/drawing/2014/main" id="{68D32CB2-513B-F68F-A01E-C4C72BC5A120}"/>
              </a:ext>
            </a:extLst>
          </p:cNvPr>
          <p:cNvSpPr txBox="1"/>
          <p:nvPr/>
        </p:nvSpPr>
        <p:spPr>
          <a:xfrm>
            <a:off x="6604000" y="4038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F766E"/>
                </a:solidFill>
                <a:latin typeface="Arial" panose="020B0604020202020204" pitchFamily="34" charset="0"/>
              </a:rPr>
              <a:t>76,2 %</a:t>
            </a:r>
          </a:p>
        </p:txBody>
      </p:sp>
      <p:sp>
        <p:nvSpPr>
          <p:cNvPr id="19" name="Metric title">
            <a:extLst>
              <a:ext uri="{FF2B5EF4-FFF2-40B4-BE49-F238E27FC236}">
                <a16:creationId xmlns:a16="http://schemas.microsoft.com/office/drawing/2014/main" id="{70B2F4D8-D5B9-2A3A-8224-57D3B2FAEDB6}"/>
              </a:ext>
            </a:extLst>
          </p:cNvPr>
          <p:cNvSpPr txBox="1"/>
          <p:nvPr/>
        </p:nvSpPr>
        <p:spPr>
          <a:xfrm>
            <a:off x="6604000" y="4775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menos arranque de la web</a:t>
            </a:r>
          </a:p>
        </p:txBody>
      </p:sp>
      <p:sp>
        <p:nvSpPr>
          <p:cNvPr id="20" name="Metric detail">
            <a:extLst>
              <a:ext uri="{FF2B5EF4-FFF2-40B4-BE49-F238E27FC236}">
                <a16:creationId xmlns:a16="http://schemas.microsoft.com/office/drawing/2014/main" id="{41A304F1-E75C-3D17-69C5-6809B2B583EA}"/>
              </a:ext>
            </a:extLst>
          </p:cNvPr>
          <p:cNvSpPr txBox="1"/>
          <p:nvPr/>
        </p:nvSpPr>
        <p:spPr>
          <a:xfrm>
            <a:off x="6604000" y="51816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Mejora medida; inferencia estable</a:t>
            </a:r>
          </a:p>
        </p:txBody>
      </p:sp>
    </p:spTree>
    <p:extLst>
      <p:ext uri="{BB962C8B-B14F-4D97-AF65-F5344CB8AC3E}">
        <p14:creationId xmlns:p14="http://schemas.microsoft.com/office/powerpoint/2010/main" val="4169834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C517317E-C98A-31D2-C1C3-C066FF65F98E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DEMOSTRACIÓN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0DFDB77C-3294-EEB6-0AC9-CCC4B7906F12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Cuatro pasos sostienen la demostración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65B8E916-52D2-9D37-B7AC-0C063957FA59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7DA07517-01B0-9CB8-5C7E-C4E99738DDE4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3480503-4F3F-D344-DFE7-294CFA9F90DC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12</a:t>
            </a:r>
          </a:p>
        </p:txBody>
      </p:sp>
      <p:cxnSp>
        <p:nvCxnSpPr>
          <p:cNvPr id="7" name="Demo arrow">
            <a:extLst>
              <a:ext uri="{FF2B5EF4-FFF2-40B4-BE49-F238E27FC236}">
                <a16:creationId xmlns:a16="http://schemas.microsoft.com/office/drawing/2014/main" id="{A13B6FAB-3310-E1A6-6EF0-74B1CDDB9C45}"/>
              </a:ext>
            </a:extLst>
          </p:cNvPr>
          <p:cNvCxnSpPr/>
          <p:nvPr/>
        </p:nvCxnSpPr>
        <p:spPr>
          <a:xfrm>
            <a:off x="24511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mo arrow">
            <a:extLst>
              <a:ext uri="{FF2B5EF4-FFF2-40B4-BE49-F238E27FC236}">
                <a16:creationId xmlns:a16="http://schemas.microsoft.com/office/drawing/2014/main" id="{1F848EBC-AA17-5219-494E-D95B1A5105BE}"/>
              </a:ext>
            </a:extLst>
          </p:cNvPr>
          <p:cNvCxnSpPr/>
          <p:nvPr/>
        </p:nvCxnSpPr>
        <p:spPr>
          <a:xfrm>
            <a:off x="52197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mo arrow">
            <a:extLst>
              <a:ext uri="{FF2B5EF4-FFF2-40B4-BE49-F238E27FC236}">
                <a16:creationId xmlns:a16="http://schemas.microsoft.com/office/drawing/2014/main" id="{7ED56186-8BA0-05A8-40FC-B9DACDB5C0C0}"/>
              </a:ext>
            </a:extLst>
          </p:cNvPr>
          <p:cNvCxnSpPr/>
          <p:nvPr/>
        </p:nvCxnSpPr>
        <p:spPr>
          <a:xfrm>
            <a:off x="79883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emo number">
            <a:extLst>
              <a:ext uri="{FF2B5EF4-FFF2-40B4-BE49-F238E27FC236}">
                <a16:creationId xmlns:a16="http://schemas.microsoft.com/office/drawing/2014/main" id="{CFF9DFEC-07C1-17F0-A2F2-054DB325F164}"/>
              </a:ext>
            </a:extLst>
          </p:cNvPr>
          <p:cNvSpPr txBox="1"/>
          <p:nvPr/>
        </p:nvSpPr>
        <p:spPr>
          <a:xfrm>
            <a:off x="9144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1" name="Demo node">
            <a:extLst>
              <a:ext uri="{FF2B5EF4-FFF2-40B4-BE49-F238E27FC236}">
                <a16:creationId xmlns:a16="http://schemas.microsoft.com/office/drawing/2014/main" id="{688AC2C1-F32C-D6DF-0264-4771055972F6}"/>
              </a:ext>
            </a:extLst>
          </p:cNvPr>
          <p:cNvSpPr/>
          <p:nvPr/>
        </p:nvSpPr>
        <p:spPr>
          <a:xfrm>
            <a:off x="17653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Demo title">
            <a:extLst>
              <a:ext uri="{FF2B5EF4-FFF2-40B4-BE49-F238E27FC236}">
                <a16:creationId xmlns:a16="http://schemas.microsoft.com/office/drawing/2014/main" id="{5EC43781-4655-4133-C530-A0199D532017}"/>
              </a:ext>
            </a:extLst>
          </p:cNvPr>
          <p:cNvSpPr txBox="1"/>
          <p:nvPr/>
        </p:nvSpPr>
        <p:spPr>
          <a:xfrm>
            <a:off x="9144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Arrancar</a:t>
            </a:r>
          </a:p>
        </p:txBody>
      </p:sp>
      <p:sp>
        <p:nvSpPr>
          <p:cNvPr id="13" name="Demo detail">
            <a:extLst>
              <a:ext uri="{FF2B5EF4-FFF2-40B4-BE49-F238E27FC236}">
                <a16:creationId xmlns:a16="http://schemas.microsoft.com/office/drawing/2014/main" id="{AC1280C9-4353-76CB-3E37-23B2744911AF}"/>
              </a:ext>
            </a:extLst>
          </p:cNvPr>
          <p:cNvSpPr txBox="1"/>
          <p:nvPr/>
        </p:nvSpPr>
        <p:spPr>
          <a:xfrm>
            <a:off x="9144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Backend :8766 y /health</a:t>
            </a:r>
          </a:p>
        </p:txBody>
      </p:sp>
      <p:sp>
        <p:nvSpPr>
          <p:cNvPr id="14" name="Demo number">
            <a:extLst>
              <a:ext uri="{FF2B5EF4-FFF2-40B4-BE49-F238E27FC236}">
                <a16:creationId xmlns:a16="http://schemas.microsoft.com/office/drawing/2014/main" id="{1C63E120-B9F0-BA61-6524-A524CF0F12A7}"/>
              </a:ext>
            </a:extLst>
          </p:cNvPr>
          <p:cNvSpPr txBox="1"/>
          <p:nvPr/>
        </p:nvSpPr>
        <p:spPr>
          <a:xfrm>
            <a:off x="36830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5" name="Demo node">
            <a:extLst>
              <a:ext uri="{FF2B5EF4-FFF2-40B4-BE49-F238E27FC236}">
                <a16:creationId xmlns:a16="http://schemas.microsoft.com/office/drawing/2014/main" id="{3BDCE198-10AD-E68A-0CDD-EA20539968A8}"/>
              </a:ext>
            </a:extLst>
          </p:cNvPr>
          <p:cNvSpPr/>
          <p:nvPr/>
        </p:nvSpPr>
        <p:spPr>
          <a:xfrm>
            <a:off x="45339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Demo title">
            <a:extLst>
              <a:ext uri="{FF2B5EF4-FFF2-40B4-BE49-F238E27FC236}">
                <a16:creationId xmlns:a16="http://schemas.microsoft.com/office/drawing/2014/main" id="{332762BD-8F05-9CE5-3B37-D3C8B99503EF}"/>
              </a:ext>
            </a:extLst>
          </p:cNvPr>
          <p:cNvSpPr txBox="1"/>
          <p:nvPr/>
        </p:nvSpPr>
        <p:spPr>
          <a:xfrm>
            <a:off x="36830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Abrir</a:t>
            </a:r>
          </a:p>
        </p:txBody>
      </p:sp>
      <p:sp>
        <p:nvSpPr>
          <p:cNvPr id="17" name="Demo detail">
            <a:extLst>
              <a:ext uri="{FF2B5EF4-FFF2-40B4-BE49-F238E27FC236}">
                <a16:creationId xmlns:a16="http://schemas.microsoft.com/office/drawing/2014/main" id="{A1196E8D-E5F0-BE40-82BD-F21A4D484008}"/>
              </a:ext>
            </a:extLst>
          </p:cNvPr>
          <p:cNvSpPr txBox="1"/>
          <p:nvPr/>
        </p:nvSpPr>
        <p:spPr>
          <a:xfrm>
            <a:off x="36830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Streamlit conectado</a:t>
            </a:r>
          </a:p>
        </p:txBody>
      </p:sp>
      <p:sp>
        <p:nvSpPr>
          <p:cNvPr id="18" name="Demo number">
            <a:extLst>
              <a:ext uri="{FF2B5EF4-FFF2-40B4-BE49-F238E27FC236}">
                <a16:creationId xmlns:a16="http://schemas.microsoft.com/office/drawing/2014/main" id="{E6DAE55E-FE14-5F30-5B90-1D2595BEBF51}"/>
              </a:ext>
            </a:extLst>
          </p:cNvPr>
          <p:cNvSpPr txBox="1"/>
          <p:nvPr/>
        </p:nvSpPr>
        <p:spPr>
          <a:xfrm>
            <a:off x="64516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9" name="Demo node">
            <a:extLst>
              <a:ext uri="{FF2B5EF4-FFF2-40B4-BE49-F238E27FC236}">
                <a16:creationId xmlns:a16="http://schemas.microsoft.com/office/drawing/2014/main" id="{324DD070-35B3-DCA8-5435-5A4EFCD942B5}"/>
              </a:ext>
            </a:extLst>
          </p:cNvPr>
          <p:cNvSpPr/>
          <p:nvPr/>
        </p:nvSpPr>
        <p:spPr>
          <a:xfrm>
            <a:off x="73025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Demo title">
            <a:extLst>
              <a:ext uri="{FF2B5EF4-FFF2-40B4-BE49-F238E27FC236}">
                <a16:creationId xmlns:a16="http://schemas.microsoft.com/office/drawing/2014/main" id="{C9CDB8B3-81DF-7048-2C40-DCA4427B4943}"/>
              </a:ext>
            </a:extLst>
          </p:cNvPr>
          <p:cNvSpPr txBox="1"/>
          <p:nvPr/>
        </p:nvSpPr>
        <p:spPr>
          <a:xfrm>
            <a:off x="64516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Analizar</a:t>
            </a:r>
          </a:p>
        </p:txBody>
      </p:sp>
      <p:sp>
        <p:nvSpPr>
          <p:cNvPr id="21" name="Demo detail">
            <a:extLst>
              <a:ext uri="{FF2B5EF4-FFF2-40B4-BE49-F238E27FC236}">
                <a16:creationId xmlns:a16="http://schemas.microsoft.com/office/drawing/2014/main" id="{ADC65AA4-361F-B38F-F94A-E4C6F2C1BCE4}"/>
              </a:ext>
            </a:extLst>
          </p:cNvPr>
          <p:cNvSpPr txBox="1"/>
          <p:nvPr/>
        </p:nvSpPr>
        <p:spPr>
          <a:xfrm>
            <a:off x="64516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EML BEC controlado</a:t>
            </a:r>
          </a:p>
        </p:txBody>
      </p:sp>
      <p:sp>
        <p:nvSpPr>
          <p:cNvPr id="22" name="Demo number">
            <a:extLst>
              <a:ext uri="{FF2B5EF4-FFF2-40B4-BE49-F238E27FC236}">
                <a16:creationId xmlns:a16="http://schemas.microsoft.com/office/drawing/2014/main" id="{68F6E7FF-8866-0316-14E4-C0B5BCA7BFCF}"/>
              </a:ext>
            </a:extLst>
          </p:cNvPr>
          <p:cNvSpPr txBox="1"/>
          <p:nvPr/>
        </p:nvSpPr>
        <p:spPr>
          <a:xfrm>
            <a:off x="92202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3" name="Demo node">
            <a:extLst>
              <a:ext uri="{FF2B5EF4-FFF2-40B4-BE49-F238E27FC236}">
                <a16:creationId xmlns:a16="http://schemas.microsoft.com/office/drawing/2014/main" id="{2C97D443-4532-8FD9-4E5B-9B742944A035}"/>
              </a:ext>
            </a:extLst>
          </p:cNvPr>
          <p:cNvSpPr/>
          <p:nvPr/>
        </p:nvSpPr>
        <p:spPr>
          <a:xfrm>
            <a:off x="10071100" y="2870200"/>
            <a:ext cx="533400" cy="5334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Demo title">
            <a:extLst>
              <a:ext uri="{FF2B5EF4-FFF2-40B4-BE49-F238E27FC236}">
                <a16:creationId xmlns:a16="http://schemas.microsoft.com/office/drawing/2014/main" id="{E7DF4160-C898-3E5B-F62E-8733CE1EE71B}"/>
              </a:ext>
            </a:extLst>
          </p:cNvPr>
          <p:cNvSpPr txBox="1"/>
          <p:nvPr/>
        </p:nvSpPr>
        <p:spPr>
          <a:xfrm>
            <a:off x="92202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Explicar</a:t>
            </a:r>
          </a:p>
        </p:txBody>
      </p:sp>
      <p:sp>
        <p:nvSpPr>
          <p:cNvPr id="25" name="Demo detail">
            <a:extLst>
              <a:ext uri="{FF2B5EF4-FFF2-40B4-BE49-F238E27FC236}">
                <a16:creationId xmlns:a16="http://schemas.microsoft.com/office/drawing/2014/main" id="{76D86B5F-9EF3-C692-25D8-3D5B4E31981E}"/>
              </a:ext>
            </a:extLst>
          </p:cNvPr>
          <p:cNvSpPr txBox="1"/>
          <p:nvPr/>
        </p:nvSpPr>
        <p:spPr>
          <a:xfrm>
            <a:off x="92202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Riesgo, señales y modos</a:t>
            </a:r>
          </a:p>
        </p:txBody>
      </p:sp>
      <p:sp>
        <p:nvSpPr>
          <p:cNvPr id="26" name="Demo note">
            <a:extLst>
              <a:ext uri="{FF2B5EF4-FFF2-40B4-BE49-F238E27FC236}">
                <a16:creationId xmlns:a16="http://schemas.microsoft.com/office/drawing/2014/main" id="{62C2A639-D814-7FE9-4E84-C332EB2022D0}"/>
              </a:ext>
            </a:extLst>
          </p:cNvPr>
          <p:cNvSpPr/>
          <p:nvPr/>
        </p:nvSpPr>
        <p:spPr>
          <a:xfrm>
            <a:off x="914400" y="5257800"/>
            <a:ext cx="10363200" cy="685800"/>
          </a:xfrm>
          <a:prstGeom prst="rect">
            <a:avLst/>
          </a:prstGeom>
          <a:solidFill>
            <a:srgbClr val="EAF0F3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LAN note">
            <a:extLst>
              <a:ext uri="{FF2B5EF4-FFF2-40B4-BE49-F238E27FC236}">
                <a16:creationId xmlns:a16="http://schemas.microsoft.com/office/drawing/2014/main" id="{5C9F801C-0729-578A-E952-7D6D8B3FD936}"/>
              </a:ext>
            </a:extLst>
          </p:cNvPr>
          <p:cNvSpPr txBox="1"/>
          <p:nvPr/>
        </p:nvSpPr>
        <p:spPr>
          <a:xfrm>
            <a:off x="1168400" y="5473700"/>
            <a:ext cx="985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 b="1">
                <a:solidFill>
                  <a:srgbClr val="12304A"/>
                </a:solidFill>
                <a:latin typeface="Arial" panose="020B0604020202020204" pitchFamily="34" charset="0"/>
              </a:rPr>
              <a:t>Opcional: móvil en la LAN → Streamlit 0.0.0.0:8501; el backend permanece en 127.0.0.1:8766.</a:t>
            </a:r>
          </a:p>
        </p:txBody>
      </p:sp>
    </p:spTree>
    <p:extLst>
      <p:ext uri="{BB962C8B-B14F-4D97-AF65-F5344CB8AC3E}">
        <p14:creationId xmlns:p14="http://schemas.microsoft.com/office/powerpoint/2010/main" val="3674238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B0DE57C0-A5CC-3C40-01A3-1A64E190E303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DISCUSIÓN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C8ACA7F6-C2D5-095D-9356-94EA022E7BD2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Los límites están definidos, no ocultos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21AEBC83-2A07-C59E-AD63-426E76C971D2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C3916F09-722A-1670-7758-79A468FFF6E6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B43EC04-928D-8AD7-171A-4470A9F1A969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7" name="Demonstrates label">
            <a:extLst>
              <a:ext uri="{FF2B5EF4-FFF2-40B4-BE49-F238E27FC236}">
                <a16:creationId xmlns:a16="http://schemas.microsoft.com/office/drawing/2014/main" id="{52D10A9B-6A56-991A-D228-836779D95283}"/>
              </a:ext>
            </a:extLst>
          </p:cNvPr>
          <p:cNvSpPr txBox="1"/>
          <p:nvPr/>
        </p:nvSpPr>
        <p:spPr>
          <a:xfrm>
            <a:off x="889000" y="1752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LO QUE DEMUESTRA</a:t>
            </a:r>
          </a:p>
        </p:txBody>
      </p:sp>
      <p:sp>
        <p:nvSpPr>
          <p:cNvPr id="8" name="Demonstrates">
            <a:extLst>
              <a:ext uri="{FF2B5EF4-FFF2-40B4-BE49-F238E27FC236}">
                <a16:creationId xmlns:a16="http://schemas.microsoft.com/office/drawing/2014/main" id="{BA3CC961-BF6D-BFED-DE65-70F2CBDBCA06}"/>
              </a:ext>
            </a:extLst>
          </p:cNvPr>
          <p:cNvSpPr txBox="1"/>
          <p:nvPr/>
        </p:nvSpPr>
        <p:spPr>
          <a:xfrm>
            <a:off x="889000" y="22606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07131F"/>
                </a:solidFill>
                <a:latin typeface="Arial" panose="020B0604020202020204" pitchFamily="34" charset="0"/>
              </a:rPr>
              <a:t>• Arquitectura cliente-servidor funcional
• Análisis explicable y bilingüe
• Modelos centrales compartidos
• Evaluación reproducible y errores trazables</a:t>
            </a:r>
          </a:p>
        </p:txBody>
      </p:sp>
      <p:cxnSp>
        <p:nvCxnSpPr>
          <p:cNvPr id="9" name="Limit divider">
            <a:extLst>
              <a:ext uri="{FF2B5EF4-FFF2-40B4-BE49-F238E27FC236}">
                <a16:creationId xmlns:a16="http://schemas.microsoft.com/office/drawing/2014/main" id="{B3412703-B662-D3A2-7AEC-74EB7811256B}"/>
              </a:ext>
            </a:extLst>
          </p:cNvPr>
          <p:cNvCxnSpPr/>
          <p:nvPr/>
        </p:nvCxnSpPr>
        <p:spPr>
          <a:xfrm>
            <a:off x="6096000" y="1714500"/>
            <a:ext cx="0" cy="3467100"/>
          </a:xfrm>
          <a:prstGeom prst="line">
            <a:avLst/>
          </a:prstGeom>
          <a:ln w="1778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oes not label">
            <a:extLst>
              <a:ext uri="{FF2B5EF4-FFF2-40B4-BE49-F238E27FC236}">
                <a16:creationId xmlns:a16="http://schemas.microsoft.com/office/drawing/2014/main" id="{B42DDAB4-5735-27D8-E209-1618F463DC22}"/>
              </a:ext>
            </a:extLst>
          </p:cNvPr>
          <p:cNvSpPr txBox="1"/>
          <p:nvPr/>
        </p:nvSpPr>
        <p:spPr>
          <a:xfrm>
            <a:off x="6731000" y="1752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B42318"/>
                </a:solidFill>
                <a:latin typeface="Arial" panose="020B0604020202020204" pitchFamily="34" charset="0"/>
              </a:rPr>
              <a:t>LO QUE NO AFIRMA</a:t>
            </a:r>
          </a:p>
        </p:txBody>
      </p:sp>
      <p:sp>
        <p:nvSpPr>
          <p:cNvPr id="11" name="Does not">
            <a:extLst>
              <a:ext uri="{FF2B5EF4-FFF2-40B4-BE49-F238E27FC236}">
                <a16:creationId xmlns:a16="http://schemas.microsoft.com/office/drawing/2014/main" id="{06995531-8538-849A-CE34-B8FFB891D8DD}"/>
              </a:ext>
            </a:extLst>
          </p:cNvPr>
          <p:cNvSpPr txBox="1"/>
          <p:nvPr/>
        </p:nvSpPr>
        <p:spPr>
          <a:xfrm>
            <a:off x="6731000" y="2260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07131F"/>
                </a:solidFill>
                <a:latin typeface="Arial" panose="020B0604020202020204" pitchFamily="34" charset="0"/>
              </a:rPr>
              <a:t>• Métricas garantizadas en producción
• Reputación online en tiempo real
• Análisis dinámico de las páginas
• Seguridad multiusuario para Internet</a:t>
            </a:r>
          </a:p>
        </p:txBody>
      </p:sp>
      <p:sp>
        <p:nvSpPr>
          <p:cNvPr id="12" name="Future band">
            <a:extLst>
              <a:ext uri="{FF2B5EF4-FFF2-40B4-BE49-F238E27FC236}">
                <a16:creationId xmlns:a16="http://schemas.microsoft.com/office/drawing/2014/main" id="{0A5C17E3-67A1-DB0A-E72E-892FACE230EF}"/>
              </a:ext>
            </a:extLst>
          </p:cNvPr>
          <p:cNvSpPr/>
          <p:nvPr/>
        </p:nvSpPr>
        <p:spPr>
          <a:xfrm>
            <a:off x="889000" y="4978400"/>
            <a:ext cx="10414000" cy="9906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uture label">
            <a:extLst>
              <a:ext uri="{FF2B5EF4-FFF2-40B4-BE49-F238E27FC236}">
                <a16:creationId xmlns:a16="http://schemas.microsoft.com/office/drawing/2014/main" id="{7C3CDC22-D113-FB52-8ECD-501F0197F0A7}"/>
              </a:ext>
            </a:extLst>
          </p:cNvPr>
          <p:cNvSpPr txBox="1"/>
          <p:nvPr/>
        </p:nvSpPr>
        <p:spPr>
          <a:xfrm>
            <a:off x="1193800" y="52578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CCFBF1"/>
                </a:solidFill>
                <a:latin typeface="Arial" panose="020B0604020202020204" pitchFamily="34" charset="0"/>
              </a:rPr>
              <a:t>PRIORIDAD FUTURA</a:t>
            </a:r>
          </a:p>
        </p:txBody>
      </p:sp>
      <p:sp>
        <p:nvSpPr>
          <p:cNvPr id="14" name="Future items">
            <a:extLst>
              <a:ext uri="{FF2B5EF4-FFF2-40B4-BE49-F238E27FC236}">
                <a16:creationId xmlns:a16="http://schemas.microsoft.com/office/drawing/2014/main" id="{E0A6615A-9D81-2116-F843-EB00CF036F13}"/>
              </a:ext>
            </a:extLst>
          </p:cNvPr>
          <p:cNvSpPr txBox="1"/>
          <p:nvPr/>
        </p:nvSpPr>
        <p:spPr>
          <a:xfrm>
            <a:off x="3352800" y="5181600"/>
            <a:ext cx="756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 b="1">
                <a:solidFill>
                  <a:srgbClr val="FFFFFF"/>
                </a:solidFill>
                <a:latin typeface="Arial" panose="020B0604020202020204" pitchFamily="34" charset="0"/>
              </a:rPr>
              <a:t>Corpus reciente, bilingüe, anonimizado e independiente · TLS y autenticación · reputación de dominios</a:t>
            </a:r>
          </a:p>
        </p:txBody>
      </p:sp>
    </p:spTree>
    <p:extLst>
      <p:ext uri="{BB962C8B-B14F-4D97-AF65-F5344CB8AC3E}">
        <p14:creationId xmlns:p14="http://schemas.microsoft.com/office/powerpoint/2010/main" val="2346132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abel">
            <a:extLst>
              <a:ext uri="{FF2B5EF4-FFF2-40B4-BE49-F238E27FC236}">
                <a16:creationId xmlns:a16="http://schemas.microsoft.com/office/drawing/2014/main" id="{EF8E3202-6E13-9AAA-3154-30636FC97100}"/>
              </a:ext>
            </a:extLst>
          </p:cNvPr>
          <p:cNvSpPr txBox="1"/>
          <p:nvPr/>
        </p:nvSpPr>
        <p:spPr>
          <a:xfrm>
            <a:off x="736600" y="635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CONCLUSIÓN</a:t>
            </a:r>
          </a:p>
        </p:txBody>
      </p:sp>
      <p:sp>
        <p:nvSpPr>
          <p:cNvPr id="3" name="Closing title">
            <a:extLst>
              <a:ext uri="{FF2B5EF4-FFF2-40B4-BE49-F238E27FC236}">
                <a16:creationId xmlns:a16="http://schemas.microsoft.com/office/drawing/2014/main" id="{F92CA4AE-AEA4-A8A4-1DD4-6034A741D2DF}"/>
              </a:ext>
            </a:extLst>
          </p:cNvPr>
          <p:cNvSpPr txBox="1"/>
          <p:nvPr/>
        </p:nvSpPr>
        <p:spPr>
          <a:xfrm>
            <a:off x="736600" y="1651000"/>
            <a:ext cx="774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5000" b="1">
                <a:solidFill>
                  <a:srgbClr val="FFFFFF"/>
                </a:solidFill>
                <a:latin typeface="Arial" panose="020B0604020202020204" pitchFamily="34" charset="0"/>
              </a:rPr>
              <a:t>Una decisión central,
varias interfaces</a:t>
            </a:r>
          </a:p>
        </p:txBody>
      </p:sp>
      <p:sp>
        <p:nvSpPr>
          <p:cNvPr id="4" name="Closing thesis">
            <a:extLst>
              <a:ext uri="{FF2B5EF4-FFF2-40B4-BE49-F238E27FC236}">
                <a16:creationId xmlns:a16="http://schemas.microsoft.com/office/drawing/2014/main" id="{BBB8115C-A78E-AFC6-D6DC-D5B534DB5E31}"/>
              </a:ext>
            </a:extLst>
          </p:cNvPr>
          <p:cNvSpPr txBox="1"/>
          <p:nvPr/>
        </p:nvSpPr>
        <p:spPr>
          <a:xfrm>
            <a:off x="736600" y="3708400"/>
            <a:ext cx="825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900">
                <a:solidFill>
                  <a:srgbClr val="C9D7E0"/>
                </a:solidFill>
                <a:latin typeface="Arial" panose="020B0604020202020204" pitchFamily="34" charset="0"/>
              </a:rPr>
              <a:t>El prototipo separa presentación y análisis, combina evidencias explicables con aprendizaje supervisado y permite actualizar los modelos una sola vez para todos los clientes.</a:t>
            </a:r>
          </a:p>
        </p:txBody>
      </p:sp>
      <p:cxnSp>
        <p:nvCxnSpPr>
          <p:cNvPr id="5" name="Closing rule">
            <a:extLst>
              <a:ext uri="{FF2B5EF4-FFF2-40B4-BE49-F238E27FC236}">
                <a16:creationId xmlns:a16="http://schemas.microsoft.com/office/drawing/2014/main" id="{B46701F5-9A4B-DA12-EFC5-B6CE972AE87B}"/>
              </a:ext>
            </a:extLst>
          </p:cNvPr>
          <p:cNvCxnSpPr/>
          <p:nvPr/>
        </p:nvCxnSpPr>
        <p:spPr>
          <a:xfrm>
            <a:off x="736600" y="5181600"/>
            <a:ext cx="82550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losing contribution">
            <a:extLst>
              <a:ext uri="{FF2B5EF4-FFF2-40B4-BE49-F238E27FC236}">
                <a16:creationId xmlns:a16="http://schemas.microsoft.com/office/drawing/2014/main" id="{5E4B8DF2-60CD-0227-CF3A-1B7F8638B06A}"/>
              </a:ext>
            </a:extLst>
          </p:cNvPr>
          <p:cNvSpPr txBox="1"/>
          <p:nvPr/>
        </p:nvSpPr>
        <p:spPr>
          <a:xfrm>
            <a:off x="736600" y="5473700"/>
            <a:ext cx="825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 b="1">
                <a:solidFill>
                  <a:srgbClr val="FFFFFF"/>
                </a:solidFill>
                <a:latin typeface="Arial" panose="020B0604020202020204" pitchFamily="34" charset="0"/>
              </a:rPr>
              <a:t>Aportación: un detector mantenible, evaluado y preparado para evolucionar sin duplicar modelos.</a:t>
            </a:r>
          </a:p>
        </p:txBody>
      </p:sp>
      <p:sp>
        <p:nvSpPr>
          <p:cNvPr id="7" name="Questions">
            <a:extLst>
              <a:ext uri="{FF2B5EF4-FFF2-40B4-BE49-F238E27FC236}">
                <a16:creationId xmlns:a16="http://schemas.microsoft.com/office/drawing/2014/main" id="{6F4BF09C-629F-1A68-D710-C728409AA74C}"/>
              </a:ext>
            </a:extLst>
          </p:cNvPr>
          <p:cNvSpPr txBox="1"/>
          <p:nvPr/>
        </p:nvSpPr>
        <p:spPr>
          <a:xfrm>
            <a:off x="9423400" y="55372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500" b="1">
                <a:solidFill>
                  <a:srgbClr val="CCFBF1"/>
                </a:solidFill>
                <a:latin typeface="Arial" panose="020B0604020202020204" pitchFamily="34" charset="0"/>
              </a:rPr>
              <a:t>Preguntas del tribunal</a:t>
            </a:r>
          </a:p>
        </p:txBody>
      </p:sp>
    </p:spTree>
    <p:extLst>
      <p:ext uri="{BB962C8B-B14F-4D97-AF65-F5344CB8AC3E}">
        <p14:creationId xmlns:p14="http://schemas.microsoft.com/office/powerpoint/2010/main" val="11214620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1959</Words>
  <Application>Microsoft Office PowerPoint</Application>
  <PresentationFormat>Personalizado</PresentationFormat>
  <Paragraphs>237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VILLARRUBIA</dc:creator>
  <cp:lastModifiedBy>ALEJANDRO VILLARRUBIA</cp:lastModifiedBy>
  <cp:revision>1</cp:revision>
  <dcterms:created xsi:type="dcterms:W3CDTF">2026-08-30T15:20:03Z</dcterms:created>
  <dcterms:modified xsi:type="dcterms:W3CDTF">2026-08-30T15:20:03Z</dcterms:modified>
</cp:coreProperties>
</file>