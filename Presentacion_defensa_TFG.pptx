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7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776E7-F19A-4FA0-9856-598CCCB861C5}" type="datetimeFigureOut">
              <a:rPr lang="es-ES" smtClean="0"/>
              <a:t>28/09/2026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0539D-84EF-452A-AFC8-37BE649E0AA8}" type="slidenum">
              <a:rPr lang="es-ES" smtClean="0"/>
              <a:t>‹Nº›</a:t>
            </a:fld>
            <a:endParaRPr lang="es-ES"/>
          </a:p>
        </p:txBody>
      </p:sp>
    </p:spTree>
    <p:extLst>
      <p:ext uri="{BB962C8B-B14F-4D97-AF65-F5344CB8AC3E}">
        <p14:creationId xmlns:p14="http://schemas.microsoft.com/office/powerpoint/2010/main" val="2011482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Apertura: presentar el problema y la aportación en dos frases. El sistema combina señales explicables y aprendizaje supervisado, pero la decisión se centraliza en un único servidor.
[Sources]
- TFG.tex: portada y resumen.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1</a:t>
            </a:fld>
            <a:endParaRPr lang="es-ES"/>
          </a:p>
        </p:txBody>
      </p:sp>
    </p:spTree>
    <p:extLst>
      <p:ext uri="{BB962C8B-B14F-4D97-AF65-F5344CB8AC3E}">
        <p14:creationId xmlns:p14="http://schemas.microsoft.com/office/powerpoint/2010/main" val="482134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que el phishing combina aspectos técnicos y humanos. La propuesta no devuelve solo una clase: muestra evidencias que permiten revisar la decisión.
[Sources]
- TFG.tex: introducción, señales analizadas y diseño de la aplicación.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2</a:t>
            </a:fld>
            <a:endParaRPr lang="es-ES"/>
          </a:p>
        </p:txBody>
      </p:sp>
    </p:spTree>
    <p:extLst>
      <p:ext uri="{BB962C8B-B14F-4D97-AF65-F5344CB8AC3E}">
        <p14:creationId xmlns:p14="http://schemas.microsoft.com/office/powerpoint/2010/main" val="123418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 los objetivos como decisiones de diseño. La centralización permite que una actualización del servidor llegue a todos los clientes sin distribuir modelos.
[Sources]
- TFG.tex: objetivos y resumen de arquitectura.
- README.md: Cómo está montado.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3</a:t>
            </a:fld>
            <a:endParaRPr lang="es-ES"/>
          </a:p>
        </p:txBody>
      </p:sp>
    </p:spTree>
    <p:extLst>
      <p:ext uri="{BB962C8B-B14F-4D97-AF65-F5344CB8AC3E}">
        <p14:creationId xmlns:p14="http://schemas.microsoft.com/office/powerpoint/2010/main" val="3625928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es la diapositiva clave. El navegador habla con Streamlit y Streamlit con el backend; la extensión y el monitor llaman a la misma API. Local describe la ubicación, no elimina la separación cliente-servidor.
[Sources]
- README.md: Cómo está montado y Componentes.
- TFG.tex: Arquitectura general.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4</a:t>
            </a:fld>
            <a:endParaRPr lang="es-ES"/>
          </a:p>
        </p:txBody>
      </p:sp>
    </p:spTree>
    <p:extLst>
      <p:ext uri="{BB962C8B-B14F-4D97-AF65-F5344CB8AC3E}">
        <p14:creationId xmlns:p14="http://schemas.microsoft.com/office/powerpoint/2010/main" val="1544568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Recorrer el correo de izquierda a derecha. Todas las entradas terminan en la misma representación y todos los clientes reciben el mismo formato de salida.
[Sources]
- TFG.tex: Flujo de análisis y contrato del backend.
- README.md: Contrato del backend.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5</a:t>
            </a:fld>
            <a:endParaRPr lang="es-ES"/>
          </a:p>
        </p:txBody>
      </p:sp>
    </p:spTree>
    <p:extLst>
      <p:ext uri="{BB962C8B-B14F-4D97-AF65-F5344CB8AC3E}">
        <p14:creationId xmlns:p14="http://schemas.microsoft.com/office/powerpoint/2010/main" val="2390121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reglas explicables y patrones léxicos aprendidos; la generalización debe comprobarse con datos independientes. El modo combinado fue calibrado con un conjunto separado; la evidencia individual fuerte no se diluye en la media.
[Sources]
- TFG.tex: Diseño del clasificador y metodología cuantitativa.
- evaluation/calibration_results.json.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6</a:t>
            </a:fld>
            <a:endParaRPr lang="es-ES"/>
          </a:p>
        </p:txBody>
      </p:sp>
    </p:spTree>
    <p:extLst>
      <p:ext uri="{BB962C8B-B14F-4D97-AF65-F5344CB8AC3E}">
        <p14:creationId xmlns:p14="http://schemas.microsoft.com/office/powerpoint/2010/main" val="2103566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por qué la arquitectura responde al requisito principal: se entrena y activa una sola versión por idioma. Los clientes no guardan copias ni ejecutan inferencia local.
[Sources]
- README.md: centralización de modelos.
- TFG.tex: entrenamiento, activación y versión central.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7</a:t>
            </a:fld>
            <a:endParaRPr lang="es-ES"/>
          </a:p>
        </p:txBody>
      </p:sp>
    </p:spTree>
    <p:extLst>
      <p:ext uri="{BB962C8B-B14F-4D97-AF65-F5344CB8AC3E}">
        <p14:creationId xmlns:p14="http://schemas.microsoft.com/office/powerpoint/2010/main" val="1547829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Relacionar cada tecnología con una decisión, no enumerar herramientas. Aclarar que SPF, DKIM y DMARC se interpretan desde las cabeceras recibidas: no hay consultas DNS ni validación criptográfica. Diferenciar los controles ya implementados de los controles necesarios para producción.
[Sources]
- TFG.tex: herramientas, seguridad y privacidad.
- README.md: Configuración y Alcance.
[/Sources]</a:t>
            </a:r>
          </a:p>
          <a:p>
            <a:endParaRPr lang="es-ES"/>
          </a:p>
          <a:p>
            <a:r>
              <a:rPr lang="es-ES"/>
              <a:t>TensorFlow estaba previsto, pero el prototipo reúne TF-IDF y MLP en scikit-learn. No se entrenó ni midió una alternativa equivalente en TensorFlow: la decisión responde al alcance y a la integración, no demuestra mayor precisión o eficiencia. Fuente: memoria/alcance.tex, apartado 5.3.2.</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8</a:t>
            </a:fld>
            <a:endParaRPr lang="es-ES"/>
          </a:p>
        </p:txBody>
      </p:sp>
    </p:spTree>
    <p:extLst>
      <p:ext uri="{BB962C8B-B14F-4D97-AF65-F5344CB8AC3E}">
        <p14:creationId xmlns:p14="http://schemas.microsoft.com/office/powerpoint/2010/main" val="433847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protocolo verifica SHA-256, elimina duplicados y contradicciones y separa la prueba antes del ajuste. Español conserva 209 casos oficiales; inglés usa una división 80/20 con semilla 42. Los seis corpus componentes no se suman al CSV agregado. Los 40 casos de calibración y 16 EML cumplen funciones distintas. DIFrauD y Zenodo son diagnósticos externos con límites explícitos.
[Sources]
- TRAINING_EVALUATION_REPORT.md.
- evaluation/training_sources.json.
- EVALUATION_REPORT.md.
- EXTERNAL_EVALUATION_REPORT.md.
[/Sources]</a:t>
            </a:r>
          </a:p>
          <a:p>
            <a:endParaRPr lang="es-ES"/>
          </a:p>
          <a:p>
            <a:r>
              <a:rPr lang="es-ES"/>
              <a:t>Los corpus ES son spam/ham y usan la clase positiva como proxy textual; el agregado EN mezcla spam y phishing. No equivalen íntegramente a phishing confirmado. Las cinco particiones de calibración no validan por sí mismas los pesos en datos nuevos.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9</a:t>
            </a:fld>
            <a:endParaRPr lang="es-ES"/>
          </a:p>
        </p:txBody>
      </p:sp>
    </p:spTree>
    <p:extLst>
      <p:ext uri="{BB962C8B-B14F-4D97-AF65-F5344CB8AC3E}">
        <p14:creationId xmlns:p14="http://schemas.microsoft.com/office/powerpoint/2010/main" val="712326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los 16 EML reservados, el heurístico acierta los 16 y el combinado acierta 14: detecta los ocho phishing, pero añade dos falsas alarmas. No hay una mejora frente al heurístico en esta prueba. Los escenarios locales permiten comprobar funciones, pero no representan todas las campañas ni una bandeja de entrada real. Un error cambia la exactitud en 6,25 puntos porcentuales.
La combinación permite estudiar señales estructurales y patrones léxicos aprendidos dentro de una arquitectura común. Es una motivación de diseño; estos resultados no demuestran superioridad general. Para elegir un modo en producción habría que comparar los tres sobre el mismo corpus reciente e independiente y valorar el coste de las falsas alarmas. DIFrauD es un diagnóstico complementario con posible solapamiento de fuentes, no la prueba que resuelve esa comparación.
Fuentes: TFG.tex, apartado 6.7; EVALUATION_REPORT.md; EXTERNAL_EVALUATION_REPORT.md.</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10</a:t>
            </a:fld>
            <a:endParaRPr lang="es-ES"/>
          </a:p>
        </p:txBody>
      </p:sp>
    </p:spTree>
    <p:extLst>
      <p:ext uri="{BB962C8B-B14F-4D97-AF65-F5344CB8AC3E}">
        <p14:creationId xmlns:p14="http://schemas.microsoft.com/office/powerpoint/2010/main" val="1851599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 evidencia de tres niveles: pruebas de código, recorrido real del navegador y medición de rendimiento. Las advertencias de convergencia pertenecen a pruebas rápidas del MLP.
[Sources]
- README.md: Validación automática.
- PERFORMANCE_REPORT.md.
- docs/INTEGRATION_VALIDATION.md.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11</a:t>
            </a:fld>
            <a:endParaRPr lang="es-ES"/>
          </a:p>
        </p:txBody>
      </p:sp>
    </p:spTree>
    <p:extLst>
      <p:ext uri="{BB962C8B-B14F-4D97-AF65-F5344CB8AC3E}">
        <p14:creationId xmlns:p14="http://schemas.microsoft.com/office/powerpoint/2010/main" val="62279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demostración debe durar unos tres minutos. Si falla OAuth, usar los EML sintéticos y las capturas de respaldo. En el acceso móvil solo se expone Streamlit a la LAN privada.
[Sources]
- docs/images/ y defense_demo/README.md.
- defense_demo/README.md.
- README.md: acceso temporal desde la red local.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12</a:t>
            </a:fld>
            <a:endParaRPr lang="es-ES"/>
          </a:p>
        </p:txBody>
      </p:sp>
    </p:spTree>
    <p:extLst>
      <p:ext uri="{BB962C8B-B14F-4D97-AF65-F5344CB8AC3E}">
        <p14:creationId xmlns:p14="http://schemas.microsoft.com/office/powerpoint/2010/main" val="4056677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Declarar las limitaciones científicas y funcionales. Faltan datos reales recientes e independientes para extrapolar las métricas. También quedaron fuera objetivos funcionales originales: reputación online, certificados TLS y análisis activo del sitio. La memoria explica sus razones e impacto y reconoce el cumplimiento parcial.
Fuentes: TFG.tex, apartados 5.3.1, 5.11 y 7.1; memoria/alcance.tex.</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13</a:t>
            </a:fld>
            <a:endParaRPr lang="es-ES"/>
          </a:p>
        </p:txBody>
      </p:sp>
    </p:spTree>
    <p:extLst>
      <p:ext uri="{BB962C8B-B14F-4D97-AF65-F5344CB8AC3E}">
        <p14:creationId xmlns:p14="http://schemas.microsoft.com/office/powerpoint/2010/main" val="311043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Cierre: volver a la tesis inicial. El valor no es solo detectar; es centralizar la decisión, conservar la explicación y permitir evolución controlada. Abrir el turno de preguntas.
[Sources]
- TFG.tex: conclusiones.
- README.md: arquitectura y alcance.
[/Sources]</a:t>
            </a:r>
          </a:p>
        </p:txBody>
      </p:sp>
      <p:sp>
        <p:nvSpPr>
          <p:cNvPr id="4" name="Marcador de número de diapositiva 3"/>
          <p:cNvSpPr>
            <a:spLocks noGrp="1"/>
          </p:cNvSpPr>
          <p:nvPr>
            <p:ph type="sldNum" sz="quarter" idx="5"/>
          </p:nvPr>
        </p:nvSpPr>
        <p:spPr/>
        <p:txBody>
          <a:bodyPr/>
          <a:lstStyle/>
          <a:p>
            <a:fld id="{D8A0539D-84EF-452A-AFC8-37BE649E0AA8}" type="slidenum">
              <a:rPr lang="es-ES" smtClean="0"/>
              <a:t>14</a:t>
            </a:fld>
            <a:endParaRPr lang="es-ES"/>
          </a:p>
        </p:txBody>
      </p:sp>
    </p:spTree>
    <p:extLst>
      <p:ext uri="{BB962C8B-B14F-4D97-AF65-F5344CB8AC3E}">
        <p14:creationId xmlns:p14="http://schemas.microsoft.com/office/powerpoint/2010/main" val="2150728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B76D1-AC2C-049D-F856-75A98859EF1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EF6E38DD-E9C2-0AEE-1ABD-683CAF6A84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2C4224E4-141B-B626-3ECC-BFED4F66D129}"/>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5" name="Marcador de pie de página 4">
            <a:extLst>
              <a:ext uri="{FF2B5EF4-FFF2-40B4-BE49-F238E27FC236}">
                <a16:creationId xmlns:a16="http://schemas.microsoft.com/office/drawing/2014/main" id="{843913B8-FA01-F3EC-26E6-57D9D4190A4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69080D1-33BC-9A0A-4A9A-9D3A8D0DCDF7}"/>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1167894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0C5C38-93F9-3C3F-F4F5-F7678F1A8AC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B6F528D-1916-A141-62A2-A4BC41A6F5C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24E472D-F7B9-122D-09AC-3D09EB7B0FF7}"/>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5" name="Marcador de pie de página 4">
            <a:extLst>
              <a:ext uri="{FF2B5EF4-FFF2-40B4-BE49-F238E27FC236}">
                <a16:creationId xmlns:a16="http://schemas.microsoft.com/office/drawing/2014/main" id="{9E0E4B04-130B-2724-F5DF-F704412B18C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228F2D9-2322-297B-DC41-BDAAEC57160C}"/>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153300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A9410F-391D-02A0-8B85-40C5195F867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AF5A4491-A1B2-4582-AE1B-9404FE5DB2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A5002E1-9192-9B9E-E389-7C653E5B706C}"/>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5" name="Marcador de pie de página 4">
            <a:extLst>
              <a:ext uri="{FF2B5EF4-FFF2-40B4-BE49-F238E27FC236}">
                <a16:creationId xmlns:a16="http://schemas.microsoft.com/office/drawing/2014/main" id="{B94F4B01-C3B1-1C8F-F44F-D357C9B7FAC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D115E98-0D57-C149-8E3A-0218D07298CA}"/>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1318572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1B15B7-A3B1-110B-5D51-C3C52039C9A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22D9D36-4E30-0B51-C9DC-31D7B01B0B1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AD2C153F-8F69-4BD7-4684-4E3DD6C99DB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1CC3566E-B586-A144-E16E-F7B2DD00E10E}"/>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6" name="Marcador de pie de página 5">
            <a:extLst>
              <a:ext uri="{FF2B5EF4-FFF2-40B4-BE49-F238E27FC236}">
                <a16:creationId xmlns:a16="http://schemas.microsoft.com/office/drawing/2014/main" id="{9BFC4B1F-0214-6F0F-E545-8FFD6C73E24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2A826ED-A75A-B460-BA23-39E3847E8A14}"/>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2800964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D64A46-F45F-7FAE-2A36-9F599C8F81F3}"/>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89EE4DC-3761-FF56-447F-3C31FFE5B1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74187CC-4F66-F981-1483-A33EA551F08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E50691A1-7E8A-4D51-E1EF-788F3C484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D5E8A47-6FD3-5CBB-ED44-71FDBA1F9AD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3DEBD013-466E-ADEA-6F2E-0FD0F11D6ED2}"/>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8" name="Marcador de pie de página 7">
            <a:extLst>
              <a:ext uri="{FF2B5EF4-FFF2-40B4-BE49-F238E27FC236}">
                <a16:creationId xmlns:a16="http://schemas.microsoft.com/office/drawing/2014/main" id="{2598F4E7-8FDC-24AC-425E-8EF52099DAA2}"/>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723C4865-52CA-D0B7-5FBF-EE03D7B13F36}"/>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4110424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63BC18-32F1-8151-ED56-6BBF14D7F98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A5B3256-7B63-4DC1-6638-DD9A1E71EBFB}"/>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4" name="Marcador de pie de página 3">
            <a:extLst>
              <a:ext uri="{FF2B5EF4-FFF2-40B4-BE49-F238E27FC236}">
                <a16:creationId xmlns:a16="http://schemas.microsoft.com/office/drawing/2014/main" id="{63A8B325-25C8-A74A-127C-73CE388535D9}"/>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4B4F4195-4D3F-E282-7FE3-A5AE0D9EB3F9}"/>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97244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2E81553-8437-A9C3-4394-3264858710D8}"/>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3" name="Marcador de pie de página 2">
            <a:extLst>
              <a:ext uri="{FF2B5EF4-FFF2-40B4-BE49-F238E27FC236}">
                <a16:creationId xmlns:a16="http://schemas.microsoft.com/office/drawing/2014/main" id="{36ED5656-D27D-54A5-DAD0-49FD8043EA3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2E32F0A9-A4AF-A09F-FB9D-A8F325220D42}"/>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1563705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ACC7A-7DD6-D5E4-2A3C-1D82C2C911A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1C96B2E-D407-04E9-FCDD-FC2C9ECFFD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647AE2DB-B1BD-87AC-9797-DB7BAB9AFA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8D0931-575B-9E68-E641-C09200B3DA85}"/>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6" name="Marcador de pie de página 5">
            <a:extLst>
              <a:ext uri="{FF2B5EF4-FFF2-40B4-BE49-F238E27FC236}">
                <a16:creationId xmlns:a16="http://schemas.microsoft.com/office/drawing/2014/main" id="{DF4CC321-23E9-8593-DA40-451FBA21A91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C0320B1-0633-EFB3-F560-958C083B0BFE}"/>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326008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922DC9-D6DE-E357-B4B9-E86E588A38D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5E396747-4F51-F0C7-6FE3-EB2C1E9B6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F9788164-7F0A-019D-6C13-CA55F960F7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C19DC68-4652-16E1-1F75-7A8B1B6D8EBA}"/>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6" name="Marcador de pie de página 5">
            <a:extLst>
              <a:ext uri="{FF2B5EF4-FFF2-40B4-BE49-F238E27FC236}">
                <a16:creationId xmlns:a16="http://schemas.microsoft.com/office/drawing/2014/main" id="{1C0AED29-BE4E-4DC7-2D6E-5714974727F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0502824-45CB-62AA-11E7-E4D969BBDEF1}"/>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2951632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F67ACF-CAA7-4E26-0C35-0EE8B9F451C4}"/>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4405DBF-92E1-48FA-5691-26E7F1B0A88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FD7B248-96A5-1022-C9CC-1965AD09DBD2}"/>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5" name="Marcador de pie de página 4">
            <a:extLst>
              <a:ext uri="{FF2B5EF4-FFF2-40B4-BE49-F238E27FC236}">
                <a16:creationId xmlns:a16="http://schemas.microsoft.com/office/drawing/2014/main" id="{5206BE3B-DA28-EDE4-01C7-7D82A7C74EA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2819EB2-1630-AE50-C237-FBA28D2DDA41}"/>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3180817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D8402F2-DFEE-5DCD-1E03-362201DA97D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2D3CBCF-B2B5-A2D5-3378-16674E0DBC0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9649BEF-73F6-B8B0-B888-8245C97D206F}"/>
              </a:ext>
            </a:extLst>
          </p:cNvPr>
          <p:cNvSpPr>
            <a:spLocks noGrp="1"/>
          </p:cNvSpPr>
          <p:nvPr>
            <p:ph type="dt" sz="half" idx="10"/>
          </p:nvPr>
        </p:nvSpPr>
        <p:spPr/>
        <p:txBody>
          <a:bodyPr/>
          <a:lstStyle/>
          <a:p>
            <a:fld id="{AC7747AD-8D8A-43A2-A24D-7C12FAAD78F6}" type="datetimeFigureOut">
              <a:rPr lang="es-ES" smtClean="0"/>
              <a:t>28/09/2026</a:t>
            </a:fld>
            <a:endParaRPr lang="es-ES"/>
          </a:p>
        </p:txBody>
      </p:sp>
      <p:sp>
        <p:nvSpPr>
          <p:cNvPr id="5" name="Marcador de pie de página 4">
            <a:extLst>
              <a:ext uri="{FF2B5EF4-FFF2-40B4-BE49-F238E27FC236}">
                <a16:creationId xmlns:a16="http://schemas.microsoft.com/office/drawing/2014/main" id="{3485D86D-884F-22E5-16FF-05C193CB032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FE464E9-E9FF-8006-C05B-5E413241605E}"/>
              </a:ext>
            </a:extLst>
          </p:cNvPr>
          <p:cNvSpPr>
            <a:spLocks noGrp="1"/>
          </p:cNvSpPr>
          <p:nvPr>
            <p:ph type="sldNum" sz="quarter" idx="12"/>
          </p:nvPr>
        </p:nvSpPr>
        <p:spPr/>
        <p:txBody>
          <a:bodyPr/>
          <a:lstStyle/>
          <a:p>
            <a:fld id="{656E676A-D5E9-408A-B617-CFA52E39EF33}" type="slidenum">
              <a:rPr lang="es-ES" smtClean="0"/>
              <a:t>‹Nº›</a:t>
            </a:fld>
            <a:endParaRPr lang="es-ES"/>
          </a:p>
        </p:txBody>
      </p:sp>
    </p:spTree>
    <p:extLst>
      <p:ext uri="{BB962C8B-B14F-4D97-AF65-F5344CB8AC3E}">
        <p14:creationId xmlns:p14="http://schemas.microsoft.com/office/powerpoint/2010/main" val="750841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465248C-BD63-66D8-9B35-546F5FAB7E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88E3AD1B-2266-66FD-C10F-BA7E32F260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20526B1-A6B1-CA6B-7829-49CF4EA037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7747AD-8D8A-43A2-A24D-7C12FAAD78F6}" type="datetimeFigureOut">
              <a:rPr lang="es-ES" smtClean="0"/>
              <a:t>28/09/2026</a:t>
            </a:fld>
            <a:endParaRPr lang="es-ES"/>
          </a:p>
        </p:txBody>
      </p:sp>
      <p:sp>
        <p:nvSpPr>
          <p:cNvPr id="5" name="Marcador de pie de página 4">
            <a:extLst>
              <a:ext uri="{FF2B5EF4-FFF2-40B4-BE49-F238E27FC236}">
                <a16:creationId xmlns:a16="http://schemas.microsoft.com/office/drawing/2014/main" id="{E11AB62C-710D-6479-E575-0D5E641F71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C5E6F2D-C0ED-C90F-344B-CF3D82643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6E676A-D5E9-408A-B617-CFA52E39EF33}" type="slidenum">
              <a:rPr lang="es-ES" smtClean="0"/>
              <a:t>‹Nº›</a:t>
            </a:fld>
            <a:endParaRPr lang="es-ES"/>
          </a:p>
        </p:txBody>
      </p:sp>
    </p:spTree>
    <p:extLst>
      <p:ext uri="{BB962C8B-B14F-4D97-AF65-F5344CB8AC3E}">
        <p14:creationId xmlns:p14="http://schemas.microsoft.com/office/powerpoint/2010/main" val="2773711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31F"/>
        </a:solidFill>
        <a:effectLst/>
      </p:bgPr>
    </p:bg>
    <p:spTree>
      <p:nvGrpSpPr>
        <p:cNvPr id="1" name=""/>
        <p:cNvGrpSpPr/>
        <p:nvPr/>
      </p:nvGrpSpPr>
      <p:grpSpPr>
        <a:xfrm>
          <a:off x="0" y="0"/>
          <a:ext cx="0" cy="0"/>
          <a:chOff x="0" y="0"/>
          <a:chExt cx="0" cy="0"/>
        </a:xfrm>
      </p:grpSpPr>
      <p:sp>
        <p:nvSpPr>
          <p:cNvPr id="2" name="Accent field">
            <a:extLst>
              <a:ext uri="{FF2B5EF4-FFF2-40B4-BE49-F238E27FC236}">
                <a16:creationId xmlns:a16="http://schemas.microsoft.com/office/drawing/2014/main" id="{0B2E154F-E380-118B-DA73-0FAABAC4E6CF}"/>
              </a:ext>
            </a:extLst>
          </p:cNvPr>
          <p:cNvSpPr/>
          <p:nvPr/>
        </p:nvSpPr>
        <p:spPr>
          <a:xfrm>
            <a:off x="9245600" y="0"/>
            <a:ext cx="2946400" cy="6858000"/>
          </a:xfrm>
          <a:prstGeom prst="rect">
            <a:avLst/>
          </a:prstGeom>
          <a:solidFill>
            <a:srgbClr val="123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 name="Cover accent">
            <a:extLst>
              <a:ext uri="{FF2B5EF4-FFF2-40B4-BE49-F238E27FC236}">
                <a16:creationId xmlns:a16="http://schemas.microsoft.com/office/drawing/2014/main" id="{C482C71F-9383-56ED-5512-0421999A4ABD}"/>
              </a:ext>
            </a:extLst>
          </p:cNvPr>
          <p:cNvCxnSpPr/>
          <p:nvPr/>
        </p:nvCxnSpPr>
        <p:spPr>
          <a:xfrm>
            <a:off x="9652000" y="1193800"/>
            <a:ext cx="1778000" cy="0"/>
          </a:xfrm>
          <a:prstGeom prst="line">
            <a:avLst/>
          </a:prstGeom>
          <a:ln w="63500">
            <a:solidFill>
              <a:srgbClr val="0D9488"/>
            </a:solidFill>
          </a:ln>
        </p:spPr>
        <p:style>
          <a:lnRef idx="2">
            <a:schemeClr val="accent1"/>
          </a:lnRef>
          <a:fillRef idx="0">
            <a:schemeClr val="accent1"/>
          </a:fillRef>
          <a:effectRef idx="1">
            <a:schemeClr val="accent1"/>
          </a:effectRef>
          <a:fontRef idx="minor">
            <a:schemeClr val="tx1"/>
          </a:fontRef>
        </p:style>
      </p:cxnSp>
      <p:cxnSp>
        <p:nvCxnSpPr>
          <p:cNvPr id="4" name="Cover secondary accent">
            <a:extLst>
              <a:ext uri="{FF2B5EF4-FFF2-40B4-BE49-F238E27FC236}">
                <a16:creationId xmlns:a16="http://schemas.microsoft.com/office/drawing/2014/main" id="{73084782-5C48-FB54-4EBE-81CE59623B8B}"/>
              </a:ext>
            </a:extLst>
          </p:cNvPr>
          <p:cNvCxnSpPr/>
          <p:nvPr/>
        </p:nvCxnSpPr>
        <p:spPr>
          <a:xfrm>
            <a:off x="9652000" y="1498600"/>
            <a:ext cx="1397000" cy="0"/>
          </a:xfrm>
          <a:prstGeom prst="line">
            <a:avLst/>
          </a:prstGeom>
          <a:ln w="25400">
            <a:solidFill>
              <a:srgbClr val="38BDF8"/>
            </a:solidFill>
          </a:ln>
        </p:spPr>
        <p:style>
          <a:lnRef idx="2">
            <a:schemeClr val="accent1"/>
          </a:lnRef>
          <a:fillRef idx="0">
            <a:schemeClr val="accent1"/>
          </a:fillRef>
          <a:effectRef idx="1">
            <a:schemeClr val="accent1"/>
          </a:effectRef>
          <a:fontRef idx="minor">
            <a:schemeClr val="tx1"/>
          </a:fontRef>
        </p:style>
      </p:cxnSp>
      <p:sp>
        <p:nvSpPr>
          <p:cNvPr id="5" name="Eyebrow">
            <a:extLst>
              <a:ext uri="{FF2B5EF4-FFF2-40B4-BE49-F238E27FC236}">
                <a16:creationId xmlns:a16="http://schemas.microsoft.com/office/drawing/2014/main" id="{59AB776E-77A6-0AE4-37E2-7FFEFE989974}"/>
              </a:ext>
            </a:extLst>
          </p:cNvPr>
          <p:cNvSpPr txBox="1"/>
          <p:nvPr/>
        </p:nvSpPr>
        <p:spPr>
          <a:xfrm>
            <a:off x="736600" y="635000"/>
            <a:ext cx="5334000" cy="276999"/>
          </a:xfrm>
          <a:prstGeom prst="rect">
            <a:avLst/>
          </a:prstGeom>
          <a:noFill/>
        </p:spPr>
        <p:txBody>
          <a:bodyPr vert="horz" wrap="square" lIns="0" tIns="0" rIns="0" bIns="0" rtlCol="0" anchor="t">
            <a:noAutofit/>
          </a:bodyPr>
          <a:lstStyle/>
          <a:p>
            <a:pPr>
              <a:spcAft>
                <a:spcPts val="400"/>
              </a:spcAft>
            </a:pPr>
            <a:r>
              <a:rPr lang="es-ES" sz="1200" b="1">
                <a:solidFill>
                  <a:srgbClr val="CCFBF1"/>
                </a:solidFill>
                <a:latin typeface="Arial" panose="020B0604020202020204" pitchFamily="34" charset="0"/>
              </a:rPr>
              <a:t>TRABAJO FIN DE GRADO · SEPTIEMBRE 2026</a:t>
            </a:r>
          </a:p>
        </p:txBody>
      </p:sp>
      <p:sp>
        <p:nvSpPr>
          <p:cNvPr id="6" name="Deck title">
            <a:extLst>
              <a:ext uri="{FF2B5EF4-FFF2-40B4-BE49-F238E27FC236}">
                <a16:creationId xmlns:a16="http://schemas.microsoft.com/office/drawing/2014/main" id="{F10C81D9-5833-9BD7-901A-857AFECD1862}"/>
              </a:ext>
            </a:extLst>
          </p:cNvPr>
          <p:cNvSpPr txBox="1"/>
          <p:nvPr/>
        </p:nvSpPr>
        <p:spPr>
          <a:xfrm>
            <a:off x="736600" y="1752600"/>
            <a:ext cx="8128000" cy="1727200"/>
          </a:xfrm>
          <a:prstGeom prst="rect">
            <a:avLst/>
          </a:prstGeom>
          <a:noFill/>
        </p:spPr>
        <p:txBody>
          <a:bodyPr vert="horz" wrap="square" lIns="0" tIns="0" rIns="0" bIns="0" rtlCol="0" anchor="t">
            <a:noAutofit/>
          </a:bodyPr>
          <a:lstStyle/>
          <a:p>
            <a:pPr>
              <a:spcAft>
                <a:spcPts val="400"/>
              </a:spcAft>
            </a:pPr>
            <a:r>
              <a:rPr lang="es-ES" sz="4200" b="1">
                <a:solidFill>
                  <a:srgbClr val="FFFFFF"/>
                </a:solidFill>
                <a:latin typeface="Arial" panose="020B0604020202020204" pitchFamily="34" charset="0"/>
              </a:rPr>
              <a:t>Phishing. Técnicas y métodos
de ataque y cómo detectarlos</a:t>
            </a:r>
          </a:p>
        </p:txBody>
      </p:sp>
      <p:sp>
        <p:nvSpPr>
          <p:cNvPr id="7" name="Subtitle">
            <a:extLst>
              <a:ext uri="{FF2B5EF4-FFF2-40B4-BE49-F238E27FC236}">
                <a16:creationId xmlns:a16="http://schemas.microsoft.com/office/drawing/2014/main" id="{A71EEA9F-AD0F-E586-130F-EFF4C80233A3}"/>
              </a:ext>
            </a:extLst>
          </p:cNvPr>
          <p:cNvSpPr txBox="1"/>
          <p:nvPr/>
        </p:nvSpPr>
        <p:spPr>
          <a:xfrm>
            <a:off x="736600" y="3860800"/>
            <a:ext cx="7493000" cy="276999"/>
          </a:xfrm>
          <a:prstGeom prst="rect">
            <a:avLst/>
          </a:prstGeom>
          <a:noFill/>
        </p:spPr>
        <p:txBody>
          <a:bodyPr vert="horz" wrap="square" lIns="0" tIns="0" rIns="0" bIns="0" rtlCol="0" anchor="t">
            <a:noAutofit/>
          </a:bodyPr>
          <a:lstStyle/>
          <a:p>
            <a:pPr>
              <a:spcAft>
                <a:spcPts val="400"/>
              </a:spcAft>
            </a:pPr>
            <a:r>
              <a:rPr lang="es-ES" sz="2100">
                <a:solidFill>
                  <a:srgbClr val="C9D7E0"/>
                </a:solidFill>
                <a:latin typeface="Arial" panose="020B0604020202020204" pitchFamily="34" charset="0"/>
              </a:rPr>
              <a:t>Sistema cliente-servidor con análisis explicable y modelos centralizados</a:t>
            </a:r>
          </a:p>
        </p:txBody>
      </p:sp>
      <p:sp>
        <p:nvSpPr>
          <p:cNvPr id="8" name="Author">
            <a:extLst>
              <a:ext uri="{FF2B5EF4-FFF2-40B4-BE49-F238E27FC236}">
                <a16:creationId xmlns:a16="http://schemas.microsoft.com/office/drawing/2014/main" id="{8C8D8F7A-CA37-8322-43C9-9F4E815EF372}"/>
              </a:ext>
            </a:extLst>
          </p:cNvPr>
          <p:cNvSpPr txBox="1"/>
          <p:nvPr/>
        </p:nvSpPr>
        <p:spPr>
          <a:xfrm>
            <a:off x="736600" y="5461000"/>
            <a:ext cx="4826000" cy="276999"/>
          </a:xfrm>
          <a:prstGeom prst="rect">
            <a:avLst/>
          </a:prstGeom>
          <a:noFill/>
        </p:spPr>
        <p:txBody>
          <a:bodyPr vert="horz" wrap="square" lIns="0" tIns="0" rIns="0" bIns="0" rtlCol="0" anchor="t">
            <a:noAutofit/>
          </a:bodyPr>
          <a:lstStyle/>
          <a:p>
            <a:pPr>
              <a:spcAft>
                <a:spcPts val="400"/>
              </a:spcAft>
            </a:pPr>
            <a:r>
              <a:rPr lang="es-ES" sz="1600" b="1">
                <a:solidFill>
                  <a:srgbClr val="FFFFFF"/>
                </a:solidFill>
                <a:latin typeface="Arial" panose="020B0604020202020204" pitchFamily="34" charset="0"/>
              </a:rPr>
              <a:t>Alejandro Villarrubia García</a:t>
            </a:r>
          </a:p>
        </p:txBody>
      </p:sp>
      <p:sp>
        <p:nvSpPr>
          <p:cNvPr id="9" name="Tutor">
            <a:extLst>
              <a:ext uri="{FF2B5EF4-FFF2-40B4-BE49-F238E27FC236}">
                <a16:creationId xmlns:a16="http://schemas.microsoft.com/office/drawing/2014/main" id="{E8DA51EC-D355-343E-F7AD-6B9B43999579}"/>
              </a:ext>
            </a:extLst>
          </p:cNvPr>
          <p:cNvSpPr txBox="1"/>
          <p:nvPr/>
        </p:nvSpPr>
        <p:spPr>
          <a:xfrm>
            <a:off x="736600" y="5842000"/>
            <a:ext cx="5334000" cy="276999"/>
          </a:xfrm>
          <a:prstGeom prst="rect">
            <a:avLst/>
          </a:prstGeom>
          <a:noFill/>
        </p:spPr>
        <p:txBody>
          <a:bodyPr vert="horz" wrap="square" lIns="0" tIns="0" rIns="0" bIns="0" rtlCol="0" anchor="t">
            <a:noAutofit/>
          </a:bodyPr>
          <a:lstStyle/>
          <a:p>
            <a:pPr>
              <a:spcAft>
                <a:spcPts val="400"/>
              </a:spcAft>
            </a:pPr>
            <a:r>
              <a:rPr lang="es-ES" sz="1200">
                <a:solidFill>
                  <a:srgbClr val="A9BBC8"/>
                </a:solidFill>
                <a:latin typeface="Arial" panose="020B0604020202020204" pitchFamily="34" charset="0"/>
              </a:rPr>
              <a:t>Tutor: Carmelo González García · UEMC</a:t>
            </a:r>
          </a:p>
        </p:txBody>
      </p:sp>
      <p:sp>
        <p:nvSpPr>
          <p:cNvPr id="10" name="Cover mark">
            <a:extLst>
              <a:ext uri="{FF2B5EF4-FFF2-40B4-BE49-F238E27FC236}">
                <a16:creationId xmlns:a16="http://schemas.microsoft.com/office/drawing/2014/main" id="{FF02AEE5-113A-E4BE-75B1-6F29B361E844}"/>
              </a:ext>
            </a:extLst>
          </p:cNvPr>
          <p:cNvSpPr txBox="1"/>
          <p:nvPr/>
        </p:nvSpPr>
        <p:spPr>
          <a:xfrm>
            <a:off x="9753600" y="5080000"/>
            <a:ext cx="1905000" cy="276999"/>
          </a:xfrm>
          <a:prstGeom prst="rect">
            <a:avLst/>
          </a:prstGeom>
          <a:noFill/>
        </p:spPr>
        <p:txBody>
          <a:bodyPr vert="horz" wrap="square" lIns="0" tIns="0" rIns="0" bIns="0" rtlCol="0" anchor="ctr">
            <a:noAutofit/>
          </a:bodyPr>
          <a:lstStyle/>
          <a:p>
            <a:pPr algn="ctr">
              <a:spcAft>
                <a:spcPts val="400"/>
              </a:spcAft>
            </a:pPr>
            <a:r>
              <a:rPr lang="es-ES" sz="3800" b="1">
                <a:solidFill>
                  <a:srgbClr val="FFFFFF"/>
                </a:solidFill>
                <a:latin typeface="Arial" panose="020B0604020202020204" pitchFamily="34" charset="0"/>
              </a:rPr>
              <a:t>TFG</a:t>
            </a:r>
          </a:p>
        </p:txBody>
      </p:sp>
    </p:spTree>
    <p:extLst>
      <p:ext uri="{BB962C8B-B14F-4D97-AF65-F5344CB8AC3E}">
        <p14:creationId xmlns:p14="http://schemas.microsoft.com/office/powerpoint/2010/main" val="170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66282B8F-FCC9-B712-1344-001C7931E8C1}"/>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MOTIVACIÓN</a:t>
            </a:r>
          </a:p>
        </p:txBody>
      </p:sp>
      <p:sp>
        <p:nvSpPr>
          <p:cNvPr id="3" name="Slide title">
            <a:extLst>
              <a:ext uri="{FF2B5EF4-FFF2-40B4-BE49-F238E27FC236}">
                <a16:creationId xmlns:a16="http://schemas.microsoft.com/office/drawing/2014/main" id="{084AB8CB-FA89-60BA-35D0-FE797FE33D08}"/>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El problema exige una decisión explicable</a:t>
            </a:r>
          </a:p>
        </p:txBody>
      </p:sp>
      <p:cxnSp>
        <p:nvCxnSpPr>
          <p:cNvPr id="4" name="Accent rule">
            <a:extLst>
              <a:ext uri="{FF2B5EF4-FFF2-40B4-BE49-F238E27FC236}">
                <a16:creationId xmlns:a16="http://schemas.microsoft.com/office/drawing/2014/main" id="{3ACD994A-7F2D-13D0-EBD8-8896091C98CC}"/>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4B82520E-A8E8-2210-B554-1800D0310BB6}"/>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6F0979A2-ECC4-E0EF-2917-24C9662DFB66}"/>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2</a:t>
            </a:r>
          </a:p>
        </p:txBody>
      </p:sp>
      <p:sp>
        <p:nvSpPr>
          <p:cNvPr id="7" name="Question field">
            <a:extLst>
              <a:ext uri="{FF2B5EF4-FFF2-40B4-BE49-F238E27FC236}">
                <a16:creationId xmlns:a16="http://schemas.microsoft.com/office/drawing/2014/main" id="{FD2819EE-54BC-9496-783C-678396EF8DD5}"/>
              </a:ext>
            </a:extLst>
          </p:cNvPr>
          <p:cNvSpPr/>
          <p:nvPr/>
        </p:nvSpPr>
        <p:spPr>
          <a:xfrm>
            <a:off x="711200" y="1676400"/>
            <a:ext cx="3835400" cy="4089400"/>
          </a:xfrm>
          <a:prstGeom prst="rect">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Question">
            <a:extLst>
              <a:ext uri="{FF2B5EF4-FFF2-40B4-BE49-F238E27FC236}">
                <a16:creationId xmlns:a16="http://schemas.microsoft.com/office/drawing/2014/main" id="{03692E7B-2B9A-C1A7-1E2E-B5C02BDC64B6}"/>
              </a:ext>
            </a:extLst>
          </p:cNvPr>
          <p:cNvSpPr txBox="1"/>
          <p:nvPr/>
        </p:nvSpPr>
        <p:spPr>
          <a:xfrm>
            <a:off x="1041400" y="2159000"/>
            <a:ext cx="3175000" cy="276999"/>
          </a:xfrm>
          <a:prstGeom prst="rect">
            <a:avLst/>
          </a:prstGeom>
          <a:noFill/>
        </p:spPr>
        <p:txBody>
          <a:bodyPr vert="horz" wrap="square" lIns="0" tIns="0" rIns="0" bIns="0" rtlCol="0" anchor="t">
            <a:noAutofit/>
          </a:bodyPr>
          <a:lstStyle/>
          <a:p>
            <a:pPr>
              <a:spcAft>
                <a:spcPts val="400"/>
              </a:spcAft>
            </a:pPr>
            <a:r>
              <a:rPr lang="es-ES" sz="3200" b="1">
                <a:solidFill>
                  <a:srgbClr val="FFFFFF"/>
                </a:solidFill>
                <a:latin typeface="Arial" panose="020B0604020202020204" pitchFamily="34" charset="0"/>
              </a:rPr>
              <a:t>¿Cómo detectar phishing sin perder la explicación?</a:t>
            </a:r>
          </a:p>
        </p:txBody>
      </p:sp>
      <p:sp>
        <p:nvSpPr>
          <p:cNvPr id="9" name="Question support">
            <a:extLst>
              <a:ext uri="{FF2B5EF4-FFF2-40B4-BE49-F238E27FC236}">
                <a16:creationId xmlns:a16="http://schemas.microsoft.com/office/drawing/2014/main" id="{464AA31B-A255-B27E-ADF1-96BCF7693A9F}"/>
              </a:ext>
            </a:extLst>
          </p:cNvPr>
          <p:cNvSpPr txBox="1"/>
          <p:nvPr/>
        </p:nvSpPr>
        <p:spPr>
          <a:xfrm>
            <a:off x="1041400" y="4635500"/>
            <a:ext cx="3048000" cy="276999"/>
          </a:xfrm>
          <a:prstGeom prst="rect">
            <a:avLst/>
          </a:prstGeom>
          <a:noFill/>
        </p:spPr>
        <p:txBody>
          <a:bodyPr vert="horz" wrap="square" lIns="0" tIns="0" rIns="0" bIns="0" rtlCol="0" anchor="t">
            <a:noAutofit/>
          </a:bodyPr>
          <a:lstStyle/>
          <a:p>
            <a:pPr>
              <a:spcAft>
                <a:spcPts val="400"/>
              </a:spcAft>
            </a:pPr>
            <a:r>
              <a:rPr lang="es-ES" sz="1500">
                <a:solidFill>
                  <a:srgbClr val="C9D7E0"/>
                </a:solidFill>
                <a:latin typeface="Arial" panose="020B0604020202020204" pitchFamily="34" charset="0"/>
              </a:rPr>
              <a:t>Una etiqueta aislada no basta para revisar un correo sospechoso.</a:t>
            </a:r>
          </a:p>
        </p:txBody>
      </p:sp>
      <p:sp>
        <p:nvSpPr>
          <p:cNvPr id="10" name="Index 01">
            <a:extLst>
              <a:ext uri="{FF2B5EF4-FFF2-40B4-BE49-F238E27FC236}">
                <a16:creationId xmlns:a16="http://schemas.microsoft.com/office/drawing/2014/main" id="{3F75D770-C10C-E8F1-81FC-B0DB12907E31}"/>
              </a:ext>
            </a:extLst>
          </p:cNvPr>
          <p:cNvSpPr txBox="1"/>
          <p:nvPr/>
        </p:nvSpPr>
        <p:spPr>
          <a:xfrm>
            <a:off x="5207000" y="1803400"/>
            <a:ext cx="533400" cy="276999"/>
          </a:xfrm>
          <a:prstGeom prst="rect">
            <a:avLst/>
          </a:prstGeom>
          <a:noFill/>
        </p:spPr>
        <p:txBody>
          <a:bodyPr vert="horz" wrap="square" lIns="0" tIns="0" rIns="0" bIns="0" rtlCol="0" anchor="t">
            <a:noAutofit/>
          </a:bodyPr>
          <a:lstStyle/>
          <a:p>
            <a:pPr>
              <a:spcAft>
                <a:spcPts val="400"/>
              </a:spcAft>
            </a:pPr>
            <a:r>
              <a:rPr lang="es-ES" sz="1200" b="1">
                <a:solidFill>
                  <a:srgbClr val="0F766E"/>
                </a:solidFill>
                <a:latin typeface="Arial" panose="020B0604020202020204" pitchFamily="34" charset="0"/>
              </a:rPr>
              <a:t>01</a:t>
            </a:r>
          </a:p>
        </p:txBody>
      </p:sp>
      <p:sp>
        <p:nvSpPr>
          <p:cNvPr id="11" name="Problem 01">
            <a:extLst>
              <a:ext uri="{FF2B5EF4-FFF2-40B4-BE49-F238E27FC236}">
                <a16:creationId xmlns:a16="http://schemas.microsoft.com/office/drawing/2014/main" id="{47071CBA-DB5F-1B79-C778-14DAEF33482A}"/>
              </a:ext>
            </a:extLst>
          </p:cNvPr>
          <p:cNvSpPr txBox="1"/>
          <p:nvPr/>
        </p:nvSpPr>
        <p:spPr>
          <a:xfrm>
            <a:off x="5943600" y="1803400"/>
            <a:ext cx="4191000" cy="276999"/>
          </a:xfrm>
          <a:prstGeom prst="rect">
            <a:avLst/>
          </a:prstGeom>
          <a:noFill/>
        </p:spPr>
        <p:txBody>
          <a:bodyPr vert="horz" wrap="square" lIns="0" tIns="0" rIns="0" bIns="0" rtlCol="0" anchor="t">
            <a:noAutofit/>
          </a:bodyPr>
          <a:lstStyle/>
          <a:p>
            <a:pPr>
              <a:spcAft>
                <a:spcPts val="400"/>
              </a:spcAft>
            </a:pPr>
            <a:r>
              <a:rPr lang="es-ES" sz="2100" b="1">
                <a:solidFill>
                  <a:srgbClr val="07131F"/>
                </a:solidFill>
                <a:latin typeface="Arial" panose="020B0604020202020204" pitchFamily="34" charset="0"/>
              </a:rPr>
              <a:t>Señales técnicas</a:t>
            </a:r>
          </a:p>
        </p:txBody>
      </p:sp>
      <p:sp>
        <p:nvSpPr>
          <p:cNvPr id="12" name="Problem detail 01">
            <a:extLst>
              <a:ext uri="{FF2B5EF4-FFF2-40B4-BE49-F238E27FC236}">
                <a16:creationId xmlns:a16="http://schemas.microsoft.com/office/drawing/2014/main" id="{8DE031AA-F714-27AA-DA39-BADE6F787F65}"/>
              </a:ext>
            </a:extLst>
          </p:cNvPr>
          <p:cNvSpPr txBox="1"/>
          <p:nvPr/>
        </p:nvSpPr>
        <p:spPr>
          <a:xfrm>
            <a:off x="5943600" y="2235200"/>
            <a:ext cx="4953000" cy="276999"/>
          </a:xfrm>
          <a:prstGeom prst="rect">
            <a:avLst/>
          </a:prstGeom>
          <a:noFill/>
        </p:spPr>
        <p:txBody>
          <a:bodyPr vert="horz" wrap="square" lIns="0" tIns="0" rIns="0" bIns="0" rtlCol="0" anchor="t">
            <a:noAutofit/>
          </a:bodyPr>
          <a:lstStyle/>
          <a:p>
            <a:pPr>
              <a:spcAft>
                <a:spcPts val="400"/>
              </a:spcAft>
            </a:pPr>
            <a:r>
              <a:rPr lang="es-ES" sz="1500">
                <a:solidFill>
                  <a:srgbClr val="49657A"/>
                </a:solidFill>
                <a:latin typeface="Arial" panose="020B0604020202020204" pitchFamily="34" charset="0"/>
              </a:rPr>
              <a:t>Resultados SPF, DKIM y DMARC presentes en cabeceras, dominios, URLs, HTML y adjuntos.</a:t>
            </a:r>
          </a:p>
        </p:txBody>
      </p:sp>
      <p:cxnSp>
        <p:nvCxnSpPr>
          <p:cNvPr id="13" name="Problem divider">
            <a:extLst>
              <a:ext uri="{FF2B5EF4-FFF2-40B4-BE49-F238E27FC236}">
                <a16:creationId xmlns:a16="http://schemas.microsoft.com/office/drawing/2014/main" id="{31ED712C-9A96-9A0D-FA63-11A5DFEAC1BB}"/>
              </a:ext>
            </a:extLst>
          </p:cNvPr>
          <p:cNvCxnSpPr/>
          <p:nvPr/>
        </p:nvCxnSpPr>
        <p:spPr>
          <a:xfrm>
            <a:off x="5207000" y="2959100"/>
            <a:ext cx="58420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14" name="Index 02">
            <a:extLst>
              <a:ext uri="{FF2B5EF4-FFF2-40B4-BE49-F238E27FC236}">
                <a16:creationId xmlns:a16="http://schemas.microsoft.com/office/drawing/2014/main" id="{21D32E6F-B8B2-77FE-BF6C-40744426DD35}"/>
              </a:ext>
            </a:extLst>
          </p:cNvPr>
          <p:cNvSpPr txBox="1"/>
          <p:nvPr/>
        </p:nvSpPr>
        <p:spPr>
          <a:xfrm>
            <a:off x="5207000" y="3175000"/>
            <a:ext cx="533400" cy="276999"/>
          </a:xfrm>
          <a:prstGeom prst="rect">
            <a:avLst/>
          </a:prstGeom>
          <a:noFill/>
        </p:spPr>
        <p:txBody>
          <a:bodyPr vert="horz" wrap="square" lIns="0" tIns="0" rIns="0" bIns="0" rtlCol="0" anchor="t">
            <a:noAutofit/>
          </a:bodyPr>
          <a:lstStyle/>
          <a:p>
            <a:pPr>
              <a:spcAft>
                <a:spcPts val="400"/>
              </a:spcAft>
            </a:pPr>
            <a:r>
              <a:rPr lang="es-ES" sz="1200" b="1">
                <a:solidFill>
                  <a:srgbClr val="0F766E"/>
                </a:solidFill>
                <a:latin typeface="Arial" panose="020B0604020202020204" pitchFamily="34" charset="0"/>
              </a:rPr>
              <a:t>02</a:t>
            </a:r>
          </a:p>
        </p:txBody>
      </p:sp>
      <p:sp>
        <p:nvSpPr>
          <p:cNvPr id="15" name="Problem 02">
            <a:extLst>
              <a:ext uri="{FF2B5EF4-FFF2-40B4-BE49-F238E27FC236}">
                <a16:creationId xmlns:a16="http://schemas.microsoft.com/office/drawing/2014/main" id="{0E38F294-5374-F347-F4EE-5B96EEF09BF9}"/>
              </a:ext>
            </a:extLst>
          </p:cNvPr>
          <p:cNvSpPr txBox="1"/>
          <p:nvPr/>
        </p:nvSpPr>
        <p:spPr>
          <a:xfrm>
            <a:off x="5943600" y="3175000"/>
            <a:ext cx="4191000" cy="276999"/>
          </a:xfrm>
          <a:prstGeom prst="rect">
            <a:avLst/>
          </a:prstGeom>
          <a:noFill/>
        </p:spPr>
        <p:txBody>
          <a:bodyPr vert="horz" wrap="square" lIns="0" tIns="0" rIns="0" bIns="0" rtlCol="0" anchor="t">
            <a:noAutofit/>
          </a:bodyPr>
          <a:lstStyle/>
          <a:p>
            <a:pPr>
              <a:spcAft>
                <a:spcPts val="400"/>
              </a:spcAft>
            </a:pPr>
            <a:r>
              <a:rPr lang="es-ES" sz="2100" b="1">
                <a:solidFill>
                  <a:srgbClr val="07131F"/>
                </a:solidFill>
                <a:latin typeface="Arial" panose="020B0604020202020204" pitchFamily="34" charset="0"/>
              </a:rPr>
              <a:t>Ingeniería social</a:t>
            </a:r>
          </a:p>
        </p:txBody>
      </p:sp>
      <p:sp>
        <p:nvSpPr>
          <p:cNvPr id="16" name="Problem detail 02">
            <a:extLst>
              <a:ext uri="{FF2B5EF4-FFF2-40B4-BE49-F238E27FC236}">
                <a16:creationId xmlns:a16="http://schemas.microsoft.com/office/drawing/2014/main" id="{7C7156AE-B72B-DEAB-7A73-41AF26C08CEB}"/>
              </a:ext>
            </a:extLst>
          </p:cNvPr>
          <p:cNvSpPr txBox="1"/>
          <p:nvPr/>
        </p:nvSpPr>
        <p:spPr>
          <a:xfrm>
            <a:off x="5943600" y="3606800"/>
            <a:ext cx="4953000" cy="276999"/>
          </a:xfrm>
          <a:prstGeom prst="rect">
            <a:avLst/>
          </a:prstGeom>
          <a:noFill/>
        </p:spPr>
        <p:txBody>
          <a:bodyPr vert="horz" wrap="square" lIns="0" tIns="0" rIns="0" bIns="0" rtlCol="0" anchor="t">
            <a:noAutofit/>
          </a:bodyPr>
          <a:lstStyle/>
          <a:p>
            <a:pPr>
              <a:spcAft>
                <a:spcPts val="400"/>
              </a:spcAft>
            </a:pPr>
            <a:r>
              <a:rPr lang="es-ES" sz="1500">
                <a:solidFill>
                  <a:srgbClr val="49657A"/>
                </a:solidFill>
                <a:latin typeface="Arial" panose="020B0604020202020204" pitchFamily="34" charset="0"/>
              </a:rPr>
              <a:t>Urgencia, autoridad, credenciales y patrones BEC.</a:t>
            </a:r>
          </a:p>
        </p:txBody>
      </p:sp>
      <p:cxnSp>
        <p:nvCxnSpPr>
          <p:cNvPr id="17" name="Problem divider">
            <a:extLst>
              <a:ext uri="{FF2B5EF4-FFF2-40B4-BE49-F238E27FC236}">
                <a16:creationId xmlns:a16="http://schemas.microsoft.com/office/drawing/2014/main" id="{E9DC63F0-6EDC-ABAC-1462-EED0EBC39E13}"/>
              </a:ext>
            </a:extLst>
          </p:cNvPr>
          <p:cNvCxnSpPr/>
          <p:nvPr/>
        </p:nvCxnSpPr>
        <p:spPr>
          <a:xfrm>
            <a:off x="5207000" y="4330700"/>
            <a:ext cx="58420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18" name="Index 03">
            <a:extLst>
              <a:ext uri="{FF2B5EF4-FFF2-40B4-BE49-F238E27FC236}">
                <a16:creationId xmlns:a16="http://schemas.microsoft.com/office/drawing/2014/main" id="{352263DC-6B73-4665-1A5E-A9DD7E4C3DDA}"/>
              </a:ext>
            </a:extLst>
          </p:cNvPr>
          <p:cNvSpPr txBox="1"/>
          <p:nvPr/>
        </p:nvSpPr>
        <p:spPr>
          <a:xfrm>
            <a:off x="5207000" y="4546600"/>
            <a:ext cx="533400" cy="276999"/>
          </a:xfrm>
          <a:prstGeom prst="rect">
            <a:avLst/>
          </a:prstGeom>
          <a:noFill/>
        </p:spPr>
        <p:txBody>
          <a:bodyPr vert="horz" wrap="square" lIns="0" tIns="0" rIns="0" bIns="0" rtlCol="0" anchor="t">
            <a:noAutofit/>
          </a:bodyPr>
          <a:lstStyle/>
          <a:p>
            <a:pPr>
              <a:spcAft>
                <a:spcPts val="400"/>
              </a:spcAft>
            </a:pPr>
            <a:r>
              <a:rPr lang="es-ES" sz="1200" b="1">
                <a:solidFill>
                  <a:srgbClr val="0F766E"/>
                </a:solidFill>
                <a:latin typeface="Arial" panose="020B0604020202020204" pitchFamily="34" charset="0"/>
              </a:rPr>
              <a:t>03</a:t>
            </a:r>
          </a:p>
        </p:txBody>
      </p:sp>
      <p:sp>
        <p:nvSpPr>
          <p:cNvPr id="19" name="Problem 03">
            <a:extLst>
              <a:ext uri="{FF2B5EF4-FFF2-40B4-BE49-F238E27FC236}">
                <a16:creationId xmlns:a16="http://schemas.microsoft.com/office/drawing/2014/main" id="{0AA77791-6853-6F33-7D91-5FF6BA00FAB7}"/>
              </a:ext>
            </a:extLst>
          </p:cNvPr>
          <p:cNvSpPr txBox="1"/>
          <p:nvPr/>
        </p:nvSpPr>
        <p:spPr>
          <a:xfrm>
            <a:off x="5943600" y="4546600"/>
            <a:ext cx="4191000" cy="276999"/>
          </a:xfrm>
          <a:prstGeom prst="rect">
            <a:avLst/>
          </a:prstGeom>
          <a:noFill/>
        </p:spPr>
        <p:txBody>
          <a:bodyPr vert="horz" wrap="square" lIns="0" tIns="0" rIns="0" bIns="0" rtlCol="0" anchor="t">
            <a:noAutofit/>
          </a:bodyPr>
          <a:lstStyle/>
          <a:p>
            <a:pPr>
              <a:spcAft>
                <a:spcPts val="400"/>
              </a:spcAft>
            </a:pPr>
            <a:r>
              <a:rPr lang="es-ES" sz="2100" b="1">
                <a:solidFill>
                  <a:srgbClr val="07131F"/>
                </a:solidFill>
                <a:latin typeface="Arial" panose="020B0604020202020204" pitchFamily="34" charset="0"/>
              </a:rPr>
              <a:t>Decisión trazable</a:t>
            </a:r>
          </a:p>
        </p:txBody>
      </p:sp>
      <p:sp>
        <p:nvSpPr>
          <p:cNvPr id="20" name="Problem detail 03">
            <a:extLst>
              <a:ext uri="{FF2B5EF4-FFF2-40B4-BE49-F238E27FC236}">
                <a16:creationId xmlns:a16="http://schemas.microsoft.com/office/drawing/2014/main" id="{6EFB48E7-FC89-3032-12F4-7355BC6901C8}"/>
              </a:ext>
            </a:extLst>
          </p:cNvPr>
          <p:cNvSpPr txBox="1"/>
          <p:nvPr/>
        </p:nvSpPr>
        <p:spPr>
          <a:xfrm>
            <a:off x="5943600" y="4978400"/>
            <a:ext cx="4953000" cy="276999"/>
          </a:xfrm>
          <a:prstGeom prst="rect">
            <a:avLst/>
          </a:prstGeom>
          <a:noFill/>
        </p:spPr>
        <p:txBody>
          <a:bodyPr vert="horz" wrap="square" lIns="0" tIns="0" rIns="0" bIns="0" rtlCol="0" anchor="t">
            <a:noAutofit/>
          </a:bodyPr>
          <a:lstStyle/>
          <a:p>
            <a:pPr>
              <a:spcAft>
                <a:spcPts val="400"/>
              </a:spcAft>
            </a:pPr>
            <a:r>
              <a:rPr lang="es-ES" sz="1500">
                <a:solidFill>
                  <a:srgbClr val="49657A"/>
                </a:solidFill>
                <a:latin typeface="Arial" panose="020B0604020202020204" pitchFamily="34" charset="0"/>
              </a:rPr>
              <a:t>Riesgo, señales activadas y explicación para el usuario.</a:t>
            </a:r>
          </a:p>
        </p:txBody>
      </p:sp>
    </p:spTree>
    <p:extLst>
      <p:ext uri="{BB962C8B-B14F-4D97-AF65-F5344CB8AC3E}">
        <p14:creationId xmlns:p14="http://schemas.microsoft.com/office/powerpoint/2010/main" val="2717017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AE58BEA6-82F8-106E-5D6F-5721124ED5B8}"/>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OBJETIVOS</a:t>
            </a:r>
          </a:p>
        </p:txBody>
      </p:sp>
      <p:sp>
        <p:nvSpPr>
          <p:cNvPr id="3" name="Slide title">
            <a:extLst>
              <a:ext uri="{FF2B5EF4-FFF2-40B4-BE49-F238E27FC236}">
                <a16:creationId xmlns:a16="http://schemas.microsoft.com/office/drawing/2014/main" id="{B26A846F-2A83-75CB-8E7E-A776F0330E19}"/>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Objetivos del prototipo desarrollado</a:t>
            </a:r>
          </a:p>
        </p:txBody>
      </p:sp>
      <p:cxnSp>
        <p:nvCxnSpPr>
          <p:cNvPr id="4" name="Accent rule">
            <a:extLst>
              <a:ext uri="{FF2B5EF4-FFF2-40B4-BE49-F238E27FC236}">
                <a16:creationId xmlns:a16="http://schemas.microsoft.com/office/drawing/2014/main" id="{FA95CAAC-B223-06E7-AFC6-0C2B4D3F6E38}"/>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8E5E0220-7F0D-7FB4-979B-DB16237CE2A5}"/>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73F0F0F1-0D45-F6D7-2DA2-3D43FFD94349}"/>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3</a:t>
            </a:r>
          </a:p>
        </p:txBody>
      </p:sp>
      <p:sp>
        <p:nvSpPr>
          <p:cNvPr id="7" name="Thesis">
            <a:extLst>
              <a:ext uri="{FF2B5EF4-FFF2-40B4-BE49-F238E27FC236}">
                <a16:creationId xmlns:a16="http://schemas.microsoft.com/office/drawing/2014/main" id="{674C1B07-3764-C3CB-4EB1-815B5CA21EFC}"/>
              </a:ext>
            </a:extLst>
          </p:cNvPr>
          <p:cNvSpPr txBox="1"/>
          <p:nvPr/>
        </p:nvSpPr>
        <p:spPr>
          <a:xfrm>
            <a:off x="711200" y="1625600"/>
            <a:ext cx="6604000" cy="276999"/>
          </a:xfrm>
          <a:prstGeom prst="rect">
            <a:avLst/>
          </a:prstGeom>
          <a:noFill/>
        </p:spPr>
        <p:txBody>
          <a:bodyPr vert="horz" wrap="square" lIns="0" tIns="0" rIns="0" bIns="0" rtlCol="0" anchor="t">
            <a:noAutofit/>
          </a:bodyPr>
          <a:lstStyle/>
          <a:p>
            <a:pPr>
              <a:spcAft>
                <a:spcPts val="400"/>
              </a:spcAft>
            </a:pPr>
            <a:r>
              <a:rPr lang="es-ES" sz="2500" b="1">
                <a:solidFill>
                  <a:srgbClr val="12304A"/>
                </a:solidFill>
                <a:latin typeface="Arial" panose="020B0604020202020204" pitchFamily="34" charset="0"/>
              </a:rPr>
              <a:t>Una única lógica de análisis; varias formas de usarla.</a:t>
            </a:r>
          </a:p>
        </p:txBody>
      </p:sp>
      <p:sp>
        <p:nvSpPr>
          <p:cNvPr id="8" name="Thesis detail">
            <a:extLst>
              <a:ext uri="{FF2B5EF4-FFF2-40B4-BE49-F238E27FC236}">
                <a16:creationId xmlns:a16="http://schemas.microsoft.com/office/drawing/2014/main" id="{387F1EB7-0A2A-030D-54B8-0D901D047100}"/>
              </a:ext>
            </a:extLst>
          </p:cNvPr>
          <p:cNvSpPr txBox="1"/>
          <p:nvPr/>
        </p:nvSpPr>
        <p:spPr>
          <a:xfrm>
            <a:off x="711200" y="2540000"/>
            <a:ext cx="6350000" cy="276999"/>
          </a:xfrm>
          <a:prstGeom prst="rect">
            <a:avLst/>
          </a:prstGeom>
          <a:noFill/>
        </p:spPr>
        <p:txBody>
          <a:bodyPr vert="horz" wrap="square" lIns="0" tIns="0" rIns="0" bIns="0" rtlCol="0" anchor="t">
            <a:noAutofit/>
          </a:bodyPr>
          <a:lstStyle/>
          <a:p>
            <a:pPr>
              <a:spcAft>
                <a:spcPts val="400"/>
              </a:spcAft>
            </a:pPr>
            <a:r>
              <a:rPr lang="es-ES" sz="1700">
                <a:solidFill>
                  <a:srgbClr val="49657A"/>
                </a:solidFill>
                <a:latin typeface="Arial" panose="020B0604020202020204" pitchFamily="34" charset="0"/>
              </a:rPr>
              <a:t>El cliente recoge datos y presenta resultados. El servidor concentra parser, detectores, entrenamiento y versiones.</a:t>
            </a:r>
          </a:p>
        </p:txBody>
      </p:sp>
      <p:sp>
        <p:nvSpPr>
          <p:cNvPr id="9" name="Objective index">
            <a:extLst>
              <a:ext uri="{FF2B5EF4-FFF2-40B4-BE49-F238E27FC236}">
                <a16:creationId xmlns:a16="http://schemas.microsoft.com/office/drawing/2014/main" id="{620295A2-B5F4-0028-3E5C-21CC8D7014A4}"/>
              </a:ext>
            </a:extLst>
          </p:cNvPr>
          <p:cNvSpPr txBox="1"/>
          <p:nvPr/>
        </p:nvSpPr>
        <p:spPr>
          <a:xfrm>
            <a:off x="7874000" y="1574800"/>
            <a:ext cx="584200" cy="276999"/>
          </a:xfrm>
          <a:prstGeom prst="rect">
            <a:avLst/>
          </a:prstGeom>
          <a:noFill/>
        </p:spPr>
        <p:txBody>
          <a:bodyPr vert="horz" wrap="square" lIns="0" tIns="0" rIns="0" bIns="0" rtlCol="0" anchor="t">
            <a:noAutofit/>
          </a:bodyPr>
          <a:lstStyle/>
          <a:p>
            <a:pPr>
              <a:spcAft>
                <a:spcPts val="400"/>
              </a:spcAft>
            </a:pPr>
            <a:r>
              <a:rPr lang="es-ES" sz="1400" b="1">
                <a:solidFill>
                  <a:srgbClr val="0F766E"/>
                </a:solidFill>
                <a:latin typeface="Arial" panose="020B0604020202020204" pitchFamily="34" charset="0"/>
              </a:rPr>
              <a:t>01</a:t>
            </a:r>
          </a:p>
        </p:txBody>
      </p:sp>
      <p:sp>
        <p:nvSpPr>
          <p:cNvPr id="10" name="Objective">
            <a:extLst>
              <a:ext uri="{FF2B5EF4-FFF2-40B4-BE49-F238E27FC236}">
                <a16:creationId xmlns:a16="http://schemas.microsoft.com/office/drawing/2014/main" id="{5160BE07-1F15-D921-D7F2-D58A747D0652}"/>
              </a:ext>
            </a:extLst>
          </p:cNvPr>
          <p:cNvSpPr txBox="1"/>
          <p:nvPr/>
        </p:nvSpPr>
        <p:spPr>
          <a:xfrm>
            <a:off x="8686800" y="1574800"/>
            <a:ext cx="2794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Aceptar varias entradas</a:t>
            </a:r>
          </a:p>
        </p:txBody>
      </p:sp>
      <p:sp>
        <p:nvSpPr>
          <p:cNvPr id="11" name="Objective detail">
            <a:extLst>
              <a:ext uri="{FF2B5EF4-FFF2-40B4-BE49-F238E27FC236}">
                <a16:creationId xmlns:a16="http://schemas.microsoft.com/office/drawing/2014/main" id="{38D42055-F8EF-3A84-647C-D05B493BF215}"/>
              </a:ext>
            </a:extLst>
          </p:cNvPr>
          <p:cNvSpPr txBox="1"/>
          <p:nvPr/>
        </p:nvSpPr>
        <p:spPr>
          <a:xfrm>
            <a:off x="8686800" y="1955800"/>
            <a:ext cx="279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Texto, EML, Gmail, extensión y monitor.</a:t>
            </a:r>
          </a:p>
        </p:txBody>
      </p:sp>
      <p:cxnSp>
        <p:nvCxnSpPr>
          <p:cNvPr id="12" name="Objective divider">
            <a:extLst>
              <a:ext uri="{FF2B5EF4-FFF2-40B4-BE49-F238E27FC236}">
                <a16:creationId xmlns:a16="http://schemas.microsoft.com/office/drawing/2014/main" id="{317D2E1C-0FF3-7CB7-FECC-6EAB1EAAC490}"/>
              </a:ext>
            </a:extLst>
          </p:cNvPr>
          <p:cNvCxnSpPr/>
          <p:nvPr/>
        </p:nvCxnSpPr>
        <p:spPr>
          <a:xfrm>
            <a:off x="7874000" y="2616200"/>
            <a:ext cx="36068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13" name="Objective index">
            <a:extLst>
              <a:ext uri="{FF2B5EF4-FFF2-40B4-BE49-F238E27FC236}">
                <a16:creationId xmlns:a16="http://schemas.microsoft.com/office/drawing/2014/main" id="{9424A006-4148-3234-572F-B19B1818C030}"/>
              </a:ext>
            </a:extLst>
          </p:cNvPr>
          <p:cNvSpPr txBox="1"/>
          <p:nvPr/>
        </p:nvSpPr>
        <p:spPr>
          <a:xfrm>
            <a:off x="7874000" y="2743200"/>
            <a:ext cx="584200" cy="276999"/>
          </a:xfrm>
          <a:prstGeom prst="rect">
            <a:avLst/>
          </a:prstGeom>
          <a:noFill/>
        </p:spPr>
        <p:txBody>
          <a:bodyPr vert="horz" wrap="square" lIns="0" tIns="0" rIns="0" bIns="0" rtlCol="0" anchor="t">
            <a:noAutofit/>
          </a:bodyPr>
          <a:lstStyle/>
          <a:p>
            <a:pPr>
              <a:spcAft>
                <a:spcPts val="400"/>
              </a:spcAft>
            </a:pPr>
            <a:r>
              <a:rPr lang="es-ES" sz="1400" b="1">
                <a:solidFill>
                  <a:srgbClr val="0F766E"/>
                </a:solidFill>
                <a:latin typeface="Arial" panose="020B0604020202020204" pitchFamily="34" charset="0"/>
              </a:rPr>
              <a:t>02</a:t>
            </a:r>
          </a:p>
        </p:txBody>
      </p:sp>
      <p:sp>
        <p:nvSpPr>
          <p:cNvPr id="14" name="Objective">
            <a:extLst>
              <a:ext uri="{FF2B5EF4-FFF2-40B4-BE49-F238E27FC236}">
                <a16:creationId xmlns:a16="http://schemas.microsoft.com/office/drawing/2014/main" id="{597E9232-21FB-5F90-1418-A0D52AD7EA6E}"/>
              </a:ext>
            </a:extLst>
          </p:cNvPr>
          <p:cNvSpPr txBox="1"/>
          <p:nvPr/>
        </p:nvSpPr>
        <p:spPr>
          <a:xfrm>
            <a:off x="8686800" y="2743200"/>
            <a:ext cx="2794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Combinar dos enfoques</a:t>
            </a:r>
          </a:p>
        </p:txBody>
      </p:sp>
      <p:sp>
        <p:nvSpPr>
          <p:cNvPr id="15" name="Objective detail">
            <a:extLst>
              <a:ext uri="{FF2B5EF4-FFF2-40B4-BE49-F238E27FC236}">
                <a16:creationId xmlns:a16="http://schemas.microsoft.com/office/drawing/2014/main" id="{D6499B9F-7FC2-F5B3-D85C-987C08E2F875}"/>
              </a:ext>
            </a:extLst>
          </p:cNvPr>
          <p:cNvSpPr txBox="1"/>
          <p:nvPr/>
        </p:nvSpPr>
        <p:spPr>
          <a:xfrm>
            <a:off x="8686800" y="3124200"/>
            <a:ext cx="279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Heurística explicable + TF-IDF y MLP bilingüe.</a:t>
            </a:r>
          </a:p>
        </p:txBody>
      </p:sp>
      <p:cxnSp>
        <p:nvCxnSpPr>
          <p:cNvPr id="16" name="Objective divider">
            <a:extLst>
              <a:ext uri="{FF2B5EF4-FFF2-40B4-BE49-F238E27FC236}">
                <a16:creationId xmlns:a16="http://schemas.microsoft.com/office/drawing/2014/main" id="{06FBE7F9-5ACD-8A00-B87E-E2EE874D5364}"/>
              </a:ext>
            </a:extLst>
          </p:cNvPr>
          <p:cNvCxnSpPr/>
          <p:nvPr/>
        </p:nvCxnSpPr>
        <p:spPr>
          <a:xfrm>
            <a:off x="7874000" y="3784600"/>
            <a:ext cx="36068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17" name="Objective index">
            <a:extLst>
              <a:ext uri="{FF2B5EF4-FFF2-40B4-BE49-F238E27FC236}">
                <a16:creationId xmlns:a16="http://schemas.microsoft.com/office/drawing/2014/main" id="{B804F1B3-5464-E40B-D53F-BE36661F2534}"/>
              </a:ext>
            </a:extLst>
          </p:cNvPr>
          <p:cNvSpPr txBox="1"/>
          <p:nvPr/>
        </p:nvSpPr>
        <p:spPr>
          <a:xfrm>
            <a:off x="7874000" y="3911600"/>
            <a:ext cx="584200" cy="276999"/>
          </a:xfrm>
          <a:prstGeom prst="rect">
            <a:avLst/>
          </a:prstGeom>
          <a:noFill/>
        </p:spPr>
        <p:txBody>
          <a:bodyPr vert="horz" wrap="square" lIns="0" tIns="0" rIns="0" bIns="0" rtlCol="0" anchor="t">
            <a:noAutofit/>
          </a:bodyPr>
          <a:lstStyle/>
          <a:p>
            <a:pPr>
              <a:spcAft>
                <a:spcPts val="400"/>
              </a:spcAft>
            </a:pPr>
            <a:r>
              <a:rPr lang="es-ES" sz="1400" b="1">
                <a:solidFill>
                  <a:srgbClr val="0F766E"/>
                </a:solidFill>
                <a:latin typeface="Arial" panose="020B0604020202020204" pitchFamily="34" charset="0"/>
              </a:rPr>
              <a:t>03</a:t>
            </a:r>
          </a:p>
        </p:txBody>
      </p:sp>
      <p:sp>
        <p:nvSpPr>
          <p:cNvPr id="18" name="Objective">
            <a:extLst>
              <a:ext uri="{FF2B5EF4-FFF2-40B4-BE49-F238E27FC236}">
                <a16:creationId xmlns:a16="http://schemas.microsoft.com/office/drawing/2014/main" id="{3E38BFC5-7337-54E5-FE6D-CB8B717A0222}"/>
              </a:ext>
            </a:extLst>
          </p:cNvPr>
          <p:cNvSpPr txBox="1"/>
          <p:nvPr/>
        </p:nvSpPr>
        <p:spPr>
          <a:xfrm>
            <a:off x="8686800" y="3911600"/>
            <a:ext cx="2794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Compartir los modelos</a:t>
            </a:r>
          </a:p>
        </p:txBody>
      </p:sp>
      <p:sp>
        <p:nvSpPr>
          <p:cNvPr id="19" name="Objective detail">
            <a:extLst>
              <a:ext uri="{FF2B5EF4-FFF2-40B4-BE49-F238E27FC236}">
                <a16:creationId xmlns:a16="http://schemas.microsoft.com/office/drawing/2014/main" id="{246C7F56-7DA4-D12C-2A45-18B24A18FB9E}"/>
              </a:ext>
            </a:extLst>
          </p:cNvPr>
          <p:cNvSpPr txBox="1"/>
          <p:nvPr/>
        </p:nvSpPr>
        <p:spPr>
          <a:xfrm>
            <a:off x="8686800" y="4292600"/>
            <a:ext cx="279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Una versión activa ES/EN para todos los clientes.</a:t>
            </a:r>
          </a:p>
        </p:txBody>
      </p:sp>
      <p:cxnSp>
        <p:nvCxnSpPr>
          <p:cNvPr id="20" name="Objective divider">
            <a:extLst>
              <a:ext uri="{FF2B5EF4-FFF2-40B4-BE49-F238E27FC236}">
                <a16:creationId xmlns:a16="http://schemas.microsoft.com/office/drawing/2014/main" id="{18EA106C-B70A-1DB2-91FD-17E82B4026F2}"/>
              </a:ext>
            </a:extLst>
          </p:cNvPr>
          <p:cNvCxnSpPr/>
          <p:nvPr/>
        </p:nvCxnSpPr>
        <p:spPr>
          <a:xfrm>
            <a:off x="7874000" y="4953000"/>
            <a:ext cx="36068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21" name="Objective index">
            <a:extLst>
              <a:ext uri="{FF2B5EF4-FFF2-40B4-BE49-F238E27FC236}">
                <a16:creationId xmlns:a16="http://schemas.microsoft.com/office/drawing/2014/main" id="{4CA66F27-69A5-6526-9A2E-DEB9CCB07944}"/>
              </a:ext>
            </a:extLst>
          </p:cNvPr>
          <p:cNvSpPr txBox="1"/>
          <p:nvPr/>
        </p:nvSpPr>
        <p:spPr>
          <a:xfrm>
            <a:off x="7874000" y="5080000"/>
            <a:ext cx="584200" cy="276999"/>
          </a:xfrm>
          <a:prstGeom prst="rect">
            <a:avLst/>
          </a:prstGeom>
          <a:noFill/>
        </p:spPr>
        <p:txBody>
          <a:bodyPr vert="horz" wrap="square" lIns="0" tIns="0" rIns="0" bIns="0" rtlCol="0" anchor="t">
            <a:noAutofit/>
          </a:bodyPr>
          <a:lstStyle/>
          <a:p>
            <a:pPr>
              <a:spcAft>
                <a:spcPts val="400"/>
              </a:spcAft>
            </a:pPr>
            <a:r>
              <a:rPr lang="es-ES" sz="1400" b="1">
                <a:solidFill>
                  <a:srgbClr val="0F766E"/>
                </a:solidFill>
                <a:latin typeface="Arial" panose="020B0604020202020204" pitchFamily="34" charset="0"/>
              </a:rPr>
              <a:t>04</a:t>
            </a:r>
          </a:p>
        </p:txBody>
      </p:sp>
      <p:sp>
        <p:nvSpPr>
          <p:cNvPr id="22" name="Objective">
            <a:extLst>
              <a:ext uri="{FF2B5EF4-FFF2-40B4-BE49-F238E27FC236}">
                <a16:creationId xmlns:a16="http://schemas.microsoft.com/office/drawing/2014/main" id="{F6109769-4937-C831-EC85-A463DE1E54C8}"/>
              </a:ext>
            </a:extLst>
          </p:cNvPr>
          <p:cNvSpPr txBox="1"/>
          <p:nvPr/>
        </p:nvSpPr>
        <p:spPr>
          <a:xfrm>
            <a:off x="8686800" y="5080000"/>
            <a:ext cx="2794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Evaluar con trazabilidad</a:t>
            </a:r>
          </a:p>
        </p:txBody>
      </p:sp>
      <p:sp>
        <p:nvSpPr>
          <p:cNvPr id="23" name="Objective detail">
            <a:extLst>
              <a:ext uri="{FF2B5EF4-FFF2-40B4-BE49-F238E27FC236}">
                <a16:creationId xmlns:a16="http://schemas.microsoft.com/office/drawing/2014/main" id="{D95F8D85-7A33-FAB9-F793-A6623CC37E71}"/>
              </a:ext>
            </a:extLst>
          </p:cNvPr>
          <p:cNvSpPr txBox="1"/>
          <p:nvPr/>
        </p:nvSpPr>
        <p:spPr>
          <a:xfrm>
            <a:off x="8686800" y="5461000"/>
            <a:ext cx="279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Calibración separada, EML reservados y pruebas reproducibles.</a:t>
            </a:r>
          </a:p>
        </p:txBody>
      </p:sp>
    </p:spTree>
    <p:extLst>
      <p:ext uri="{BB962C8B-B14F-4D97-AF65-F5344CB8AC3E}">
        <p14:creationId xmlns:p14="http://schemas.microsoft.com/office/powerpoint/2010/main" val="613206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8AD789FB-32AD-FA7C-2712-EEBA64EA4276}"/>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ARQUITECTURA</a:t>
            </a:r>
          </a:p>
        </p:txBody>
      </p:sp>
      <p:sp>
        <p:nvSpPr>
          <p:cNvPr id="3" name="Slide title">
            <a:extLst>
              <a:ext uri="{FF2B5EF4-FFF2-40B4-BE49-F238E27FC236}">
                <a16:creationId xmlns:a16="http://schemas.microsoft.com/office/drawing/2014/main" id="{846774BC-5838-1811-9800-849A8A24230F}"/>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Arquitectura cliente-servidor</a:t>
            </a:r>
          </a:p>
        </p:txBody>
      </p:sp>
      <p:cxnSp>
        <p:nvCxnSpPr>
          <p:cNvPr id="4" name="Accent rule">
            <a:extLst>
              <a:ext uri="{FF2B5EF4-FFF2-40B4-BE49-F238E27FC236}">
                <a16:creationId xmlns:a16="http://schemas.microsoft.com/office/drawing/2014/main" id="{5F547CAA-B923-9CD0-FE58-EE7525118C87}"/>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9125D081-40F3-4825-3140-0C4A6C96069C}"/>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75807143-A681-0FAA-A648-E255B0686A25}"/>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4</a:t>
            </a:r>
          </a:p>
        </p:txBody>
      </p:sp>
      <p:cxnSp>
        <p:nvCxnSpPr>
          <p:cNvPr id="7" name="Browser to web">
            <a:extLst>
              <a:ext uri="{FF2B5EF4-FFF2-40B4-BE49-F238E27FC236}">
                <a16:creationId xmlns:a16="http://schemas.microsoft.com/office/drawing/2014/main" id="{D70B1B25-AA47-7395-429B-3D04407A922D}"/>
              </a:ext>
            </a:extLst>
          </p:cNvPr>
          <p:cNvCxnSpPr/>
          <p:nvPr/>
        </p:nvCxnSpPr>
        <p:spPr>
          <a:xfrm>
            <a:off x="2476500" y="2489200"/>
            <a:ext cx="0" cy="139700"/>
          </a:xfrm>
          <a:prstGeom prst="line">
            <a:avLst/>
          </a:prstGeom>
          <a:ln w="19050">
            <a:solidFill>
              <a:srgbClr val="49657A"/>
            </a:solidFill>
            <a:tailEnd type="arrow"/>
          </a:ln>
        </p:spPr>
        <p:style>
          <a:lnRef idx="2">
            <a:schemeClr val="accent1"/>
          </a:lnRef>
          <a:fillRef idx="0">
            <a:schemeClr val="accent1"/>
          </a:fillRef>
          <a:effectRef idx="1">
            <a:schemeClr val="accent1"/>
          </a:effectRef>
          <a:fontRef idx="minor">
            <a:schemeClr val="tx1"/>
          </a:fontRef>
        </p:style>
      </p:cxnSp>
      <p:cxnSp>
        <p:nvCxnSpPr>
          <p:cNvPr id="8" name="Web to backend">
            <a:extLst>
              <a:ext uri="{FF2B5EF4-FFF2-40B4-BE49-F238E27FC236}">
                <a16:creationId xmlns:a16="http://schemas.microsoft.com/office/drawing/2014/main" id="{37313002-D18B-A73A-AE54-DC2098B3AB7A}"/>
              </a:ext>
            </a:extLst>
          </p:cNvPr>
          <p:cNvCxnSpPr/>
          <p:nvPr/>
        </p:nvCxnSpPr>
        <p:spPr>
          <a:xfrm>
            <a:off x="3632200" y="3187700"/>
            <a:ext cx="2971800" cy="0"/>
          </a:xfrm>
          <a:prstGeom prst="line">
            <a:avLst/>
          </a:prstGeom>
          <a:ln w="29210">
            <a:solidFill>
              <a:srgbClr val="0F766E"/>
            </a:solidFill>
            <a:tailEnd type="arrow"/>
          </a:ln>
        </p:spPr>
        <p:style>
          <a:lnRef idx="2">
            <a:schemeClr val="accent1"/>
          </a:lnRef>
          <a:fillRef idx="0">
            <a:schemeClr val="accent1"/>
          </a:fillRef>
          <a:effectRef idx="1">
            <a:schemeClr val="accent1"/>
          </a:effectRef>
          <a:fontRef idx="minor">
            <a:schemeClr val="tx1"/>
          </a:fontRef>
        </p:style>
      </p:cxnSp>
      <p:cxnSp>
        <p:nvCxnSpPr>
          <p:cNvPr id="9" name="Extension to backend">
            <a:extLst>
              <a:ext uri="{FF2B5EF4-FFF2-40B4-BE49-F238E27FC236}">
                <a16:creationId xmlns:a16="http://schemas.microsoft.com/office/drawing/2014/main" id="{03A54D06-5FB4-7496-B300-44ACB71B3053}"/>
              </a:ext>
            </a:extLst>
          </p:cNvPr>
          <p:cNvCxnSpPr/>
          <p:nvPr/>
        </p:nvCxnSpPr>
        <p:spPr>
          <a:xfrm flipV="1">
            <a:off x="3632200" y="3848100"/>
            <a:ext cx="2971800" cy="444500"/>
          </a:xfrm>
          <a:prstGeom prst="line">
            <a:avLst/>
          </a:prstGeom>
          <a:ln w="29210">
            <a:solidFill>
              <a:srgbClr val="0F766E"/>
            </a:solidFill>
            <a:tailEnd type="arrow"/>
          </a:ln>
        </p:spPr>
        <p:style>
          <a:lnRef idx="2">
            <a:schemeClr val="accent1"/>
          </a:lnRef>
          <a:fillRef idx="0">
            <a:schemeClr val="accent1"/>
          </a:fillRef>
          <a:effectRef idx="1">
            <a:schemeClr val="accent1"/>
          </a:effectRef>
          <a:fontRef idx="minor">
            <a:schemeClr val="tx1"/>
          </a:fontRef>
        </p:style>
      </p:cxnSp>
      <p:cxnSp>
        <p:nvCxnSpPr>
          <p:cNvPr id="10" name="Monitor to backend">
            <a:extLst>
              <a:ext uri="{FF2B5EF4-FFF2-40B4-BE49-F238E27FC236}">
                <a16:creationId xmlns:a16="http://schemas.microsoft.com/office/drawing/2014/main" id="{017436F7-7A1E-911E-8320-62B165C31DB7}"/>
              </a:ext>
            </a:extLst>
          </p:cNvPr>
          <p:cNvCxnSpPr/>
          <p:nvPr/>
        </p:nvCxnSpPr>
        <p:spPr>
          <a:xfrm flipV="1">
            <a:off x="3632200" y="4508500"/>
            <a:ext cx="2971800" cy="889000"/>
          </a:xfrm>
          <a:prstGeom prst="line">
            <a:avLst/>
          </a:prstGeom>
          <a:ln w="29210">
            <a:solidFill>
              <a:srgbClr val="0F766E"/>
            </a:solidFill>
            <a:tailEnd type="arrow"/>
          </a:ln>
        </p:spPr>
        <p:style>
          <a:lnRef idx="2">
            <a:schemeClr val="accent1"/>
          </a:lnRef>
          <a:fillRef idx="0">
            <a:schemeClr val="accent1"/>
          </a:fillRef>
          <a:effectRef idx="1">
            <a:schemeClr val="accent1"/>
          </a:effectRef>
          <a:fontRef idx="minor">
            <a:schemeClr val="tx1"/>
          </a:fontRef>
        </p:style>
      </p:cxnSp>
      <p:sp>
        <p:nvSpPr>
          <p:cNvPr id="11" name="Browser">
            <a:extLst>
              <a:ext uri="{FF2B5EF4-FFF2-40B4-BE49-F238E27FC236}">
                <a16:creationId xmlns:a16="http://schemas.microsoft.com/office/drawing/2014/main" id="{BDCFC318-E16E-319B-F8DB-634429474294}"/>
              </a:ext>
            </a:extLst>
          </p:cNvPr>
          <p:cNvSpPr/>
          <p:nvPr/>
        </p:nvSpPr>
        <p:spPr>
          <a:xfrm>
            <a:off x="1371600" y="1676400"/>
            <a:ext cx="2209800" cy="812800"/>
          </a:xfrm>
          <a:prstGeom prst="roundRect">
            <a:avLst/>
          </a:prstGeom>
          <a:solidFill>
            <a:srgbClr val="EAF0F3"/>
          </a:solidFill>
          <a:ln w="12700">
            <a:solidFill>
              <a:srgbClr val="DCE5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Browser title">
            <a:extLst>
              <a:ext uri="{FF2B5EF4-FFF2-40B4-BE49-F238E27FC236}">
                <a16:creationId xmlns:a16="http://schemas.microsoft.com/office/drawing/2014/main" id="{B421BCD5-A371-54B0-E410-EE0FC9C448A8}"/>
              </a:ext>
            </a:extLst>
          </p:cNvPr>
          <p:cNvSpPr txBox="1"/>
          <p:nvPr/>
        </p:nvSpPr>
        <p:spPr>
          <a:xfrm>
            <a:off x="1549400" y="1828800"/>
            <a:ext cx="18542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Navegador</a:t>
            </a:r>
          </a:p>
        </p:txBody>
      </p:sp>
      <p:sp>
        <p:nvSpPr>
          <p:cNvPr id="13" name="Browser body">
            <a:extLst>
              <a:ext uri="{FF2B5EF4-FFF2-40B4-BE49-F238E27FC236}">
                <a16:creationId xmlns:a16="http://schemas.microsoft.com/office/drawing/2014/main" id="{E5C16F3C-A292-A590-4D38-7FEB7DD96E71}"/>
              </a:ext>
            </a:extLst>
          </p:cNvPr>
          <p:cNvSpPr txBox="1"/>
          <p:nvPr/>
        </p:nvSpPr>
        <p:spPr>
          <a:xfrm>
            <a:off x="1549400" y="2171700"/>
            <a:ext cx="1854200" cy="276999"/>
          </a:xfrm>
          <a:prstGeom prst="rect">
            <a:avLst/>
          </a:prstGeom>
          <a:noFill/>
        </p:spPr>
        <p:txBody>
          <a:bodyPr vert="horz" wrap="square" lIns="0" tIns="0" rIns="0" bIns="0" rtlCol="0" anchor="t">
            <a:noAutofit/>
          </a:bodyPr>
          <a:lstStyle/>
          <a:p>
            <a:pPr>
              <a:spcAft>
                <a:spcPts val="400"/>
              </a:spcAft>
            </a:pPr>
            <a:r>
              <a:rPr lang="es-ES" sz="1200">
                <a:solidFill>
                  <a:srgbClr val="07131F"/>
                </a:solidFill>
                <a:latin typeface="Arial" panose="020B0604020202020204" pitchFamily="34" charset="0"/>
              </a:rPr>
              <a:t>Interfaz visible</a:t>
            </a:r>
          </a:p>
        </p:txBody>
      </p:sp>
      <p:sp>
        <p:nvSpPr>
          <p:cNvPr id="14" name="Streamlit">
            <a:extLst>
              <a:ext uri="{FF2B5EF4-FFF2-40B4-BE49-F238E27FC236}">
                <a16:creationId xmlns:a16="http://schemas.microsoft.com/office/drawing/2014/main" id="{3D9B79B3-D586-234A-668C-AF94DC32D95B}"/>
              </a:ext>
            </a:extLst>
          </p:cNvPr>
          <p:cNvSpPr/>
          <p:nvPr/>
        </p:nvSpPr>
        <p:spPr>
          <a:xfrm>
            <a:off x="1219200" y="2628900"/>
            <a:ext cx="2413000" cy="914400"/>
          </a:xfrm>
          <a:prstGeom prst="roundRect">
            <a:avLst/>
          </a:prstGeom>
          <a:solidFill>
            <a:srgbClr val="FFFFFF"/>
          </a:solidFill>
          <a:ln w="12700">
            <a:solidFill>
              <a:srgbClr val="0D94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Streamlit title">
            <a:extLst>
              <a:ext uri="{FF2B5EF4-FFF2-40B4-BE49-F238E27FC236}">
                <a16:creationId xmlns:a16="http://schemas.microsoft.com/office/drawing/2014/main" id="{1995BCA4-B62D-836E-BB0F-FD9AE9CDC1D0}"/>
              </a:ext>
            </a:extLst>
          </p:cNvPr>
          <p:cNvSpPr txBox="1"/>
          <p:nvPr/>
        </p:nvSpPr>
        <p:spPr>
          <a:xfrm>
            <a:off x="1397000" y="2781300"/>
            <a:ext cx="20574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Streamlit</a:t>
            </a:r>
          </a:p>
        </p:txBody>
      </p:sp>
      <p:sp>
        <p:nvSpPr>
          <p:cNvPr id="16" name="Streamlit body">
            <a:extLst>
              <a:ext uri="{FF2B5EF4-FFF2-40B4-BE49-F238E27FC236}">
                <a16:creationId xmlns:a16="http://schemas.microsoft.com/office/drawing/2014/main" id="{61D1662A-6343-1EEE-5954-551BE5BD29AB}"/>
              </a:ext>
            </a:extLst>
          </p:cNvPr>
          <p:cNvSpPr txBox="1"/>
          <p:nvPr/>
        </p:nvSpPr>
        <p:spPr>
          <a:xfrm>
            <a:off x="1397000" y="3124200"/>
            <a:ext cx="2057400" cy="276999"/>
          </a:xfrm>
          <a:prstGeom prst="rect">
            <a:avLst/>
          </a:prstGeom>
          <a:noFill/>
        </p:spPr>
        <p:txBody>
          <a:bodyPr vert="horz" wrap="square" lIns="0" tIns="0" rIns="0" bIns="0" rtlCol="0" anchor="t">
            <a:noAutofit/>
          </a:bodyPr>
          <a:lstStyle/>
          <a:p>
            <a:pPr>
              <a:spcAft>
                <a:spcPts val="400"/>
              </a:spcAft>
            </a:pPr>
            <a:r>
              <a:rPr lang="es-ES" sz="1200">
                <a:solidFill>
                  <a:srgbClr val="07131F"/>
                </a:solidFill>
                <a:latin typeface="Arial" panose="020B0604020202020204" pitchFamily="34" charset="0"/>
              </a:rPr>
              <a:t>Presentación y cliente HTTP</a:t>
            </a:r>
          </a:p>
        </p:txBody>
      </p:sp>
      <p:sp>
        <p:nvSpPr>
          <p:cNvPr id="17" name="Extension">
            <a:extLst>
              <a:ext uri="{FF2B5EF4-FFF2-40B4-BE49-F238E27FC236}">
                <a16:creationId xmlns:a16="http://schemas.microsoft.com/office/drawing/2014/main" id="{42E06187-BE65-8F66-AFE0-2C71AF329A21}"/>
              </a:ext>
            </a:extLst>
          </p:cNvPr>
          <p:cNvSpPr/>
          <p:nvPr/>
        </p:nvSpPr>
        <p:spPr>
          <a:xfrm>
            <a:off x="1219200" y="3835400"/>
            <a:ext cx="2413000" cy="914400"/>
          </a:xfrm>
          <a:prstGeom prst="roundRect">
            <a:avLst/>
          </a:prstGeom>
          <a:solidFill>
            <a:srgbClr val="FFFFFF"/>
          </a:solidFill>
          <a:ln w="12700">
            <a:solidFill>
              <a:srgbClr val="DCE5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xtension title">
            <a:extLst>
              <a:ext uri="{FF2B5EF4-FFF2-40B4-BE49-F238E27FC236}">
                <a16:creationId xmlns:a16="http://schemas.microsoft.com/office/drawing/2014/main" id="{FBEC668C-6270-AE80-F1D9-310FB9BB45A3}"/>
              </a:ext>
            </a:extLst>
          </p:cNvPr>
          <p:cNvSpPr txBox="1"/>
          <p:nvPr/>
        </p:nvSpPr>
        <p:spPr>
          <a:xfrm>
            <a:off x="1397000" y="3987800"/>
            <a:ext cx="20574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Extensión Gmail</a:t>
            </a:r>
          </a:p>
        </p:txBody>
      </p:sp>
      <p:sp>
        <p:nvSpPr>
          <p:cNvPr id="19" name="Extension body">
            <a:extLst>
              <a:ext uri="{FF2B5EF4-FFF2-40B4-BE49-F238E27FC236}">
                <a16:creationId xmlns:a16="http://schemas.microsoft.com/office/drawing/2014/main" id="{CC2045C6-AD8F-3114-09F6-0BCF7D8EAC33}"/>
              </a:ext>
            </a:extLst>
          </p:cNvPr>
          <p:cNvSpPr txBox="1"/>
          <p:nvPr/>
        </p:nvSpPr>
        <p:spPr>
          <a:xfrm>
            <a:off x="1397000" y="4330700"/>
            <a:ext cx="2057400" cy="276999"/>
          </a:xfrm>
          <a:prstGeom prst="rect">
            <a:avLst/>
          </a:prstGeom>
          <a:noFill/>
        </p:spPr>
        <p:txBody>
          <a:bodyPr vert="horz" wrap="square" lIns="0" tIns="0" rIns="0" bIns="0" rtlCol="0" anchor="t">
            <a:noAutofit/>
          </a:bodyPr>
          <a:lstStyle/>
          <a:p>
            <a:pPr>
              <a:spcAft>
                <a:spcPts val="400"/>
              </a:spcAft>
            </a:pPr>
            <a:r>
              <a:rPr lang="es-ES" sz="1200">
                <a:solidFill>
                  <a:srgbClr val="07131F"/>
                </a:solidFill>
                <a:latin typeface="Arial" panose="020B0604020202020204" pitchFamily="34" charset="0"/>
              </a:rPr>
              <a:t>Correo visible → /analyze</a:t>
            </a:r>
          </a:p>
        </p:txBody>
      </p:sp>
      <p:sp>
        <p:nvSpPr>
          <p:cNvPr id="20" name="Monitor">
            <a:extLst>
              <a:ext uri="{FF2B5EF4-FFF2-40B4-BE49-F238E27FC236}">
                <a16:creationId xmlns:a16="http://schemas.microsoft.com/office/drawing/2014/main" id="{4F3B43F6-FB15-C18C-99A9-D22AF647235C}"/>
              </a:ext>
            </a:extLst>
          </p:cNvPr>
          <p:cNvSpPr/>
          <p:nvPr/>
        </p:nvSpPr>
        <p:spPr>
          <a:xfrm>
            <a:off x="1219200" y="5041900"/>
            <a:ext cx="2413000" cy="914400"/>
          </a:xfrm>
          <a:prstGeom prst="roundRect">
            <a:avLst/>
          </a:prstGeom>
          <a:solidFill>
            <a:srgbClr val="FFFFFF"/>
          </a:solidFill>
          <a:ln w="12700">
            <a:solidFill>
              <a:srgbClr val="DCE5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Monitor title">
            <a:extLst>
              <a:ext uri="{FF2B5EF4-FFF2-40B4-BE49-F238E27FC236}">
                <a16:creationId xmlns:a16="http://schemas.microsoft.com/office/drawing/2014/main" id="{1FDBE71D-9B3C-E956-8593-3E044B6C39AE}"/>
              </a:ext>
            </a:extLst>
          </p:cNvPr>
          <p:cNvSpPr txBox="1"/>
          <p:nvPr/>
        </p:nvSpPr>
        <p:spPr>
          <a:xfrm>
            <a:off x="1397000" y="5194300"/>
            <a:ext cx="20574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Monitor Gmail</a:t>
            </a:r>
          </a:p>
        </p:txBody>
      </p:sp>
      <p:sp>
        <p:nvSpPr>
          <p:cNvPr id="22" name="Monitor body">
            <a:extLst>
              <a:ext uri="{FF2B5EF4-FFF2-40B4-BE49-F238E27FC236}">
                <a16:creationId xmlns:a16="http://schemas.microsoft.com/office/drawing/2014/main" id="{C154739F-E6B6-240B-A47F-894F2B25885D}"/>
              </a:ext>
            </a:extLst>
          </p:cNvPr>
          <p:cNvSpPr txBox="1"/>
          <p:nvPr/>
        </p:nvSpPr>
        <p:spPr>
          <a:xfrm>
            <a:off x="1397000" y="5537200"/>
            <a:ext cx="2057400" cy="276999"/>
          </a:xfrm>
          <a:prstGeom prst="rect">
            <a:avLst/>
          </a:prstGeom>
          <a:noFill/>
        </p:spPr>
        <p:txBody>
          <a:bodyPr vert="horz" wrap="square" lIns="0" tIns="0" rIns="0" bIns="0" rtlCol="0" anchor="t">
            <a:noAutofit/>
          </a:bodyPr>
          <a:lstStyle/>
          <a:p>
            <a:pPr>
              <a:spcAft>
                <a:spcPts val="400"/>
              </a:spcAft>
            </a:pPr>
            <a:r>
              <a:rPr lang="es-ES" sz="1200">
                <a:solidFill>
                  <a:srgbClr val="07131F"/>
                </a:solidFill>
                <a:latin typeface="Arial" panose="020B0604020202020204" pitchFamily="34" charset="0"/>
              </a:rPr>
              <a:t>Lote + alerta Telegram</a:t>
            </a:r>
          </a:p>
        </p:txBody>
      </p:sp>
      <p:sp>
        <p:nvSpPr>
          <p:cNvPr id="23" name="Backend central">
            <a:extLst>
              <a:ext uri="{FF2B5EF4-FFF2-40B4-BE49-F238E27FC236}">
                <a16:creationId xmlns:a16="http://schemas.microsoft.com/office/drawing/2014/main" id="{28BC13A6-F803-051A-207A-A3F4802B32FC}"/>
              </a:ext>
            </a:extLst>
          </p:cNvPr>
          <p:cNvSpPr/>
          <p:nvPr/>
        </p:nvSpPr>
        <p:spPr>
          <a:xfrm>
            <a:off x="6604000" y="2006600"/>
            <a:ext cx="4394200" cy="3708400"/>
          </a:xfrm>
          <a:prstGeom prst="roundRect">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Backend title">
            <a:extLst>
              <a:ext uri="{FF2B5EF4-FFF2-40B4-BE49-F238E27FC236}">
                <a16:creationId xmlns:a16="http://schemas.microsoft.com/office/drawing/2014/main" id="{48E532A8-CF4F-EC4B-E523-5B8B761CB2F7}"/>
              </a:ext>
            </a:extLst>
          </p:cNvPr>
          <p:cNvSpPr txBox="1"/>
          <p:nvPr/>
        </p:nvSpPr>
        <p:spPr>
          <a:xfrm>
            <a:off x="6959600" y="2298700"/>
            <a:ext cx="3581400" cy="276999"/>
          </a:xfrm>
          <a:prstGeom prst="rect">
            <a:avLst/>
          </a:prstGeom>
          <a:noFill/>
        </p:spPr>
        <p:txBody>
          <a:bodyPr vert="horz" wrap="square" lIns="0" tIns="0" rIns="0" bIns="0" rtlCol="0" anchor="t">
            <a:noAutofit/>
          </a:bodyPr>
          <a:lstStyle/>
          <a:p>
            <a:pPr>
              <a:spcAft>
                <a:spcPts val="400"/>
              </a:spcAft>
            </a:pPr>
            <a:r>
              <a:rPr lang="es-ES" sz="2000" b="1">
                <a:solidFill>
                  <a:srgbClr val="CCFBF1"/>
                </a:solidFill>
                <a:latin typeface="Arial" panose="020B0604020202020204" pitchFamily="34" charset="0"/>
              </a:rPr>
              <a:t>BACKEND CENTRAL · :8766</a:t>
            </a:r>
          </a:p>
        </p:txBody>
      </p:sp>
      <p:sp>
        <p:nvSpPr>
          <p:cNvPr id="25" name="Backend contents">
            <a:extLst>
              <a:ext uri="{FF2B5EF4-FFF2-40B4-BE49-F238E27FC236}">
                <a16:creationId xmlns:a16="http://schemas.microsoft.com/office/drawing/2014/main" id="{9B234F6B-A8A5-C71D-9E9D-E2FCBB3AC1DB}"/>
              </a:ext>
            </a:extLst>
          </p:cNvPr>
          <p:cNvSpPr txBox="1"/>
          <p:nvPr/>
        </p:nvSpPr>
        <p:spPr>
          <a:xfrm>
            <a:off x="6959600" y="2908300"/>
            <a:ext cx="3429000" cy="276999"/>
          </a:xfrm>
          <a:prstGeom prst="rect">
            <a:avLst/>
          </a:prstGeom>
          <a:noFill/>
        </p:spPr>
        <p:txBody>
          <a:bodyPr vert="horz" wrap="square" lIns="0" tIns="0" rIns="0" bIns="0" rtlCol="0" anchor="t">
            <a:noAutofit/>
          </a:bodyPr>
          <a:lstStyle/>
          <a:p>
            <a:pPr>
              <a:spcAft>
                <a:spcPts val="400"/>
              </a:spcAft>
            </a:pPr>
            <a:r>
              <a:rPr lang="es-ES" sz="1600">
                <a:solidFill>
                  <a:srgbClr val="FFFFFF"/>
                </a:solidFill>
                <a:latin typeface="Arial" panose="020B0604020202020204" pitchFamily="34" charset="0"/>
              </a:rPr>
              <a:t>• Parser MIME / EML
• Señales heurísticas
• Modelo neuronal ES activo
• Modelo neuronal EN activo
• Entrenamiento y versionado</a:t>
            </a:r>
          </a:p>
        </p:txBody>
      </p:sp>
      <p:sp>
        <p:nvSpPr>
          <p:cNvPr id="26" name="Protocol">
            <a:extLst>
              <a:ext uri="{FF2B5EF4-FFF2-40B4-BE49-F238E27FC236}">
                <a16:creationId xmlns:a16="http://schemas.microsoft.com/office/drawing/2014/main" id="{750E336D-A6B1-97C2-B0F4-4DD5189431C3}"/>
              </a:ext>
            </a:extLst>
          </p:cNvPr>
          <p:cNvSpPr txBox="1"/>
          <p:nvPr/>
        </p:nvSpPr>
        <p:spPr>
          <a:xfrm>
            <a:off x="4927600" y="2819400"/>
            <a:ext cx="1168400" cy="276999"/>
          </a:xfrm>
          <a:prstGeom prst="rect">
            <a:avLst/>
          </a:prstGeom>
          <a:noFill/>
        </p:spPr>
        <p:txBody>
          <a:bodyPr vert="horz" wrap="square" lIns="0" tIns="0" rIns="0" bIns="0" rtlCol="0" anchor="t">
            <a:noAutofit/>
          </a:bodyPr>
          <a:lstStyle/>
          <a:p>
            <a:pPr algn="ctr">
              <a:spcAft>
                <a:spcPts val="400"/>
              </a:spcAft>
            </a:pPr>
            <a:r>
              <a:rPr lang="es-ES" sz="1100" b="1">
                <a:solidFill>
                  <a:srgbClr val="0F766E"/>
                </a:solidFill>
                <a:latin typeface="Arial" panose="020B0604020202020204" pitchFamily="34" charset="0"/>
              </a:rPr>
              <a:t>HTTP / JSON</a:t>
            </a:r>
          </a:p>
        </p:txBody>
      </p:sp>
      <p:sp>
        <p:nvSpPr>
          <p:cNvPr id="27" name="Architecture note">
            <a:extLst>
              <a:ext uri="{FF2B5EF4-FFF2-40B4-BE49-F238E27FC236}">
                <a16:creationId xmlns:a16="http://schemas.microsoft.com/office/drawing/2014/main" id="{A0DC1B2E-839D-288E-9774-C71F7F4E0528}"/>
              </a:ext>
            </a:extLst>
          </p:cNvPr>
          <p:cNvSpPr txBox="1"/>
          <p:nvPr/>
        </p:nvSpPr>
        <p:spPr>
          <a:xfrm>
            <a:off x="6604000" y="5867400"/>
            <a:ext cx="43942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En la defensa ambos procesos pueden estar en el mismo equipo; siguen separados por un contrato HTTP.</a:t>
            </a:r>
          </a:p>
        </p:txBody>
      </p:sp>
    </p:spTree>
    <p:extLst>
      <p:ext uri="{BB962C8B-B14F-4D97-AF65-F5344CB8AC3E}">
        <p14:creationId xmlns:p14="http://schemas.microsoft.com/office/powerpoint/2010/main" val="3852793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10163C67-36CB-C9D7-9107-505F39805E83}"/>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FUNCIONAMIENTO</a:t>
            </a:r>
          </a:p>
        </p:txBody>
      </p:sp>
      <p:sp>
        <p:nvSpPr>
          <p:cNvPr id="3" name="Slide title">
            <a:extLst>
              <a:ext uri="{FF2B5EF4-FFF2-40B4-BE49-F238E27FC236}">
                <a16:creationId xmlns:a16="http://schemas.microsoft.com/office/drawing/2014/main" id="{2BDF76C4-297D-932E-7BA7-118BD4B8DE0A}"/>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Cada correo sigue un flujo único y trazable</a:t>
            </a:r>
          </a:p>
        </p:txBody>
      </p:sp>
      <p:cxnSp>
        <p:nvCxnSpPr>
          <p:cNvPr id="4" name="Accent rule">
            <a:extLst>
              <a:ext uri="{FF2B5EF4-FFF2-40B4-BE49-F238E27FC236}">
                <a16:creationId xmlns:a16="http://schemas.microsoft.com/office/drawing/2014/main" id="{26611E37-07B3-FE38-7CA7-D11D40813BEE}"/>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0E5EC7D9-C578-4AD4-D540-BA109C0E47D3}"/>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0F2457CA-3173-EE20-DDBA-684A36DE6F31}"/>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5</a:t>
            </a:r>
          </a:p>
        </p:txBody>
      </p:sp>
      <p:cxnSp>
        <p:nvCxnSpPr>
          <p:cNvPr id="7" name="Flow arrow 0">
            <a:extLst>
              <a:ext uri="{FF2B5EF4-FFF2-40B4-BE49-F238E27FC236}">
                <a16:creationId xmlns:a16="http://schemas.microsoft.com/office/drawing/2014/main" id="{DC1D0B5F-6FED-3744-CF9C-0DF98D345459}"/>
              </a:ext>
            </a:extLst>
          </p:cNvPr>
          <p:cNvCxnSpPr/>
          <p:nvPr/>
        </p:nvCxnSpPr>
        <p:spPr>
          <a:xfrm>
            <a:off x="2540000" y="3416300"/>
            <a:ext cx="431800" cy="0"/>
          </a:xfrm>
          <a:prstGeom prst="line">
            <a:avLst/>
          </a:prstGeom>
          <a:ln w="25400">
            <a:solidFill>
              <a:srgbClr val="0D9488"/>
            </a:solidFill>
            <a:tailEnd type="arrow"/>
          </a:ln>
        </p:spPr>
        <p:style>
          <a:lnRef idx="2">
            <a:schemeClr val="accent1"/>
          </a:lnRef>
          <a:fillRef idx="0">
            <a:schemeClr val="accent1"/>
          </a:fillRef>
          <a:effectRef idx="1">
            <a:schemeClr val="accent1"/>
          </a:effectRef>
          <a:fontRef idx="minor">
            <a:schemeClr val="tx1"/>
          </a:fontRef>
        </p:style>
      </p:cxnSp>
      <p:cxnSp>
        <p:nvCxnSpPr>
          <p:cNvPr id="8" name="Flow arrow 1">
            <a:extLst>
              <a:ext uri="{FF2B5EF4-FFF2-40B4-BE49-F238E27FC236}">
                <a16:creationId xmlns:a16="http://schemas.microsoft.com/office/drawing/2014/main" id="{73D343E1-C6D2-4B57-0AA5-21955319D024}"/>
              </a:ext>
            </a:extLst>
          </p:cNvPr>
          <p:cNvCxnSpPr/>
          <p:nvPr/>
        </p:nvCxnSpPr>
        <p:spPr>
          <a:xfrm>
            <a:off x="4699000" y="3416300"/>
            <a:ext cx="431800" cy="0"/>
          </a:xfrm>
          <a:prstGeom prst="line">
            <a:avLst/>
          </a:prstGeom>
          <a:ln w="25400">
            <a:solidFill>
              <a:srgbClr val="0D9488"/>
            </a:solidFill>
            <a:tailEnd type="arrow"/>
          </a:ln>
        </p:spPr>
        <p:style>
          <a:lnRef idx="2">
            <a:schemeClr val="accent1"/>
          </a:lnRef>
          <a:fillRef idx="0">
            <a:schemeClr val="accent1"/>
          </a:fillRef>
          <a:effectRef idx="1">
            <a:schemeClr val="accent1"/>
          </a:effectRef>
          <a:fontRef idx="minor">
            <a:schemeClr val="tx1"/>
          </a:fontRef>
        </p:style>
      </p:cxnSp>
      <p:cxnSp>
        <p:nvCxnSpPr>
          <p:cNvPr id="9" name="Flow arrow 2">
            <a:extLst>
              <a:ext uri="{FF2B5EF4-FFF2-40B4-BE49-F238E27FC236}">
                <a16:creationId xmlns:a16="http://schemas.microsoft.com/office/drawing/2014/main" id="{5CA3CF4D-977F-BA59-7603-C86484C78617}"/>
              </a:ext>
            </a:extLst>
          </p:cNvPr>
          <p:cNvCxnSpPr/>
          <p:nvPr/>
        </p:nvCxnSpPr>
        <p:spPr>
          <a:xfrm>
            <a:off x="6858000" y="3416300"/>
            <a:ext cx="431800" cy="0"/>
          </a:xfrm>
          <a:prstGeom prst="line">
            <a:avLst/>
          </a:prstGeom>
          <a:ln w="25400">
            <a:solidFill>
              <a:srgbClr val="0D9488"/>
            </a:solidFill>
            <a:tailEnd type="arrow"/>
          </a:ln>
        </p:spPr>
        <p:style>
          <a:lnRef idx="2">
            <a:schemeClr val="accent1"/>
          </a:lnRef>
          <a:fillRef idx="0">
            <a:schemeClr val="accent1"/>
          </a:fillRef>
          <a:effectRef idx="1">
            <a:schemeClr val="accent1"/>
          </a:effectRef>
          <a:fontRef idx="minor">
            <a:schemeClr val="tx1"/>
          </a:fontRef>
        </p:style>
      </p:cxnSp>
      <p:cxnSp>
        <p:nvCxnSpPr>
          <p:cNvPr id="10" name="Flow arrow 3">
            <a:extLst>
              <a:ext uri="{FF2B5EF4-FFF2-40B4-BE49-F238E27FC236}">
                <a16:creationId xmlns:a16="http://schemas.microsoft.com/office/drawing/2014/main" id="{592BEA3A-72F5-A9B7-3F95-BB87E25822FB}"/>
              </a:ext>
            </a:extLst>
          </p:cNvPr>
          <p:cNvCxnSpPr/>
          <p:nvPr/>
        </p:nvCxnSpPr>
        <p:spPr>
          <a:xfrm>
            <a:off x="9017000" y="3416300"/>
            <a:ext cx="431800" cy="0"/>
          </a:xfrm>
          <a:prstGeom prst="line">
            <a:avLst/>
          </a:prstGeom>
          <a:ln w="25400">
            <a:solidFill>
              <a:srgbClr val="0D9488"/>
            </a:solidFill>
            <a:tailEnd type="arrow"/>
          </a:ln>
        </p:spPr>
        <p:style>
          <a:lnRef idx="2">
            <a:schemeClr val="accent1"/>
          </a:lnRef>
          <a:fillRef idx="0">
            <a:schemeClr val="accent1"/>
          </a:fillRef>
          <a:effectRef idx="1">
            <a:schemeClr val="accent1"/>
          </a:effectRef>
          <a:fontRef idx="minor">
            <a:schemeClr val="tx1"/>
          </a:fontRef>
        </p:style>
      </p:cxnSp>
      <p:sp>
        <p:nvSpPr>
          <p:cNvPr id="11" name="Flow node 0">
            <a:extLst>
              <a:ext uri="{FF2B5EF4-FFF2-40B4-BE49-F238E27FC236}">
                <a16:creationId xmlns:a16="http://schemas.microsoft.com/office/drawing/2014/main" id="{B2D6616A-34F4-FF4A-3416-7A43E847EA16}"/>
              </a:ext>
            </a:extLst>
          </p:cNvPr>
          <p:cNvSpPr/>
          <p:nvPr/>
        </p:nvSpPr>
        <p:spPr>
          <a:xfrm>
            <a:off x="939800" y="3149600"/>
            <a:ext cx="533400" cy="533400"/>
          </a:xfrm>
          <a:prstGeom prst="ellipse">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Flow number">
            <a:extLst>
              <a:ext uri="{FF2B5EF4-FFF2-40B4-BE49-F238E27FC236}">
                <a16:creationId xmlns:a16="http://schemas.microsoft.com/office/drawing/2014/main" id="{4A590DAE-A05F-2CF3-D17B-5CB8098D2F2D}"/>
              </a:ext>
            </a:extLst>
          </p:cNvPr>
          <p:cNvSpPr txBox="1"/>
          <p:nvPr/>
        </p:nvSpPr>
        <p:spPr>
          <a:xfrm>
            <a:off x="1028700" y="3289300"/>
            <a:ext cx="355600" cy="276999"/>
          </a:xfrm>
          <a:prstGeom prst="rect">
            <a:avLst/>
          </a:prstGeom>
          <a:noFill/>
        </p:spPr>
        <p:txBody>
          <a:bodyPr vert="horz" wrap="square" lIns="0" tIns="0" rIns="0" bIns="0" rtlCol="0" anchor="t">
            <a:noAutofit/>
          </a:bodyPr>
          <a:lstStyle/>
          <a:p>
            <a:pPr algn="ctr">
              <a:spcAft>
                <a:spcPts val="400"/>
              </a:spcAft>
            </a:pPr>
            <a:r>
              <a:rPr lang="es-ES" sz="1000" b="1">
                <a:solidFill>
                  <a:srgbClr val="FFFFFF"/>
                </a:solidFill>
                <a:latin typeface="Arial" panose="020B0604020202020204" pitchFamily="34" charset="0"/>
              </a:rPr>
              <a:t>01</a:t>
            </a:r>
          </a:p>
        </p:txBody>
      </p:sp>
      <p:sp>
        <p:nvSpPr>
          <p:cNvPr id="13" name="Flow title">
            <a:extLst>
              <a:ext uri="{FF2B5EF4-FFF2-40B4-BE49-F238E27FC236}">
                <a16:creationId xmlns:a16="http://schemas.microsoft.com/office/drawing/2014/main" id="{B6168754-758B-7463-D497-6AD9DA0C772A}"/>
              </a:ext>
            </a:extLst>
          </p:cNvPr>
          <p:cNvSpPr txBox="1"/>
          <p:nvPr/>
        </p:nvSpPr>
        <p:spPr>
          <a:xfrm>
            <a:off x="812800" y="3987800"/>
            <a:ext cx="1676400" cy="276999"/>
          </a:xfrm>
          <a:prstGeom prst="rect">
            <a:avLst/>
          </a:prstGeom>
          <a:noFill/>
        </p:spPr>
        <p:txBody>
          <a:bodyPr vert="horz" wrap="square" lIns="0" tIns="0" rIns="0" bIns="0" rtlCol="0" anchor="t">
            <a:noAutofit/>
          </a:bodyPr>
          <a:lstStyle/>
          <a:p>
            <a:pPr algn="ctr">
              <a:spcAft>
                <a:spcPts val="400"/>
              </a:spcAft>
            </a:pPr>
            <a:r>
              <a:rPr lang="es-ES" sz="1700" b="1">
                <a:solidFill>
                  <a:srgbClr val="07131F"/>
                </a:solidFill>
                <a:latin typeface="Arial" panose="020B0604020202020204" pitchFamily="34" charset="0"/>
              </a:rPr>
              <a:t>Entrada</a:t>
            </a:r>
          </a:p>
        </p:txBody>
      </p:sp>
      <p:sp>
        <p:nvSpPr>
          <p:cNvPr id="14" name="Flow detail">
            <a:extLst>
              <a:ext uri="{FF2B5EF4-FFF2-40B4-BE49-F238E27FC236}">
                <a16:creationId xmlns:a16="http://schemas.microsoft.com/office/drawing/2014/main" id="{AF766A16-1684-4C85-22EA-C463E23C0D39}"/>
              </a:ext>
            </a:extLst>
          </p:cNvPr>
          <p:cNvSpPr txBox="1"/>
          <p:nvPr/>
        </p:nvSpPr>
        <p:spPr>
          <a:xfrm>
            <a:off x="736600" y="4445000"/>
            <a:ext cx="1828800" cy="276999"/>
          </a:xfrm>
          <a:prstGeom prst="rect">
            <a:avLst/>
          </a:prstGeom>
          <a:noFill/>
        </p:spPr>
        <p:txBody>
          <a:bodyPr vert="horz" wrap="square" lIns="0" tIns="0" rIns="0" bIns="0" rtlCol="0" anchor="t">
            <a:noAutofit/>
          </a:bodyPr>
          <a:lstStyle/>
          <a:p>
            <a:pPr algn="ctr">
              <a:spcAft>
                <a:spcPts val="400"/>
              </a:spcAft>
            </a:pPr>
            <a:r>
              <a:rPr lang="pt-BR" sz="1200">
                <a:solidFill>
                  <a:srgbClr val="49657A"/>
                </a:solidFill>
                <a:latin typeface="Arial" panose="020B0604020202020204" pitchFamily="34" charset="0"/>
              </a:rPr>
              <a:t>Texto, EML o campos JSON</a:t>
            </a:r>
            <a:endParaRPr lang="es-ES" sz="1200">
              <a:solidFill>
                <a:srgbClr val="49657A"/>
              </a:solidFill>
              <a:latin typeface="Arial" panose="020B0604020202020204" pitchFamily="34" charset="0"/>
            </a:endParaRPr>
          </a:p>
        </p:txBody>
      </p:sp>
      <p:sp>
        <p:nvSpPr>
          <p:cNvPr id="15" name="Flow node 1">
            <a:extLst>
              <a:ext uri="{FF2B5EF4-FFF2-40B4-BE49-F238E27FC236}">
                <a16:creationId xmlns:a16="http://schemas.microsoft.com/office/drawing/2014/main" id="{2077D181-119C-4C51-C4BC-E368AE6B126F}"/>
              </a:ext>
            </a:extLst>
          </p:cNvPr>
          <p:cNvSpPr/>
          <p:nvPr/>
        </p:nvSpPr>
        <p:spPr>
          <a:xfrm>
            <a:off x="3098800" y="3149600"/>
            <a:ext cx="533400" cy="533400"/>
          </a:xfrm>
          <a:prstGeom prst="ellipse">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Flow number">
            <a:extLst>
              <a:ext uri="{FF2B5EF4-FFF2-40B4-BE49-F238E27FC236}">
                <a16:creationId xmlns:a16="http://schemas.microsoft.com/office/drawing/2014/main" id="{99934D82-B956-11B0-C2D5-9EFE9D75AB12}"/>
              </a:ext>
            </a:extLst>
          </p:cNvPr>
          <p:cNvSpPr txBox="1"/>
          <p:nvPr/>
        </p:nvSpPr>
        <p:spPr>
          <a:xfrm>
            <a:off x="3187700" y="3289300"/>
            <a:ext cx="355600" cy="276999"/>
          </a:xfrm>
          <a:prstGeom prst="rect">
            <a:avLst/>
          </a:prstGeom>
          <a:noFill/>
        </p:spPr>
        <p:txBody>
          <a:bodyPr vert="horz" wrap="square" lIns="0" tIns="0" rIns="0" bIns="0" rtlCol="0" anchor="t">
            <a:noAutofit/>
          </a:bodyPr>
          <a:lstStyle/>
          <a:p>
            <a:pPr algn="ctr">
              <a:spcAft>
                <a:spcPts val="400"/>
              </a:spcAft>
            </a:pPr>
            <a:r>
              <a:rPr lang="es-ES" sz="1000" b="1">
                <a:solidFill>
                  <a:srgbClr val="FFFFFF"/>
                </a:solidFill>
                <a:latin typeface="Arial" panose="020B0604020202020204" pitchFamily="34" charset="0"/>
              </a:rPr>
              <a:t>02</a:t>
            </a:r>
          </a:p>
        </p:txBody>
      </p:sp>
      <p:sp>
        <p:nvSpPr>
          <p:cNvPr id="17" name="Flow title">
            <a:extLst>
              <a:ext uri="{FF2B5EF4-FFF2-40B4-BE49-F238E27FC236}">
                <a16:creationId xmlns:a16="http://schemas.microsoft.com/office/drawing/2014/main" id="{23FA7685-5EB5-D442-ABC7-8F51DCB7FFAD}"/>
              </a:ext>
            </a:extLst>
          </p:cNvPr>
          <p:cNvSpPr txBox="1"/>
          <p:nvPr/>
        </p:nvSpPr>
        <p:spPr>
          <a:xfrm>
            <a:off x="2971800" y="3987800"/>
            <a:ext cx="1676400" cy="276999"/>
          </a:xfrm>
          <a:prstGeom prst="rect">
            <a:avLst/>
          </a:prstGeom>
          <a:noFill/>
        </p:spPr>
        <p:txBody>
          <a:bodyPr vert="horz" wrap="square" lIns="0" tIns="0" rIns="0" bIns="0" rtlCol="0" anchor="t">
            <a:noAutofit/>
          </a:bodyPr>
          <a:lstStyle/>
          <a:p>
            <a:pPr algn="ctr">
              <a:spcAft>
                <a:spcPts val="400"/>
              </a:spcAft>
            </a:pPr>
            <a:r>
              <a:rPr lang="es-ES" sz="1700" b="1">
                <a:solidFill>
                  <a:srgbClr val="07131F"/>
                </a:solidFill>
                <a:latin typeface="Arial" panose="020B0604020202020204" pitchFamily="34" charset="0"/>
              </a:rPr>
              <a:t>Normalización</a:t>
            </a:r>
          </a:p>
        </p:txBody>
      </p:sp>
      <p:sp>
        <p:nvSpPr>
          <p:cNvPr id="18" name="Flow detail">
            <a:extLst>
              <a:ext uri="{FF2B5EF4-FFF2-40B4-BE49-F238E27FC236}">
                <a16:creationId xmlns:a16="http://schemas.microsoft.com/office/drawing/2014/main" id="{2B1D72DB-9A22-C5BF-FD1C-1DF8DDFA2696}"/>
              </a:ext>
            </a:extLst>
          </p:cNvPr>
          <p:cNvSpPr txBox="1"/>
          <p:nvPr/>
        </p:nvSpPr>
        <p:spPr>
          <a:xfrm>
            <a:off x="2895600" y="4445000"/>
            <a:ext cx="1828800" cy="276999"/>
          </a:xfrm>
          <a:prstGeom prst="rect">
            <a:avLst/>
          </a:prstGeom>
          <a:noFill/>
        </p:spPr>
        <p:txBody>
          <a:bodyPr vert="horz" wrap="square" lIns="0" tIns="0" rIns="0" bIns="0" rtlCol="0" anchor="t">
            <a:noAutofit/>
          </a:bodyPr>
          <a:lstStyle/>
          <a:p>
            <a:pPr algn="ctr">
              <a:spcAft>
                <a:spcPts val="400"/>
              </a:spcAft>
            </a:pPr>
            <a:r>
              <a:rPr lang="es-ES" sz="1200">
                <a:solidFill>
                  <a:srgbClr val="49657A"/>
                </a:solidFill>
                <a:latin typeface="Arial" panose="020B0604020202020204" pitchFamily="34" charset="0"/>
              </a:rPr>
              <a:t>Cabeceras, HTML, enlaces y adjuntos</a:t>
            </a:r>
          </a:p>
        </p:txBody>
      </p:sp>
      <p:sp>
        <p:nvSpPr>
          <p:cNvPr id="19" name="Flow node 2">
            <a:extLst>
              <a:ext uri="{FF2B5EF4-FFF2-40B4-BE49-F238E27FC236}">
                <a16:creationId xmlns:a16="http://schemas.microsoft.com/office/drawing/2014/main" id="{3C2A1CCD-98E2-D485-F0F1-C17AEB172046}"/>
              </a:ext>
            </a:extLst>
          </p:cNvPr>
          <p:cNvSpPr/>
          <p:nvPr/>
        </p:nvSpPr>
        <p:spPr>
          <a:xfrm>
            <a:off x="5257800" y="3149600"/>
            <a:ext cx="533400" cy="533400"/>
          </a:xfrm>
          <a:prstGeom prst="ellipse">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Flow number">
            <a:extLst>
              <a:ext uri="{FF2B5EF4-FFF2-40B4-BE49-F238E27FC236}">
                <a16:creationId xmlns:a16="http://schemas.microsoft.com/office/drawing/2014/main" id="{D745BEDC-50F7-50A2-8DCC-260866A7C68A}"/>
              </a:ext>
            </a:extLst>
          </p:cNvPr>
          <p:cNvSpPr txBox="1"/>
          <p:nvPr/>
        </p:nvSpPr>
        <p:spPr>
          <a:xfrm>
            <a:off x="5346700" y="3289300"/>
            <a:ext cx="355600" cy="276999"/>
          </a:xfrm>
          <a:prstGeom prst="rect">
            <a:avLst/>
          </a:prstGeom>
          <a:noFill/>
        </p:spPr>
        <p:txBody>
          <a:bodyPr vert="horz" wrap="square" lIns="0" tIns="0" rIns="0" bIns="0" rtlCol="0" anchor="t">
            <a:noAutofit/>
          </a:bodyPr>
          <a:lstStyle/>
          <a:p>
            <a:pPr algn="ctr">
              <a:spcAft>
                <a:spcPts val="400"/>
              </a:spcAft>
            </a:pPr>
            <a:r>
              <a:rPr lang="es-ES" sz="1000" b="1">
                <a:solidFill>
                  <a:srgbClr val="FFFFFF"/>
                </a:solidFill>
                <a:latin typeface="Arial" panose="020B0604020202020204" pitchFamily="34" charset="0"/>
              </a:rPr>
              <a:t>03</a:t>
            </a:r>
          </a:p>
        </p:txBody>
      </p:sp>
      <p:sp>
        <p:nvSpPr>
          <p:cNvPr id="21" name="Flow title">
            <a:extLst>
              <a:ext uri="{FF2B5EF4-FFF2-40B4-BE49-F238E27FC236}">
                <a16:creationId xmlns:a16="http://schemas.microsoft.com/office/drawing/2014/main" id="{4DBFE5BC-77E4-106C-D489-C58D2F1865E3}"/>
              </a:ext>
            </a:extLst>
          </p:cNvPr>
          <p:cNvSpPr txBox="1"/>
          <p:nvPr/>
        </p:nvSpPr>
        <p:spPr>
          <a:xfrm>
            <a:off x="5130800" y="3987800"/>
            <a:ext cx="1676400" cy="276999"/>
          </a:xfrm>
          <a:prstGeom prst="rect">
            <a:avLst/>
          </a:prstGeom>
          <a:noFill/>
        </p:spPr>
        <p:txBody>
          <a:bodyPr vert="horz" wrap="square" lIns="0" tIns="0" rIns="0" bIns="0" rtlCol="0" anchor="t">
            <a:noAutofit/>
          </a:bodyPr>
          <a:lstStyle/>
          <a:p>
            <a:pPr algn="ctr">
              <a:spcAft>
                <a:spcPts val="400"/>
              </a:spcAft>
            </a:pPr>
            <a:r>
              <a:rPr lang="es-ES" sz="1700" b="1">
                <a:solidFill>
                  <a:srgbClr val="07131F"/>
                </a:solidFill>
                <a:latin typeface="Arial" panose="020B0604020202020204" pitchFamily="34" charset="0"/>
              </a:rPr>
              <a:t>Detección</a:t>
            </a:r>
          </a:p>
        </p:txBody>
      </p:sp>
      <p:sp>
        <p:nvSpPr>
          <p:cNvPr id="22" name="Flow detail">
            <a:extLst>
              <a:ext uri="{FF2B5EF4-FFF2-40B4-BE49-F238E27FC236}">
                <a16:creationId xmlns:a16="http://schemas.microsoft.com/office/drawing/2014/main" id="{EE6789A3-50E4-5F53-9B3A-AA3594EE88E6}"/>
              </a:ext>
            </a:extLst>
          </p:cNvPr>
          <p:cNvSpPr txBox="1"/>
          <p:nvPr/>
        </p:nvSpPr>
        <p:spPr>
          <a:xfrm>
            <a:off x="5054600" y="4445000"/>
            <a:ext cx="1828800" cy="276999"/>
          </a:xfrm>
          <a:prstGeom prst="rect">
            <a:avLst/>
          </a:prstGeom>
          <a:noFill/>
        </p:spPr>
        <p:txBody>
          <a:bodyPr vert="horz" wrap="square" lIns="0" tIns="0" rIns="0" bIns="0" rtlCol="0" anchor="t">
            <a:noAutofit/>
          </a:bodyPr>
          <a:lstStyle/>
          <a:p>
            <a:pPr algn="ctr">
              <a:spcAft>
                <a:spcPts val="400"/>
              </a:spcAft>
            </a:pPr>
            <a:r>
              <a:rPr lang="es-ES" sz="1200">
                <a:solidFill>
                  <a:srgbClr val="49657A"/>
                </a:solidFill>
                <a:latin typeface="Arial" panose="020B0604020202020204" pitchFamily="34" charset="0"/>
              </a:rPr>
              <a:t>Heurística + modelo por idioma</a:t>
            </a:r>
          </a:p>
        </p:txBody>
      </p:sp>
      <p:sp>
        <p:nvSpPr>
          <p:cNvPr id="23" name="Flow node 3">
            <a:extLst>
              <a:ext uri="{FF2B5EF4-FFF2-40B4-BE49-F238E27FC236}">
                <a16:creationId xmlns:a16="http://schemas.microsoft.com/office/drawing/2014/main" id="{B733BEEF-F7B5-4330-57CF-6D79138481DC}"/>
              </a:ext>
            </a:extLst>
          </p:cNvPr>
          <p:cNvSpPr/>
          <p:nvPr/>
        </p:nvSpPr>
        <p:spPr>
          <a:xfrm>
            <a:off x="7416800" y="3149600"/>
            <a:ext cx="533400" cy="533400"/>
          </a:xfrm>
          <a:prstGeom prst="ellipse">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Flow number">
            <a:extLst>
              <a:ext uri="{FF2B5EF4-FFF2-40B4-BE49-F238E27FC236}">
                <a16:creationId xmlns:a16="http://schemas.microsoft.com/office/drawing/2014/main" id="{DBE2F4CA-C6C0-A08B-4554-09F26C91DE45}"/>
              </a:ext>
            </a:extLst>
          </p:cNvPr>
          <p:cNvSpPr txBox="1"/>
          <p:nvPr/>
        </p:nvSpPr>
        <p:spPr>
          <a:xfrm>
            <a:off x="7505700" y="3289300"/>
            <a:ext cx="355600" cy="276999"/>
          </a:xfrm>
          <a:prstGeom prst="rect">
            <a:avLst/>
          </a:prstGeom>
          <a:noFill/>
        </p:spPr>
        <p:txBody>
          <a:bodyPr vert="horz" wrap="square" lIns="0" tIns="0" rIns="0" bIns="0" rtlCol="0" anchor="t">
            <a:noAutofit/>
          </a:bodyPr>
          <a:lstStyle/>
          <a:p>
            <a:pPr algn="ctr">
              <a:spcAft>
                <a:spcPts val="400"/>
              </a:spcAft>
            </a:pPr>
            <a:r>
              <a:rPr lang="es-ES" sz="1000" b="1">
                <a:solidFill>
                  <a:srgbClr val="FFFFFF"/>
                </a:solidFill>
                <a:latin typeface="Arial" panose="020B0604020202020204" pitchFamily="34" charset="0"/>
              </a:rPr>
              <a:t>04</a:t>
            </a:r>
          </a:p>
        </p:txBody>
      </p:sp>
      <p:sp>
        <p:nvSpPr>
          <p:cNvPr id="25" name="Flow title">
            <a:extLst>
              <a:ext uri="{FF2B5EF4-FFF2-40B4-BE49-F238E27FC236}">
                <a16:creationId xmlns:a16="http://schemas.microsoft.com/office/drawing/2014/main" id="{1337E936-6728-1AAB-3705-FD350E984FF7}"/>
              </a:ext>
            </a:extLst>
          </p:cNvPr>
          <p:cNvSpPr txBox="1"/>
          <p:nvPr/>
        </p:nvSpPr>
        <p:spPr>
          <a:xfrm>
            <a:off x="7289800" y="3987800"/>
            <a:ext cx="1676400" cy="276999"/>
          </a:xfrm>
          <a:prstGeom prst="rect">
            <a:avLst/>
          </a:prstGeom>
          <a:noFill/>
        </p:spPr>
        <p:txBody>
          <a:bodyPr vert="horz" wrap="square" lIns="0" tIns="0" rIns="0" bIns="0" rtlCol="0" anchor="t">
            <a:noAutofit/>
          </a:bodyPr>
          <a:lstStyle/>
          <a:p>
            <a:pPr algn="ctr">
              <a:spcAft>
                <a:spcPts val="400"/>
              </a:spcAft>
            </a:pPr>
            <a:r>
              <a:rPr lang="es-ES" sz="1700" b="1">
                <a:solidFill>
                  <a:srgbClr val="07131F"/>
                </a:solidFill>
                <a:latin typeface="Arial" panose="020B0604020202020204" pitchFamily="34" charset="0"/>
              </a:rPr>
              <a:t>Fusión</a:t>
            </a:r>
          </a:p>
        </p:txBody>
      </p:sp>
      <p:sp>
        <p:nvSpPr>
          <p:cNvPr id="26" name="Flow detail">
            <a:extLst>
              <a:ext uri="{FF2B5EF4-FFF2-40B4-BE49-F238E27FC236}">
                <a16:creationId xmlns:a16="http://schemas.microsoft.com/office/drawing/2014/main" id="{F5821343-2D61-824A-60E8-8156E05D560B}"/>
              </a:ext>
            </a:extLst>
          </p:cNvPr>
          <p:cNvSpPr txBox="1"/>
          <p:nvPr/>
        </p:nvSpPr>
        <p:spPr>
          <a:xfrm>
            <a:off x="7213600" y="4445000"/>
            <a:ext cx="1828800" cy="276999"/>
          </a:xfrm>
          <a:prstGeom prst="rect">
            <a:avLst/>
          </a:prstGeom>
          <a:noFill/>
        </p:spPr>
        <p:txBody>
          <a:bodyPr vert="horz" wrap="square" lIns="0" tIns="0" rIns="0" bIns="0" rtlCol="0" anchor="t">
            <a:noAutofit/>
          </a:bodyPr>
          <a:lstStyle/>
          <a:p>
            <a:pPr algn="ctr">
              <a:spcAft>
                <a:spcPts val="400"/>
              </a:spcAft>
            </a:pPr>
            <a:r>
              <a:rPr lang="es-ES" sz="1200">
                <a:solidFill>
                  <a:srgbClr val="49657A"/>
                </a:solidFill>
                <a:latin typeface="Arial" panose="020B0604020202020204" pitchFamily="34" charset="0"/>
              </a:rPr>
              <a:t>Pesos, umbral y alta confianza</a:t>
            </a:r>
          </a:p>
        </p:txBody>
      </p:sp>
      <p:sp>
        <p:nvSpPr>
          <p:cNvPr id="27" name="Flow node 4">
            <a:extLst>
              <a:ext uri="{FF2B5EF4-FFF2-40B4-BE49-F238E27FC236}">
                <a16:creationId xmlns:a16="http://schemas.microsoft.com/office/drawing/2014/main" id="{1A38A6D5-D697-40DF-574A-1E304AF80C48}"/>
              </a:ext>
            </a:extLst>
          </p:cNvPr>
          <p:cNvSpPr/>
          <p:nvPr/>
        </p:nvSpPr>
        <p:spPr>
          <a:xfrm>
            <a:off x="9575800" y="3149600"/>
            <a:ext cx="533400" cy="533400"/>
          </a:xfrm>
          <a:prstGeom prst="ellipse">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Flow number">
            <a:extLst>
              <a:ext uri="{FF2B5EF4-FFF2-40B4-BE49-F238E27FC236}">
                <a16:creationId xmlns:a16="http://schemas.microsoft.com/office/drawing/2014/main" id="{B5674F8A-8D8D-81F7-5B45-38B2FC5DE386}"/>
              </a:ext>
            </a:extLst>
          </p:cNvPr>
          <p:cNvSpPr txBox="1"/>
          <p:nvPr/>
        </p:nvSpPr>
        <p:spPr>
          <a:xfrm>
            <a:off x="9664700" y="3289300"/>
            <a:ext cx="355600" cy="276999"/>
          </a:xfrm>
          <a:prstGeom prst="rect">
            <a:avLst/>
          </a:prstGeom>
          <a:noFill/>
        </p:spPr>
        <p:txBody>
          <a:bodyPr vert="horz" wrap="square" lIns="0" tIns="0" rIns="0" bIns="0" rtlCol="0" anchor="t">
            <a:noAutofit/>
          </a:bodyPr>
          <a:lstStyle/>
          <a:p>
            <a:pPr algn="ctr">
              <a:spcAft>
                <a:spcPts val="400"/>
              </a:spcAft>
            </a:pPr>
            <a:r>
              <a:rPr lang="es-ES" sz="1000" b="1">
                <a:solidFill>
                  <a:srgbClr val="FFFFFF"/>
                </a:solidFill>
                <a:latin typeface="Arial" panose="020B0604020202020204" pitchFamily="34" charset="0"/>
              </a:rPr>
              <a:t>05</a:t>
            </a:r>
          </a:p>
        </p:txBody>
      </p:sp>
      <p:sp>
        <p:nvSpPr>
          <p:cNvPr id="29" name="Flow title">
            <a:extLst>
              <a:ext uri="{FF2B5EF4-FFF2-40B4-BE49-F238E27FC236}">
                <a16:creationId xmlns:a16="http://schemas.microsoft.com/office/drawing/2014/main" id="{FACE3452-B055-7B4A-4640-14FC426D4AD7}"/>
              </a:ext>
            </a:extLst>
          </p:cNvPr>
          <p:cNvSpPr txBox="1"/>
          <p:nvPr/>
        </p:nvSpPr>
        <p:spPr>
          <a:xfrm>
            <a:off x="9448800" y="3987800"/>
            <a:ext cx="1676400" cy="276999"/>
          </a:xfrm>
          <a:prstGeom prst="rect">
            <a:avLst/>
          </a:prstGeom>
          <a:noFill/>
        </p:spPr>
        <p:txBody>
          <a:bodyPr vert="horz" wrap="square" lIns="0" tIns="0" rIns="0" bIns="0" rtlCol="0" anchor="t">
            <a:noAutofit/>
          </a:bodyPr>
          <a:lstStyle/>
          <a:p>
            <a:pPr algn="ctr">
              <a:spcAft>
                <a:spcPts val="400"/>
              </a:spcAft>
            </a:pPr>
            <a:r>
              <a:rPr lang="es-ES" sz="1700" b="1">
                <a:solidFill>
                  <a:srgbClr val="07131F"/>
                </a:solidFill>
                <a:latin typeface="Arial" panose="020B0604020202020204" pitchFamily="34" charset="0"/>
              </a:rPr>
              <a:t>Respuesta</a:t>
            </a:r>
          </a:p>
        </p:txBody>
      </p:sp>
      <p:sp>
        <p:nvSpPr>
          <p:cNvPr id="30" name="Flow detail">
            <a:extLst>
              <a:ext uri="{FF2B5EF4-FFF2-40B4-BE49-F238E27FC236}">
                <a16:creationId xmlns:a16="http://schemas.microsoft.com/office/drawing/2014/main" id="{F36EC688-DA43-3A04-B456-1206DC748D00}"/>
              </a:ext>
            </a:extLst>
          </p:cNvPr>
          <p:cNvSpPr txBox="1"/>
          <p:nvPr/>
        </p:nvSpPr>
        <p:spPr>
          <a:xfrm>
            <a:off x="9372600" y="4445000"/>
            <a:ext cx="1828800" cy="276999"/>
          </a:xfrm>
          <a:prstGeom prst="rect">
            <a:avLst/>
          </a:prstGeom>
          <a:noFill/>
        </p:spPr>
        <p:txBody>
          <a:bodyPr vert="horz" wrap="square" lIns="0" tIns="0" rIns="0" bIns="0" rtlCol="0" anchor="t">
            <a:noAutofit/>
          </a:bodyPr>
          <a:lstStyle/>
          <a:p>
            <a:pPr algn="ctr">
              <a:spcAft>
                <a:spcPts val="400"/>
              </a:spcAft>
            </a:pPr>
            <a:r>
              <a:rPr lang="es-ES" sz="1200">
                <a:solidFill>
                  <a:srgbClr val="49657A"/>
                </a:solidFill>
                <a:latin typeface="Arial" panose="020B0604020202020204" pitchFamily="34" charset="0"/>
              </a:rPr>
              <a:t>Riesgo, señales y explicación</a:t>
            </a:r>
          </a:p>
        </p:txBody>
      </p:sp>
      <p:sp>
        <p:nvSpPr>
          <p:cNvPr id="31" name="Flow takeaway">
            <a:extLst>
              <a:ext uri="{FF2B5EF4-FFF2-40B4-BE49-F238E27FC236}">
                <a16:creationId xmlns:a16="http://schemas.microsoft.com/office/drawing/2014/main" id="{12192A43-D7A6-1AD6-5BE8-1D2B447EE826}"/>
              </a:ext>
            </a:extLst>
          </p:cNvPr>
          <p:cNvSpPr txBox="1"/>
          <p:nvPr/>
        </p:nvSpPr>
        <p:spPr>
          <a:xfrm>
            <a:off x="1778000" y="5588000"/>
            <a:ext cx="8636000" cy="276999"/>
          </a:xfrm>
          <a:prstGeom prst="rect">
            <a:avLst/>
          </a:prstGeom>
          <a:noFill/>
        </p:spPr>
        <p:txBody>
          <a:bodyPr vert="horz" wrap="square" lIns="0" tIns="0" rIns="0" bIns="0" rtlCol="0" anchor="t">
            <a:noAutofit/>
          </a:bodyPr>
          <a:lstStyle/>
          <a:p>
            <a:pPr algn="ctr">
              <a:spcAft>
                <a:spcPts val="400"/>
              </a:spcAft>
            </a:pPr>
            <a:r>
              <a:rPr lang="es-ES" sz="1500" b="1">
                <a:solidFill>
                  <a:srgbClr val="12304A"/>
                </a:solidFill>
                <a:latin typeface="Arial" panose="020B0604020202020204" pitchFamily="34" charset="0"/>
              </a:rPr>
              <a:t>El contrato /analyze limita la entrada, devuelve una respuesta común y mantiene la lógica fuera de los clientes.</a:t>
            </a:r>
          </a:p>
        </p:txBody>
      </p:sp>
    </p:spTree>
    <p:extLst>
      <p:ext uri="{BB962C8B-B14F-4D97-AF65-F5344CB8AC3E}">
        <p14:creationId xmlns:p14="http://schemas.microsoft.com/office/powerpoint/2010/main" val="1163183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8481E157-A4EC-0AEC-DB73-F8945A47C354}"/>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MÉTODO</a:t>
            </a:r>
          </a:p>
        </p:txBody>
      </p:sp>
      <p:sp>
        <p:nvSpPr>
          <p:cNvPr id="3" name="Slide title">
            <a:extLst>
              <a:ext uri="{FF2B5EF4-FFF2-40B4-BE49-F238E27FC236}">
                <a16:creationId xmlns:a16="http://schemas.microsoft.com/office/drawing/2014/main" id="{A07EDD8E-6668-5352-3664-5121ED1E72C0}"/>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Reglas y clasificador neuronal</a:t>
            </a:r>
          </a:p>
        </p:txBody>
      </p:sp>
      <p:cxnSp>
        <p:nvCxnSpPr>
          <p:cNvPr id="4" name="Accent rule">
            <a:extLst>
              <a:ext uri="{FF2B5EF4-FFF2-40B4-BE49-F238E27FC236}">
                <a16:creationId xmlns:a16="http://schemas.microsoft.com/office/drawing/2014/main" id="{7085858F-88E1-CE52-E7FF-6632EAB4FD78}"/>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036F930A-DB7A-6960-55FE-87C509F7172E}"/>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FD2B3DEA-DEA6-BA90-17E5-18CEC10FC8A5}"/>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6</a:t>
            </a:r>
          </a:p>
        </p:txBody>
      </p:sp>
      <p:sp>
        <p:nvSpPr>
          <p:cNvPr id="7" name="Heuristic label">
            <a:extLst>
              <a:ext uri="{FF2B5EF4-FFF2-40B4-BE49-F238E27FC236}">
                <a16:creationId xmlns:a16="http://schemas.microsoft.com/office/drawing/2014/main" id="{57F50A15-7358-2883-7F25-1C6752AD3720}"/>
              </a:ext>
            </a:extLst>
          </p:cNvPr>
          <p:cNvSpPr txBox="1"/>
          <p:nvPr/>
        </p:nvSpPr>
        <p:spPr>
          <a:xfrm>
            <a:off x="914400" y="1739900"/>
            <a:ext cx="4572000" cy="276999"/>
          </a:xfrm>
          <a:prstGeom prst="rect">
            <a:avLst/>
          </a:prstGeom>
          <a:noFill/>
        </p:spPr>
        <p:txBody>
          <a:bodyPr vert="horz" wrap="square" lIns="0" tIns="0" rIns="0" bIns="0" rtlCol="0" anchor="t">
            <a:noAutofit/>
          </a:bodyPr>
          <a:lstStyle/>
          <a:p>
            <a:pPr>
              <a:spcAft>
                <a:spcPts val="400"/>
              </a:spcAft>
            </a:pPr>
            <a:r>
              <a:rPr lang="es-ES" sz="1200" b="1">
                <a:solidFill>
                  <a:srgbClr val="0F766E"/>
                </a:solidFill>
                <a:latin typeface="Arial" panose="020B0604020202020204" pitchFamily="34" charset="0"/>
              </a:rPr>
              <a:t>HEURÍSTICA EXPLICABLE</a:t>
            </a:r>
          </a:p>
        </p:txBody>
      </p:sp>
      <p:sp>
        <p:nvSpPr>
          <p:cNvPr id="8" name="Heuristic title">
            <a:extLst>
              <a:ext uri="{FF2B5EF4-FFF2-40B4-BE49-F238E27FC236}">
                <a16:creationId xmlns:a16="http://schemas.microsoft.com/office/drawing/2014/main" id="{99E511AB-215F-DF43-8F23-BAA8A94059D8}"/>
              </a:ext>
            </a:extLst>
          </p:cNvPr>
          <p:cNvSpPr txBox="1"/>
          <p:nvPr/>
        </p:nvSpPr>
        <p:spPr>
          <a:xfrm>
            <a:off x="914400" y="2159000"/>
            <a:ext cx="4572000" cy="276999"/>
          </a:xfrm>
          <a:prstGeom prst="rect">
            <a:avLst/>
          </a:prstGeom>
          <a:noFill/>
        </p:spPr>
        <p:txBody>
          <a:bodyPr vert="horz" wrap="square" lIns="0" tIns="0" rIns="0" bIns="0" rtlCol="0" anchor="t">
            <a:noAutofit/>
          </a:bodyPr>
          <a:lstStyle/>
          <a:p>
            <a:pPr>
              <a:spcAft>
                <a:spcPts val="400"/>
              </a:spcAft>
            </a:pPr>
            <a:r>
              <a:rPr lang="es-ES" sz="2400" b="1">
                <a:solidFill>
                  <a:srgbClr val="07131F"/>
                </a:solidFill>
                <a:latin typeface="Arial" panose="020B0604020202020204" pitchFamily="34" charset="0"/>
              </a:rPr>
              <a:t>Inspecciona indicios concretos</a:t>
            </a:r>
          </a:p>
        </p:txBody>
      </p:sp>
      <p:sp>
        <p:nvSpPr>
          <p:cNvPr id="9" name="Heuristic list">
            <a:extLst>
              <a:ext uri="{FF2B5EF4-FFF2-40B4-BE49-F238E27FC236}">
                <a16:creationId xmlns:a16="http://schemas.microsoft.com/office/drawing/2014/main" id="{CE7E9A0C-6930-1A03-4052-AD549166809C}"/>
              </a:ext>
            </a:extLst>
          </p:cNvPr>
          <p:cNvSpPr txBox="1"/>
          <p:nvPr/>
        </p:nvSpPr>
        <p:spPr>
          <a:xfrm>
            <a:off x="914400" y="2857500"/>
            <a:ext cx="4572000" cy="276999"/>
          </a:xfrm>
          <a:prstGeom prst="rect">
            <a:avLst/>
          </a:prstGeom>
          <a:noFill/>
        </p:spPr>
        <p:txBody>
          <a:bodyPr vert="horz" wrap="square" lIns="0" tIns="0" rIns="0" bIns="0" rtlCol="0" anchor="t">
            <a:noAutofit/>
          </a:bodyPr>
          <a:lstStyle/>
          <a:p>
            <a:pPr>
              <a:spcAft>
                <a:spcPts val="400"/>
              </a:spcAft>
            </a:pPr>
            <a:r>
              <a:rPr lang="es-ES" sz="1600">
                <a:solidFill>
                  <a:srgbClr val="49657A"/>
                </a:solidFill>
                <a:latin typeface="Arial" panose="020B0604020202020204" pitchFamily="34" charset="0"/>
              </a:rPr>
              <a:t>Lectura pasiva de SPF/DKIM/DMARC en cabeceras
Remitente, dominio y URLs
HTML, adjuntos y redirecciones
Urgencia, credenciales y BEC</a:t>
            </a:r>
          </a:p>
        </p:txBody>
      </p:sp>
      <p:cxnSp>
        <p:nvCxnSpPr>
          <p:cNvPr id="10" name="Detector divider">
            <a:extLst>
              <a:ext uri="{FF2B5EF4-FFF2-40B4-BE49-F238E27FC236}">
                <a16:creationId xmlns:a16="http://schemas.microsoft.com/office/drawing/2014/main" id="{B1FA503F-8DF3-1679-5A28-99EAB148EC82}"/>
              </a:ext>
            </a:extLst>
          </p:cNvPr>
          <p:cNvCxnSpPr/>
          <p:nvPr/>
        </p:nvCxnSpPr>
        <p:spPr>
          <a:xfrm>
            <a:off x="6096000" y="1727200"/>
            <a:ext cx="0" cy="3225800"/>
          </a:xfrm>
          <a:prstGeom prst="line">
            <a:avLst/>
          </a:prstGeom>
          <a:ln w="17780">
            <a:solidFill>
              <a:srgbClr val="DCE5EA"/>
            </a:solidFill>
          </a:ln>
        </p:spPr>
        <p:style>
          <a:lnRef idx="2">
            <a:schemeClr val="accent1"/>
          </a:lnRef>
          <a:fillRef idx="0">
            <a:schemeClr val="accent1"/>
          </a:fillRef>
          <a:effectRef idx="1">
            <a:schemeClr val="accent1"/>
          </a:effectRef>
          <a:fontRef idx="minor">
            <a:schemeClr val="tx1"/>
          </a:fontRef>
        </p:style>
      </p:cxnSp>
      <p:sp>
        <p:nvSpPr>
          <p:cNvPr id="11" name="Neural label">
            <a:extLst>
              <a:ext uri="{FF2B5EF4-FFF2-40B4-BE49-F238E27FC236}">
                <a16:creationId xmlns:a16="http://schemas.microsoft.com/office/drawing/2014/main" id="{04FF9BFC-9EE0-4F43-E685-FD6A01FCDEF4}"/>
              </a:ext>
            </a:extLst>
          </p:cNvPr>
          <p:cNvSpPr txBox="1"/>
          <p:nvPr/>
        </p:nvSpPr>
        <p:spPr>
          <a:xfrm>
            <a:off x="6705600" y="1739900"/>
            <a:ext cx="4572000" cy="276999"/>
          </a:xfrm>
          <a:prstGeom prst="rect">
            <a:avLst/>
          </a:prstGeom>
          <a:noFill/>
        </p:spPr>
        <p:txBody>
          <a:bodyPr vert="horz" wrap="square" lIns="0" tIns="0" rIns="0" bIns="0" rtlCol="0" anchor="t">
            <a:noAutofit/>
          </a:bodyPr>
          <a:lstStyle/>
          <a:p>
            <a:pPr>
              <a:spcAft>
                <a:spcPts val="400"/>
              </a:spcAft>
            </a:pPr>
            <a:r>
              <a:rPr lang="es-ES" sz="1200" b="1">
                <a:solidFill>
                  <a:srgbClr val="008477"/>
                </a:solidFill>
                <a:latin typeface="Arial" panose="020B0604020202020204" pitchFamily="34" charset="0"/>
              </a:rPr>
              <a:t>CLASIFICADOR NEURONAL</a:t>
            </a:r>
          </a:p>
        </p:txBody>
      </p:sp>
      <p:sp>
        <p:nvSpPr>
          <p:cNvPr id="12" name="Neural title">
            <a:extLst>
              <a:ext uri="{FF2B5EF4-FFF2-40B4-BE49-F238E27FC236}">
                <a16:creationId xmlns:a16="http://schemas.microsoft.com/office/drawing/2014/main" id="{91957C98-D51E-B801-6D3C-F786B953D173}"/>
              </a:ext>
            </a:extLst>
          </p:cNvPr>
          <p:cNvSpPr txBox="1"/>
          <p:nvPr/>
        </p:nvSpPr>
        <p:spPr>
          <a:xfrm>
            <a:off x="6705600" y="2159000"/>
            <a:ext cx="4572000" cy="276999"/>
          </a:xfrm>
          <a:prstGeom prst="rect">
            <a:avLst/>
          </a:prstGeom>
          <a:noFill/>
        </p:spPr>
        <p:txBody>
          <a:bodyPr vert="horz" wrap="square" lIns="0" tIns="0" rIns="0" bIns="0" rtlCol="0" anchor="t">
            <a:noAutofit/>
          </a:bodyPr>
          <a:lstStyle/>
          <a:p>
            <a:pPr>
              <a:spcAft>
                <a:spcPts val="400"/>
              </a:spcAft>
            </a:pPr>
            <a:r>
              <a:rPr lang="es-ES" sz="2400" b="1">
                <a:solidFill>
                  <a:srgbClr val="07131F"/>
                </a:solidFill>
                <a:latin typeface="Arial" panose="020B0604020202020204" pitchFamily="34" charset="0"/>
              </a:rPr>
              <a:t>Aprende patrones del lenguaje</a:t>
            </a:r>
          </a:p>
        </p:txBody>
      </p:sp>
      <p:sp>
        <p:nvSpPr>
          <p:cNvPr id="13" name="Neural list">
            <a:extLst>
              <a:ext uri="{FF2B5EF4-FFF2-40B4-BE49-F238E27FC236}">
                <a16:creationId xmlns:a16="http://schemas.microsoft.com/office/drawing/2014/main" id="{8D220CBB-6CE1-9ADB-4DEA-D6D5FA780CE5}"/>
              </a:ext>
            </a:extLst>
          </p:cNvPr>
          <p:cNvSpPr txBox="1"/>
          <p:nvPr/>
        </p:nvSpPr>
        <p:spPr>
          <a:xfrm>
            <a:off x="6705600" y="2857500"/>
            <a:ext cx="4572000" cy="276999"/>
          </a:xfrm>
          <a:prstGeom prst="rect">
            <a:avLst/>
          </a:prstGeom>
          <a:noFill/>
        </p:spPr>
        <p:txBody>
          <a:bodyPr vert="horz" wrap="square" lIns="0" tIns="0" rIns="0" bIns="0" rtlCol="0" anchor="t">
            <a:noAutofit/>
          </a:bodyPr>
          <a:lstStyle/>
          <a:p>
            <a:pPr>
              <a:spcAft>
                <a:spcPts val="400"/>
              </a:spcAft>
            </a:pPr>
            <a:r>
              <a:rPr lang="es-ES" sz="1600">
                <a:solidFill>
                  <a:srgbClr val="49657A"/>
                </a:solidFill>
                <a:latin typeface="Arial" panose="020B0604020202020204" pitchFamily="34" charset="0"/>
              </a:rPr>
              <a:t>TF-IDF con n-gramas
Perceptrón multicapa (MLP)
Modelos separados ES / EN
Puntuación de clase positiva</a:t>
            </a:r>
          </a:p>
        </p:txBody>
      </p:sp>
      <p:sp>
        <p:nvSpPr>
          <p:cNvPr id="14" name="Combined band">
            <a:extLst>
              <a:ext uri="{FF2B5EF4-FFF2-40B4-BE49-F238E27FC236}">
                <a16:creationId xmlns:a16="http://schemas.microsoft.com/office/drawing/2014/main" id="{5DE7C340-F764-11CF-8C4E-7BBA8F75F27A}"/>
              </a:ext>
            </a:extLst>
          </p:cNvPr>
          <p:cNvSpPr/>
          <p:nvPr/>
        </p:nvSpPr>
        <p:spPr>
          <a:xfrm>
            <a:off x="1574800" y="5207000"/>
            <a:ext cx="9042400" cy="787400"/>
          </a:xfrm>
          <a:prstGeom prst="rect">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ombined label">
            <a:extLst>
              <a:ext uri="{FF2B5EF4-FFF2-40B4-BE49-F238E27FC236}">
                <a16:creationId xmlns:a16="http://schemas.microsoft.com/office/drawing/2014/main" id="{485472B5-FB48-4689-AA47-998A2F14B8E2}"/>
              </a:ext>
            </a:extLst>
          </p:cNvPr>
          <p:cNvSpPr txBox="1"/>
          <p:nvPr/>
        </p:nvSpPr>
        <p:spPr>
          <a:xfrm>
            <a:off x="1879600" y="5461000"/>
            <a:ext cx="1905000" cy="276999"/>
          </a:xfrm>
          <a:prstGeom prst="rect">
            <a:avLst/>
          </a:prstGeom>
          <a:noFill/>
        </p:spPr>
        <p:txBody>
          <a:bodyPr vert="horz" wrap="square" lIns="0" tIns="0" rIns="0" bIns="0" rtlCol="0" anchor="t">
            <a:noAutofit/>
          </a:bodyPr>
          <a:lstStyle/>
          <a:p>
            <a:pPr>
              <a:spcAft>
                <a:spcPts val="400"/>
              </a:spcAft>
            </a:pPr>
            <a:r>
              <a:rPr lang="es-ES" sz="1200" b="1">
                <a:solidFill>
                  <a:srgbClr val="CCFBF1"/>
                </a:solidFill>
                <a:latin typeface="Arial" panose="020B0604020202020204" pitchFamily="34" charset="0"/>
              </a:rPr>
              <a:t>CALIBRACIÓN LOCAL</a:t>
            </a:r>
          </a:p>
        </p:txBody>
      </p:sp>
      <p:sp>
        <p:nvSpPr>
          <p:cNvPr id="16" name="Combined formula">
            <a:extLst>
              <a:ext uri="{FF2B5EF4-FFF2-40B4-BE49-F238E27FC236}">
                <a16:creationId xmlns:a16="http://schemas.microsoft.com/office/drawing/2014/main" id="{A893ABE3-FE94-E254-9E07-9AABB2CD2B7D}"/>
              </a:ext>
            </a:extLst>
          </p:cNvPr>
          <p:cNvSpPr txBox="1"/>
          <p:nvPr/>
        </p:nvSpPr>
        <p:spPr>
          <a:xfrm>
            <a:off x="4038600" y="5397500"/>
            <a:ext cx="6223000" cy="276999"/>
          </a:xfrm>
          <a:prstGeom prst="rect">
            <a:avLst/>
          </a:prstGeom>
          <a:noFill/>
        </p:spPr>
        <p:txBody>
          <a:bodyPr vert="horz" wrap="square" lIns="0" tIns="0" rIns="0" bIns="0" rtlCol="0" anchor="ctr">
            <a:noAutofit/>
          </a:bodyPr>
          <a:lstStyle/>
          <a:p>
            <a:pPr>
              <a:spcAft>
                <a:spcPts val="400"/>
              </a:spcAft>
            </a:pPr>
            <a:r>
              <a:rPr lang="es-ES" sz="1800" b="1">
                <a:solidFill>
                  <a:srgbClr val="FFFFFF"/>
                </a:solidFill>
                <a:latin typeface="Arial" panose="020B0604020202020204" pitchFamily="34" charset="0"/>
              </a:rPr>
              <a:t>45/55 · 40 casos · umbral 21 · alta confianza ≥ 70</a:t>
            </a:r>
          </a:p>
        </p:txBody>
      </p:sp>
    </p:spTree>
    <p:extLst>
      <p:ext uri="{BB962C8B-B14F-4D97-AF65-F5344CB8AC3E}">
        <p14:creationId xmlns:p14="http://schemas.microsoft.com/office/powerpoint/2010/main" val="1049748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234A0155-1839-C085-7538-9C3564D404BD}"/>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CENTRALIZACIÓN</a:t>
            </a:r>
          </a:p>
        </p:txBody>
      </p:sp>
      <p:sp>
        <p:nvSpPr>
          <p:cNvPr id="3" name="Slide title">
            <a:extLst>
              <a:ext uri="{FF2B5EF4-FFF2-40B4-BE49-F238E27FC236}">
                <a16:creationId xmlns:a16="http://schemas.microsoft.com/office/drawing/2014/main" id="{D23EBE92-9D29-7939-F97D-4F7ADDCB21AA}"/>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Una versión activa sirve a todos los clientes</a:t>
            </a:r>
          </a:p>
        </p:txBody>
      </p:sp>
      <p:cxnSp>
        <p:nvCxnSpPr>
          <p:cNvPr id="4" name="Accent rule">
            <a:extLst>
              <a:ext uri="{FF2B5EF4-FFF2-40B4-BE49-F238E27FC236}">
                <a16:creationId xmlns:a16="http://schemas.microsoft.com/office/drawing/2014/main" id="{1CAD9E38-EFE2-C163-B647-56E86699F5BD}"/>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9AC5544C-91E9-D979-36F1-C4D6765F8F3F}"/>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48BCFAF2-3322-5A33-6FD9-376E47CBB6F1}"/>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7</a:t>
            </a:r>
          </a:p>
        </p:txBody>
      </p:sp>
      <p:cxnSp>
        <p:nvCxnSpPr>
          <p:cNvPr id="7" name="Model timeline">
            <a:extLst>
              <a:ext uri="{FF2B5EF4-FFF2-40B4-BE49-F238E27FC236}">
                <a16:creationId xmlns:a16="http://schemas.microsoft.com/office/drawing/2014/main" id="{78CBA8E7-69BD-B5DE-92A4-27347FC5763A}"/>
              </a:ext>
            </a:extLst>
          </p:cNvPr>
          <p:cNvCxnSpPr/>
          <p:nvPr/>
        </p:nvCxnSpPr>
        <p:spPr>
          <a:xfrm>
            <a:off x="1244600" y="3454400"/>
            <a:ext cx="9702800" cy="0"/>
          </a:xfrm>
          <a:prstGeom prst="line">
            <a:avLst/>
          </a:prstGeom>
          <a:ln w="19050">
            <a:solidFill>
              <a:srgbClr val="07131F"/>
            </a:solidFill>
          </a:ln>
        </p:spPr>
        <p:style>
          <a:lnRef idx="2">
            <a:schemeClr val="accent1"/>
          </a:lnRef>
          <a:fillRef idx="0">
            <a:schemeClr val="accent1"/>
          </a:fillRef>
          <a:effectRef idx="1">
            <a:schemeClr val="accent1"/>
          </a:effectRef>
          <a:fontRef idx="minor">
            <a:schemeClr val="tx1"/>
          </a:fontRef>
        </p:style>
      </p:cxnSp>
      <p:sp>
        <p:nvSpPr>
          <p:cNvPr id="8" name="Timeline dot">
            <a:extLst>
              <a:ext uri="{FF2B5EF4-FFF2-40B4-BE49-F238E27FC236}">
                <a16:creationId xmlns:a16="http://schemas.microsoft.com/office/drawing/2014/main" id="{4B6D7CA4-ABCF-B53A-A892-B709495EF3DC}"/>
              </a:ext>
            </a:extLst>
          </p:cNvPr>
          <p:cNvSpPr/>
          <p:nvPr/>
        </p:nvSpPr>
        <p:spPr>
          <a:xfrm>
            <a:off x="1536700" y="3365500"/>
            <a:ext cx="177800" cy="177800"/>
          </a:xfrm>
          <a:prstGeom prst="ellipse">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Timeline dot">
            <a:extLst>
              <a:ext uri="{FF2B5EF4-FFF2-40B4-BE49-F238E27FC236}">
                <a16:creationId xmlns:a16="http://schemas.microsoft.com/office/drawing/2014/main" id="{98FB793E-B70D-713A-9310-9E06AA6CFA46}"/>
              </a:ext>
            </a:extLst>
          </p:cNvPr>
          <p:cNvSpPr/>
          <p:nvPr/>
        </p:nvSpPr>
        <p:spPr>
          <a:xfrm>
            <a:off x="5245100" y="3365500"/>
            <a:ext cx="177800" cy="177800"/>
          </a:xfrm>
          <a:prstGeom prst="ellipse">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Timeline dot">
            <a:extLst>
              <a:ext uri="{FF2B5EF4-FFF2-40B4-BE49-F238E27FC236}">
                <a16:creationId xmlns:a16="http://schemas.microsoft.com/office/drawing/2014/main" id="{ADB3F4E5-0590-C409-640C-A8B5E4ADB1B8}"/>
              </a:ext>
            </a:extLst>
          </p:cNvPr>
          <p:cNvSpPr/>
          <p:nvPr/>
        </p:nvSpPr>
        <p:spPr>
          <a:xfrm>
            <a:off x="8953500" y="3365500"/>
            <a:ext cx="177800" cy="177800"/>
          </a:xfrm>
          <a:prstGeom prst="ellipse">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Timeline label">
            <a:extLst>
              <a:ext uri="{FF2B5EF4-FFF2-40B4-BE49-F238E27FC236}">
                <a16:creationId xmlns:a16="http://schemas.microsoft.com/office/drawing/2014/main" id="{DBED6EF8-A907-B5EA-C387-74A386F3322D}"/>
              </a:ext>
            </a:extLst>
          </p:cNvPr>
          <p:cNvSpPr txBox="1"/>
          <p:nvPr/>
        </p:nvSpPr>
        <p:spPr>
          <a:xfrm>
            <a:off x="1092200" y="2590800"/>
            <a:ext cx="3048000" cy="276999"/>
          </a:xfrm>
          <a:prstGeom prst="rect">
            <a:avLst/>
          </a:prstGeom>
          <a:noFill/>
        </p:spPr>
        <p:txBody>
          <a:bodyPr vert="horz" wrap="square" lIns="0" tIns="0" rIns="0" bIns="0" rtlCol="0" anchor="t">
            <a:noAutofit/>
          </a:bodyPr>
          <a:lstStyle/>
          <a:p>
            <a:pPr>
              <a:spcAft>
                <a:spcPts val="400"/>
              </a:spcAft>
            </a:pPr>
            <a:r>
              <a:rPr lang="es-ES" sz="1200" b="1">
                <a:solidFill>
                  <a:srgbClr val="0F766E"/>
                </a:solidFill>
                <a:latin typeface="Arial" panose="020B0604020202020204" pitchFamily="34" charset="0"/>
              </a:rPr>
              <a:t>01 · ENTRENAR</a:t>
            </a:r>
          </a:p>
        </p:txBody>
      </p:sp>
      <p:sp>
        <p:nvSpPr>
          <p:cNvPr id="12" name="Timeline title">
            <a:extLst>
              <a:ext uri="{FF2B5EF4-FFF2-40B4-BE49-F238E27FC236}">
                <a16:creationId xmlns:a16="http://schemas.microsoft.com/office/drawing/2014/main" id="{C9653E15-7534-543B-5D15-A3332D0ACC8E}"/>
              </a:ext>
            </a:extLst>
          </p:cNvPr>
          <p:cNvSpPr txBox="1"/>
          <p:nvPr/>
        </p:nvSpPr>
        <p:spPr>
          <a:xfrm>
            <a:off x="1092200" y="3962400"/>
            <a:ext cx="3048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El cliente envía CSV e hiperparámetros</a:t>
            </a:r>
          </a:p>
        </p:txBody>
      </p:sp>
      <p:sp>
        <p:nvSpPr>
          <p:cNvPr id="13" name="Timeline detail">
            <a:extLst>
              <a:ext uri="{FF2B5EF4-FFF2-40B4-BE49-F238E27FC236}">
                <a16:creationId xmlns:a16="http://schemas.microsoft.com/office/drawing/2014/main" id="{469BC24A-57B4-BA49-8B11-C0147DD8DE48}"/>
              </a:ext>
            </a:extLst>
          </p:cNvPr>
          <p:cNvSpPr txBox="1"/>
          <p:nvPr/>
        </p:nvSpPr>
        <p:spPr>
          <a:xfrm>
            <a:off x="1092200" y="4749800"/>
            <a:ext cx="2794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El backend crea un pipeline nuevo desde cero.</a:t>
            </a:r>
          </a:p>
        </p:txBody>
      </p:sp>
      <p:sp>
        <p:nvSpPr>
          <p:cNvPr id="14" name="Timeline label">
            <a:extLst>
              <a:ext uri="{FF2B5EF4-FFF2-40B4-BE49-F238E27FC236}">
                <a16:creationId xmlns:a16="http://schemas.microsoft.com/office/drawing/2014/main" id="{83D57ABE-ADBC-D175-2DC0-DE716A37FFA3}"/>
              </a:ext>
            </a:extLst>
          </p:cNvPr>
          <p:cNvSpPr txBox="1"/>
          <p:nvPr/>
        </p:nvSpPr>
        <p:spPr>
          <a:xfrm>
            <a:off x="4800600" y="2590800"/>
            <a:ext cx="3048000" cy="276999"/>
          </a:xfrm>
          <a:prstGeom prst="rect">
            <a:avLst/>
          </a:prstGeom>
          <a:noFill/>
        </p:spPr>
        <p:txBody>
          <a:bodyPr vert="horz" wrap="square" lIns="0" tIns="0" rIns="0" bIns="0" rtlCol="0" anchor="t">
            <a:noAutofit/>
          </a:bodyPr>
          <a:lstStyle/>
          <a:p>
            <a:pPr>
              <a:spcAft>
                <a:spcPts val="400"/>
              </a:spcAft>
            </a:pPr>
            <a:r>
              <a:rPr lang="es-ES" sz="1200" b="1">
                <a:solidFill>
                  <a:srgbClr val="0F766E"/>
                </a:solidFill>
                <a:latin typeface="Arial" panose="020B0604020202020204" pitchFamily="34" charset="0"/>
              </a:rPr>
              <a:t>02 · ACTIVAR</a:t>
            </a:r>
          </a:p>
        </p:txBody>
      </p:sp>
      <p:sp>
        <p:nvSpPr>
          <p:cNvPr id="15" name="Timeline title">
            <a:extLst>
              <a:ext uri="{FF2B5EF4-FFF2-40B4-BE49-F238E27FC236}">
                <a16:creationId xmlns:a16="http://schemas.microsoft.com/office/drawing/2014/main" id="{A03716D9-A7CB-4807-1BFB-A46CCD6F501F}"/>
              </a:ext>
            </a:extLst>
          </p:cNvPr>
          <p:cNvSpPr txBox="1"/>
          <p:nvPr/>
        </p:nvSpPr>
        <p:spPr>
          <a:xfrm>
            <a:off x="4800600" y="3962400"/>
            <a:ext cx="3048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Guardado atómico y caché invalidada</a:t>
            </a:r>
          </a:p>
        </p:txBody>
      </p:sp>
      <p:sp>
        <p:nvSpPr>
          <p:cNvPr id="16" name="Timeline detail">
            <a:extLst>
              <a:ext uri="{FF2B5EF4-FFF2-40B4-BE49-F238E27FC236}">
                <a16:creationId xmlns:a16="http://schemas.microsoft.com/office/drawing/2014/main" id="{BDC0B2F5-4286-B00F-305C-9485A3F8D1F3}"/>
              </a:ext>
            </a:extLst>
          </p:cNvPr>
          <p:cNvSpPr txBox="1"/>
          <p:nvPr/>
        </p:nvSpPr>
        <p:spPr>
          <a:xfrm>
            <a:off x="4800600" y="4749800"/>
            <a:ext cx="2794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Una versión activa por idioma: ES y EN.</a:t>
            </a:r>
          </a:p>
        </p:txBody>
      </p:sp>
      <p:sp>
        <p:nvSpPr>
          <p:cNvPr id="17" name="Timeline label">
            <a:extLst>
              <a:ext uri="{FF2B5EF4-FFF2-40B4-BE49-F238E27FC236}">
                <a16:creationId xmlns:a16="http://schemas.microsoft.com/office/drawing/2014/main" id="{91D5A1D1-39CD-2612-3094-5D1282F8A822}"/>
              </a:ext>
            </a:extLst>
          </p:cNvPr>
          <p:cNvSpPr txBox="1"/>
          <p:nvPr/>
        </p:nvSpPr>
        <p:spPr>
          <a:xfrm>
            <a:off x="8509000" y="2590800"/>
            <a:ext cx="3048000" cy="276999"/>
          </a:xfrm>
          <a:prstGeom prst="rect">
            <a:avLst/>
          </a:prstGeom>
          <a:noFill/>
        </p:spPr>
        <p:txBody>
          <a:bodyPr vert="horz" wrap="square" lIns="0" tIns="0" rIns="0" bIns="0" rtlCol="0" anchor="t">
            <a:noAutofit/>
          </a:bodyPr>
          <a:lstStyle/>
          <a:p>
            <a:pPr>
              <a:spcAft>
                <a:spcPts val="400"/>
              </a:spcAft>
            </a:pPr>
            <a:r>
              <a:rPr lang="es-ES" sz="1200" b="1">
                <a:solidFill>
                  <a:srgbClr val="0F766E"/>
                </a:solidFill>
                <a:latin typeface="Arial" panose="020B0604020202020204" pitchFamily="34" charset="0"/>
              </a:rPr>
              <a:t>03 · COMPARTIR</a:t>
            </a:r>
          </a:p>
        </p:txBody>
      </p:sp>
      <p:sp>
        <p:nvSpPr>
          <p:cNvPr id="18" name="Timeline title">
            <a:extLst>
              <a:ext uri="{FF2B5EF4-FFF2-40B4-BE49-F238E27FC236}">
                <a16:creationId xmlns:a16="http://schemas.microsoft.com/office/drawing/2014/main" id="{A70BEB8D-C21F-462D-A01E-502F34BC74EA}"/>
              </a:ext>
            </a:extLst>
          </p:cNvPr>
          <p:cNvSpPr txBox="1"/>
          <p:nvPr/>
        </p:nvSpPr>
        <p:spPr>
          <a:xfrm>
            <a:off x="8509000" y="3962400"/>
            <a:ext cx="3048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Web, extensión y monitor</a:t>
            </a:r>
          </a:p>
        </p:txBody>
      </p:sp>
      <p:sp>
        <p:nvSpPr>
          <p:cNvPr id="19" name="Timeline detail">
            <a:extLst>
              <a:ext uri="{FF2B5EF4-FFF2-40B4-BE49-F238E27FC236}">
                <a16:creationId xmlns:a16="http://schemas.microsoft.com/office/drawing/2014/main" id="{3F2AE21F-C417-24F8-65C5-5F43568DA470}"/>
              </a:ext>
            </a:extLst>
          </p:cNvPr>
          <p:cNvSpPr txBox="1"/>
          <p:nvPr/>
        </p:nvSpPr>
        <p:spPr>
          <a:xfrm>
            <a:off x="8509000" y="4749800"/>
            <a:ext cx="2794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La siguiente petición usa la versión nueva.</a:t>
            </a:r>
          </a:p>
        </p:txBody>
      </p:sp>
      <p:sp>
        <p:nvSpPr>
          <p:cNvPr id="20" name="Central takeaway">
            <a:extLst>
              <a:ext uri="{FF2B5EF4-FFF2-40B4-BE49-F238E27FC236}">
                <a16:creationId xmlns:a16="http://schemas.microsoft.com/office/drawing/2014/main" id="{F7329F7E-71F7-FBE5-49BC-CD322164261C}"/>
              </a:ext>
            </a:extLst>
          </p:cNvPr>
          <p:cNvSpPr txBox="1"/>
          <p:nvPr/>
        </p:nvSpPr>
        <p:spPr>
          <a:xfrm>
            <a:off x="1981200" y="5727700"/>
            <a:ext cx="8229600" cy="276999"/>
          </a:xfrm>
          <a:prstGeom prst="rect">
            <a:avLst/>
          </a:prstGeom>
          <a:noFill/>
        </p:spPr>
        <p:txBody>
          <a:bodyPr vert="horz" wrap="square" lIns="0" tIns="0" rIns="0" bIns="0" rtlCol="0" anchor="t">
            <a:noAutofit/>
          </a:bodyPr>
          <a:lstStyle/>
          <a:p>
            <a:pPr algn="ctr">
              <a:spcAft>
                <a:spcPts val="400"/>
              </a:spcAft>
            </a:pPr>
            <a:r>
              <a:rPr lang="es-ES" b="1">
                <a:solidFill>
                  <a:srgbClr val="12304A"/>
                </a:solidFill>
                <a:latin typeface="Arial" panose="020B0604020202020204" pitchFamily="34" charset="0"/>
              </a:rPr>
              <a:t>Resultado: cambiar el modelo en el servidor actualiza a todos sin reinstalar clientes.</a:t>
            </a:r>
          </a:p>
        </p:txBody>
      </p:sp>
    </p:spTree>
    <p:extLst>
      <p:ext uri="{BB962C8B-B14F-4D97-AF65-F5344CB8AC3E}">
        <p14:creationId xmlns:p14="http://schemas.microsoft.com/office/powerpoint/2010/main" val="2826072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A554AFEA-2E36-0A99-6C45-D9D4676E72FA}"/>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IMPLEMENTACIÓN</a:t>
            </a:r>
          </a:p>
        </p:txBody>
      </p:sp>
      <p:sp>
        <p:nvSpPr>
          <p:cNvPr id="3" name="Slide title">
            <a:extLst>
              <a:ext uri="{FF2B5EF4-FFF2-40B4-BE49-F238E27FC236}">
                <a16:creationId xmlns:a16="http://schemas.microsoft.com/office/drawing/2014/main" id="{E9AB7572-EBF0-4948-43F3-BC8239C602AA}"/>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La tecnología prioriza claridad y control</a:t>
            </a:r>
          </a:p>
        </p:txBody>
      </p:sp>
      <p:cxnSp>
        <p:nvCxnSpPr>
          <p:cNvPr id="4" name="Accent rule">
            <a:extLst>
              <a:ext uri="{FF2B5EF4-FFF2-40B4-BE49-F238E27FC236}">
                <a16:creationId xmlns:a16="http://schemas.microsoft.com/office/drawing/2014/main" id="{758AE645-C554-3741-3862-7641196898EF}"/>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24CE5635-71FB-B7A2-C338-E6F3EE4F38C8}"/>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DAEDB59E-84D3-D59B-0165-4E74A1B22BAF}"/>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8</a:t>
            </a:r>
          </a:p>
        </p:txBody>
      </p:sp>
      <p:sp>
        <p:nvSpPr>
          <p:cNvPr id="7" name="Tech label">
            <a:extLst>
              <a:ext uri="{FF2B5EF4-FFF2-40B4-BE49-F238E27FC236}">
                <a16:creationId xmlns:a16="http://schemas.microsoft.com/office/drawing/2014/main" id="{9CB75522-4D6E-A14B-6E38-FF0159191BDC}"/>
              </a:ext>
            </a:extLst>
          </p:cNvPr>
          <p:cNvSpPr txBox="1"/>
          <p:nvPr/>
        </p:nvSpPr>
        <p:spPr>
          <a:xfrm>
            <a:off x="863600" y="1676400"/>
            <a:ext cx="4064000" cy="276999"/>
          </a:xfrm>
          <a:prstGeom prst="rect">
            <a:avLst/>
          </a:prstGeom>
          <a:noFill/>
        </p:spPr>
        <p:txBody>
          <a:bodyPr vert="horz" wrap="square" lIns="0" tIns="0" rIns="0" bIns="0" rtlCol="0" anchor="t">
            <a:noAutofit/>
          </a:bodyPr>
          <a:lstStyle/>
          <a:p>
            <a:pPr>
              <a:spcAft>
                <a:spcPts val="400"/>
              </a:spcAft>
            </a:pPr>
            <a:r>
              <a:rPr lang="es-ES" sz="1100" b="1">
                <a:solidFill>
                  <a:srgbClr val="0F766E"/>
                </a:solidFill>
                <a:latin typeface="Arial" panose="020B0604020202020204" pitchFamily="34" charset="0"/>
              </a:rPr>
              <a:t>DECISIONES</a:t>
            </a:r>
          </a:p>
        </p:txBody>
      </p:sp>
      <p:sp>
        <p:nvSpPr>
          <p:cNvPr id="8" name="Python">
            <a:extLst>
              <a:ext uri="{FF2B5EF4-FFF2-40B4-BE49-F238E27FC236}">
                <a16:creationId xmlns:a16="http://schemas.microsoft.com/office/drawing/2014/main" id="{4AD6E644-1B82-5345-0062-32B9F4295281}"/>
              </a:ext>
            </a:extLst>
          </p:cNvPr>
          <p:cNvSpPr txBox="1"/>
          <p:nvPr/>
        </p:nvSpPr>
        <p:spPr>
          <a:xfrm>
            <a:off x="863600" y="2159000"/>
            <a:ext cx="2286000" cy="276999"/>
          </a:xfrm>
          <a:prstGeom prst="rect">
            <a:avLst/>
          </a:prstGeom>
          <a:noFill/>
        </p:spPr>
        <p:txBody>
          <a:bodyPr vert="horz" wrap="square" lIns="0" tIns="0" rIns="0" bIns="0" rtlCol="0" anchor="t">
            <a:noAutofit/>
          </a:bodyPr>
          <a:lstStyle/>
          <a:p>
            <a:pPr>
              <a:spcAft>
                <a:spcPts val="400"/>
              </a:spcAft>
            </a:pPr>
            <a:r>
              <a:rPr lang="es-ES" sz="2100" b="1">
                <a:solidFill>
                  <a:srgbClr val="07131F"/>
                </a:solidFill>
                <a:latin typeface="Arial" panose="020B0604020202020204" pitchFamily="34" charset="0"/>
              </a:rPr>
              <a:t>Python</a:t>
            </a:r>
          </a:p>
        </p:txBody>
      </p:sp>
      <p:sp>
        <p:nvSpPr>
          <p:cNvPr id="9" name="Python reason">
            <a:extLst>
              <a:ext uri="{FF2B5EF4-FFF2-40B4-BE49-F238E27FC236}">
                <a16:creationId xmlns:a16="http://schemas.microsoft.com/office/drawing/2014/main" id="{0B372DD8-6F9F-E3AB-F42F-579225D7852F}"/>
              </a:ext>
            </a:extLst>
          </p:cNvPr>
          <p:cNvSpPr txBox="1"/>
          <p:nvPr/>
        </p:nvSpPr>
        <p:spPr>
          <a:xfrm>
            <a:off x="3175000" y="2184400"/>
            <a:ext cx="2413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Núcleo, API, pruebas y automatización.</a:t>
            </a:r>
          </a:p>
        </p:txBody>
      </p:sp>
      <p:cxnSp>
        <p:nvCxnSpPr>
          <p:cNvPr id="10" name="Tech line">
            <a:extLst>
              <a:ext uri="{FF2B5EF4-FFF2-40B4-BE49-F238E27FC236}">
                <a16:creationId xmlns:a16="http://schemas.microsoft.com/office/drawing/2014/main" id="{A716A0F9-3C81-0D19-F842-659EA046E739}"/>
              </a:ext>
            </a:extLst>
          </p:cNvPr>
          <p:cNvCxnSpPr/>
          <p:nvPr/>
        </p:nvCxnSpPr>
        <p:spPr>
          <a:xfrm>
            <a:off x="863600" y="2844800"/>
            <a:ext cx="47244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11" name="Streamlit tech">
            <a:extLst>
              <a:ext uri="{FF2B5EF4-FFF2-40B4-BE49-F238E27FC236}">
                <a16:creationId xmlns:a16="http://schemas.microsoft.com/office/drawing/2014/main" id="{28FB78C5-02EE-D8F9-3218-CD70C4C811B2}"/>
              </a:ext>
            </a:extLst>
          </p:cNvPr>
          <p:cNvSpPr txBox="1"/>
          <p:nvPr/>
        </p:nvSpPr>
        <p:spPr>
          <a:xfrm>
            <a:off x="863600" y="3124200"/>
            <a:ext cx="2286000" cy="276999"/>
          </a:xfrm>
          <a:prstGeom prst="rect">
            <a:avLst/>
          </a:prstGeom>
          <a:noFill/>
        </p:spPr>
        <p:txBody>
          <a:bodyPr vert="horz" wrap="square" lIns="0" tIns="0" rIns="0" bIns="0" rtlCol="0" anchor="t">
            <a:noAutofit/>
          </a:bodyPr>
          <a:lstStyle/>
          <a:p>
            <a:pPr>
              <a:spcAft>
                <a:spcPts val="400"/>
              </a:spcAft>
            </a:pPr>
            <a:r>
              <a:rPr lang="es-ES" sz="2100" b="1">
                <a:solidFill>
                  <a:srgbClr val="07131F"/>
                </a:solidFill>
                <a:latin typeface="Arial" panose="020B0604020202020204" pitchFamily="34" charset="0"/>
              </a:rPr>
              <a:t>Streamlit</a:t>
            </a:r>
          </a:p>
        </p:txBody>
      </p:sp>
      <p:sp>
        <p:nvSpPr>
          <p:cNvPr id="12" name="Streamlit reason">
            <a:extLst>
              <a:ext uri="{FF2B5EF4-FFF2-40B4-BE49-F238E27FC236}">
                <a16:creationId xmlns:a16="http://schemas.microsoft.com/office/drawing/2014/main" id="{BC7575E2-1BB5-500E-9CDD-D7B97AC36CDF}"/>
              </a:ext>
            </a:extLst>
          </p:cNvPr>
          <p:cNvSpPr txBox="1"/>
          <p:nvPr/>
        </p:nvSpPr>
        <p:spPr>
          <a:xfrm>
            <a:off x="3175000" y="3149600"/>
            <a:ext cx="2413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Cliente web rápido y adaptable.</a:t>
            </a:r>
          </a:p>
        </p:txBody>
      </p:sp>
      <p:cxnSp>
        <p:nvCxnSpPr>
          <p:cNvPr id="13" name="Tech line">
            <a:extLst>
              <a:ext uri="{FF2B5EF4-FFF2-40B4-BE49-F238E27FC236}">
                <a16:creationId xmlns:a16="http://schemas.microsoft.com/office/drawing/2014/main" id="{2DDCD555-6D7A-2FC8-33B0-3DDF1C37084D}"/>
              </a:ext>
            </a:extLst>
          </p:cNvPr>
          <p:cNvCxnSpPr/>
          <p:nvPr/>
        </p:nvCxnSpPr>
        <p:spPr>
          <a:xfrm>
            <a:off x="863600" y="3810000"/>
            <a:ext cx="47244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14" name="Sklearn">
            <a:extLst>
              <a:ext uri="{FF2B5EF4-FFF2-40B4-BE49-F238E27FC236}">
                <a16:creationId xmlns:a16="http://schemas.microsoft.com/office/drawing/2014/main" id="{59307BFE-1979-B100-8197-5A6BD70C8EBE}"/>
              </a:ext>
            </a:extLst>
          </p:cNvPr>
          <p:cNvSpPr txBox="1"/>
          <p:nvPr/>
        </p:nvSpPr>
        <p:spPr>
          <a:xfrm>
            <a:off x="863600" y="4089400"/>
            <a:ext cx="2286000" cy="276999"/>
          </a:xfrm>
          <a:prstGeom prst="rect">
            <a:avLst/>
          </a:prstGeom>
          <a:noFill/>
        </p:spPr>
        <p:txBody>
          <a:bodyPr vert="horz" wrap="square" lIns="0" tIns="0" rIns="0" bIns="0" rtlCol="0" anchor="t">
            <a:noAutofit/>
          </a:bodyPr>
          <a:lstStyle/>
          <a:p>
            <a:pPr>
              <a:spcAft>
                <a:spcPts val="400"/>
              </a:spcAft>
            </a:pPr>
            <a:r>
              <a:rPr lang="es-ES" sz="2100" b="1">
                <a:solidFill>
                  <a:srgbClr val="07131F"/>
                </a:solidFill>
                <a:latin typeface="Arial" panose="020B0604020202020204" pitchFamily="34" charset="0"/>
              </a:rPr>
              <a:t>scikit-learn</a:t>
            </a:r>
          </a:p>
        </p:txBody>
      </p:sp>
      <p:sp>
        <p:nvSpPr>
          <p:cNvPr id="15" name="Sklearn reason">
            <a:extLst>
              <a:ext uri="{FF2B5EF4-FFF2-40B4-BE49-F238E27FC236}">
                <a16:creationId xmlns:a16="http://schemas.microsoft.com/office/drawing/2014/main" id="{B6707050-0F42-BCB4-92A7-33B967AC5723}"/>
              </a:ext>
            </a:extLst>
          </p:cNvPr>
          <p:cNvSpPr txBox="1"/>
          <p:nvPr/>
        </p:nvSpPr>
        <p:spPr>
          <a:xfrm>
            <a:off x="3175000" y="4114800"/>
            <a:ext cx="2413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Pipeline reproducible TF-IDF + MLP.</a:t>
            </a:r>
          </a:p>
        </p:txBody>
      </p:sp>
      <p:cxnSp>
        <p:nvCxnSpPr>
          <p:cNvPr id="16" name="Tech line">
            <a:extLst>
              <a:ext uri="{FF2B5EF4-FFF2-40B4-BE49-F238E27FC236}">
                <a16:creationId xmlns:a16="http://schemas.microsoft.com/office/drawing/2014/main" id="{8D2770BC-369E-26D8-3D47-B11718B2FCB7}"/>
              </a:ext>
            </a:extLst>
          </p:cNvPr>
          <p:cNvCxnSpPr/>
          <p:nvPr/>
        </p:nvCxnSpPr>
        <p:spPr>
          <a:xfrm>
            <a:off x="863600" y="4775200"/>
            <a:ext cx="4724400" cy="0"/>
          </a:xfrm>
          <a:prstGeom prst="line">
            <a:avLst/>
          </a:prstGeom>
          <a:ln w="12700">
            <a:solidFill>
              <a:srgbClr val="DCE5EA"/>
            </a:solidFill>
          </a:ln>
        </p:spPr>
        <p:style>
          <a:lnRef idx="2">
            <a:schemeClr val="accent1"/>
          </a:lnRef>
          <a:fillRef idx="0">
            <a:schemeClr val="accent1"/>
          </a:fillRef>
          <a:effectRef idx="1">
            <a:schemeClr val="accent1"/>
          </a:effectRef>
          <a:fontRef idx="minor">
            <a:schemeClr val="tx1"/>
          </a:fontRef>
        </p:style>
      </p:cxnSp>
      <p:sp>
        <p:nvSpPr>
          <p:cNvPr id="17" name="Integrations">
            <a:extLst>
              <a:ext uri="{FF2B5EF4-FFF2-40B4-BE49-F238E27FC236}">
                <a16:creationId xmlns:a16="http://schemas.microsoft.com/office/drawing/2014/main" id="{6C910816-CE92-5215-9FFF-04F7AE3DB930}"/>
              </a:ext>
            </a:extLst>
          </p:cNvPr>
          <p:cNvSpPr txBox="1"/>
          <p:nvPr/>
        </p:nvSpPr>
        <p:spPr>
          <a:xfrm>
            <a:off x="863600" y="5054600"/>
            <a:ext cx="2286000" cy="276999"/>
          </a:xfrm>
          <a:prstGeom prst="rect">
            <a:avLst/>
          </a:prstGeom>
          <a:noFill/>
        </p:spPr>
        <p:txBody>
          <a:bodyPr vert="horz" wrap="square" lIns="0" tIns="0" rIns="0" bIns="0" rtlCol="0" anchor="t">
            <a:noAutofit/>
          </a:bodyPr>
          <a:lstStyle/>
          <a:p>
            <a:pPr>
              <a:spcAft>
                <a:spcPts val="400"/>
              </a:spcAft>
            </a:pPr>
            <a:r>
              <a:rPr lang="es-ES" sz="1900" b="1">
                <a:solidFill>
                  <a:srgbClr val="07131F"/>
                </a:solidFill>
                <a:latin typeface="Arial" panose="020B0604020202020204" pitchFamily="34" charset="0"/>
              </a:rPr>
              <a:t>Gmail + Telegram</a:t>
            </a:r>
          </a:p>
        </p:txBody>
      </p:sp>
      <p:sp>
        <p:nvSpPr>
          <p:cNvPr id="18" name="Integrations reason">
            <a:extLst>
              <a:ext uri="{FF2B5EF4-FFF2-40B4-BE49-F238E27FC236}">
                <a16:creationId xmlns:a16="http://schemas.microsoft.com/office/drawing/2014/main" id="{59E2C5DF-39D1-1AA8-7127-CBA500810346}"/>
              </a:ext>
            </a:extLst>
          </p:cNvPr>
          <p:cNvSpPr txBox="1"/>
          <p:nvPr/>
        </p:nvSpPr>
        <p:spPr>
          <a:xfrm>
            <a:off x="3175000" y="5080000"/>
            <a:ext cx="2413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Entrada OAuth y alertas opcionales.</a:t>
            </a:r>
          </a:p>
        </p:txBody>
      </p:sp>
      <p:sp>
        <p:nvSpPr>
          <p:cNvPr id="19" name="Security field">
            <a:extLst>
              <a:ext uri="{FF2B5EF4-FFF2-40B4-BE49-F238E27FC236}">
                <a16:creationId xmlns:a16="http://schemas.microsoft.com/office/drawing/2014/main" id="{BFDDCA59-01F3-63FB-4B36-E8E98B6BB5DD}"/>
              </a:ext>
            </a:extLst>
          </p:cNvPr>
          <p:cNvSpPr/>
          <p:nvPr/>
        </p:nvSpPr>
        <p:spPr>
          <a:xfrm>
            <a:off x="6553200" y="1676400"/>
            <a:ext cx="4724400" cy="4089400"/>
          </a:xfrm>
          <a:prstGeom prst="rect">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Security label">
            <a:extLst>
              <a:ext uri="{FF2B5EF4-FFF2-40B4-BE49-F238E27FC236}">
                <a16:creationId xmlns:a16="http://schemas.microsoft.com/office/drawing/2014/main" id="{447D0171-D40D-6092-7CC4-CB5B0130E604}"/>
              </a:ext>
            </a:extLst>
          </p:cNvPr>
          <p:cNvSpPr txBox="1"/>
          <p:nvPr/>
        </p:nvSpPr>
        <p:spPr>
          <a:xfrm>
            <a:off x="6908800" y="2032000"/>
            <a:ext cx="3937000" cy="276999"/>
          </a:xfrm>
          <a:prstGeom prst="rect">
            <a:avLst/>
          </a:prstGeom>
          <a:noFill/>
        </p:spPr>
        <p:txBody>
          <a:bodyPr vert="horz" wrap="square" lIns="0" tIns="0" rIns="0" bIns="0" rtlCol="0" anchor="t">
            <a:noAutofit/>
          </a:bodyPr>
          <a:lstStyle/>
          <a:p>
            <a:pPr>
              <a:spcAft>
                <a:spcPts val="400"/>
              </a:spcAft>
            </a:pPr>
            <a:r>
              <a:rPr lang="es-ES" sz="1100" b="1">
                <a:solidFill>
                  <a:srgbClr val="CCFBF1"/>
                </a:solidFill>
                <a:latin typeface="Arial" panose="020B0604020202020204" pitchFamily="34" charset="0"/>
              </a:rPr>
              <a:t>CONTROLES DEL PROTOTIPO</a:t>
            </a:r>
          </a:p>
        </p:txBody>
      </p:sp>
      <p:sp>
        <p:nvSpPr>
          <p:cNvPr id="21" name="Security list">
            <a:extLst>
              <a:ext uri="{FF2B5EF4-FFF2-40B4-BE49-F238E27FC236}">
                <a16:creationId xmlns:a16="http://schemas.microsoft.com/office/drawing/2014/main" id="{E27BD5AC-61B4-636B-5EF6-3BAEEFF1C6A3}"/>
              </a:ext>
            </a:extLst>
          </p:cNvPr>
          <p:cNvSpPr txBox="1"/>
          <p:nvPr/>
        </p:nvSpPr>
        <p:spPr>
          <a:xfrm>
            <a:off x="6908800" y="2565400"/>
            <a:ext cx="3810000" cy="276999"/>
          </a:xfrm>
          <a:prstGeom prst="rect">
            <a:avLst/>
          </a:prstGeom>
          <a:noFill/>
        </p:spPr>
        <p:txBody>
          <a:bodyPr vert="horz" wrap="square" lIns="0" tIns="0" rIns="0" bIns="0" rtlCol="0" anchor="t">
            <a:noAutofit/>
          </a:bodyPr>
          <a:lstStyle/>
          <a:p>
            <a:pPr>
              <a:spcAft>
                <a:spcPts val="400"/>
              </a:spcAft>
            </a:pPr>
            <a:r>
              <a:rPr lang="es-ES" sz="1600">
                <a:solidFill>
                  <a:srgbClr val="FFFFFF"/>
                </a:solidFill>
                <a:latin typeface="Arial" panose="020B0604020202020204" pitchFamily="34" charset="0"/>
              </a:rPr>
              <a:t>• Backend en loopback por defecto
• Límites de petición y rutas seguras
• Orígenes CORS restringidos
• Credenciales fuera de Git
• Escrituras y activación atómicas
• Sin ejecución de adjuntos</a:t>
            </a:r>
          </a:p>
        </p:txBody>
      </p:sp>
      <p:sp>
        <p:nvSpPr>
          <p:cNvPr id="22" name="Security caveat">
            <a:extLst>
              <a:ext uri="{FF2B5EF4-FFF2-40B4-BE49-F238E27FC236}">
                <a16:creationId xmlns:a16="http://schemas.microsoft.com/office/drawing/2014/main" id="{115EDBC8-389B-E5D2-C0E5-284082B6939A}"/>
              </a:ext>
            </a:extLst>
          </p:cNvPr>
          <p:cNvSpPr txBox="1"/>
          <p:nvPr/>
        </p:nvSpPr>
        <p:spPr>
          <a:xfrm>
            <a:off x="6908800" y="4953000"/>
            <a:ext cx="3708400" cy="276999"/>
          </a:xfrm>
          <a:prstGeom prst="rect">
            <a:avLst/>
          </a:prstGeom>
          <a:noFill/>
        </p:spPr>
        <p:txBody>
          <a:bodyPr vert="horz" wrap="square" lIns="0" tIns="0" rIns="0" bIns="0" rtlCol="0" anchor="t">
            <a:noAutofit/>
          </a:bodyPr>
          <a:lstStyle/>
          <a:p>
            <a:pPr>
              <a:spcAft>
                <a:spcPts val="400"/>
              </a:spcAft>
            </a:pPr>
            <a:r>
              <a:rPr lang="es-ES" sz="1300" b="1">
                <a:solidFill>
                  <a:srgbClr val="C9D7E0"/>
                </a:solidFill>
                <a:latin typeface="Arial" panose="020B0604020202020204" pitchFamily="34" charset="0"/>
              </a:rPr>
              <a:t>Un despliegue público requeriría TLS, autenticación y aislamiento multiusuario.</a:t>
            </a:r>
          </a:p>
        </p:txBody>
      </p:sp>
    </p:spTree>
    <p:extLst>
      <p:ext uri="{BB962C8B-B14F-4D97-AF65-F5344CB8AC3E}">
        <p14:creationId xmlns:p14="http://schemas.microsoft.com/office/powerpoint/2010/main" val="2483520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61260477-00E6-E5FA-02C6-2B8720749118}"/>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EVALUACIÓN</a:t>
            </a:r>
          </a:p>
        </p:txBody>
      </p:sp>
      <p:sp>
        <p:nvSpPr>
          <p:cNvPr id="3" name="Slide title">
            <a:extLst>
              <a:ext uri="{FF2B5EF4-FFF2-40B4-BE49-F238E27FC236}">
                <a16:creationId xmlns:a16="http://schemas.microsoft.com/office/drawing/2014/main" id="{97E458C8-C3DC-059F-F018-38EEFB44725B}"/>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La evaluación separa ajuste y comprobación</a:t>
            </a:r>
          </a:p>
        </p:txBody>
      </p:sp>
      <p:cxnSp>
        <p:nvCxnSpPr>
          <p:cNvPr id="4" name="Accent rule">
            <a:extLst>
              <a:ext uri="{FF2B5EF4-FFF2-40B4-BE49-F238E27FC236}">
                <a16:creationId xmlns:a16="http://schemas.microsoft.com/office/drawing/2014/main" id="{F1E27046-CECF-C60C-375E-59F0190355C4}"/>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BFDED39F-35E8-64ED-A433-B5FED40DFB3A}"/>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1492549F-957C-AB84-F191-B21CBE09C283}"/>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9</a:t>
            </a:r>
          </a:p>
        </p:txBody>
      </p:sp>
      <p:cxnSp>
        <p:nvCxnSpPr>
          <p:cNvPr id="7" name="Evaluation timeline">
            <a:extLst>
              <a:ext uri="{FF2B5EF4-FFF2-40B4-BE49-F238E27FC236}">
                <a16:creationId xmlns:a16="http://schemas.microsoft.com/office/drawing/2014/main" id="{9E70A14D-075C-4DA3-0AA1-E60963CCF79A}"/>
              </a:ext>
            </a:extLst>
          </p:cNvPr>
          <p:cNvCxnSpPr/>
          <p:nvPr/>
        </p:nvCxnSpPr>
        <p:spPr>
          <a:xfrm>
            <a:off x="1244600" y="3429000"/>
            <a:ext cx="9702800" cy="0"/>
          </a:xfrm>
          <a:prstGeom prst="line">
            <a:avLst/>
          </a:prstGeom>
          <a:ln w="19050">
            <a:solidFill>
              <a:srgbClr val="07131F"/>
            </a:solidFill>
          </a:ln>
        </p:spPr>
        <p:style>
          <a:lnRef idx="2">
            <a:schemeClr val="accent1"/>
          </a:lnRef>
          <a:fillRef idx="0">
            <a:schemeClr val="accent1"/>
          </a:fillRef>
          <a:effectRef idx="1">
            <a:schemeClr val="accent1"/>
          </a:effectRef>
          <a:fontRef idx="minor">
            <a:schemeClr val="tx1"/>
          </a:fontRef>
        </p:style>
      </p:cxnSp>
      <p:sp>
        <p:nvSpPr>
          <p:cNvPr id="8" name="Evaluation dot">
            <a:extLst>
              <a:ext uri="{FF2B5EF4-FFF2-40B4-BE49-F238E27FC236}">
                <a16:creationId xmlns:a16="http://schemas.microsoft.com/office/drawing/2014/main" id="{5AD1AA5C-AC9A-E926-2895-F0153EFED707}"/>
              </a:ext>
            </a:extLst>
          </p:cNvPr>
          <p:cNvSpPr/>
          <p:nvPr/>
        </p:nvSpPr>
        <p:spPr>
          <a:xfrm>
            <a:off x="1524000" y="3327400"/>
            <a:ext cx="203200" cy="203200"/>
          </a:xfrm>
          <a:prstGeom prst="ellipse">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valuation dot">
            <a:extLst>
              <a:ext uri="{FF2B5EF4-FFF2-40B4-BE49-F238E27FC236}">
                <a16:creationId xmlns:a16="http://schemas.microsoft.com/office/drawing/2014/main" id="{73FF047E-A1DC-1CD4-B7C6-20D2AF907F7A}"/>
              </a:ext>
            </a:extLst>
          </p:cNvPr>
          <p:cNvSpPr/>
          <p:nvPr/>
        </p:nvSpPr>
        <p:spPr>
          <a:xfrm>
            <a:off x="5232400" y="3327400"/>
            <a:ext cx="203200" cy="203200"/>
          </a:xfrm>
          <a:prstGeom prst="ellipse">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Evaluation dot">
            <a:extLst>
              <a:ext uri="{FF2B5EF4-FFF2-40B4-BE49-F238E27FC236}">
                <a16:creationId xmlns:a16="http://schemas.microsoft.com/office/drawing/2014/main" id="{3148812E-1C09-EAF7-966C-B9497CA5429B}"/>
              </a:ext>
            </a:extLst>
          </p:cNvPr>
          <p:cNvSpPr/>
          <p:nvPr/>
        </p:nvSpPr>
        <p:spPr>
          <a:xfrm>
            <a:off x="8940800" y="3327400"/>
            <a:ext cx="203200" cy="203200"/>
          </a:xfrm>
          <a:prstGeom prst="ellipse">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valuation metric">
            <a:extLst>
              <a:ext uri="{FF2B5EF4-FFF2-40B4-BE49-F238E27FC236}">
                <a16:creationId xmlns:a16="http://schemas.microsoft.com/office/drawing/2014/main" id="{36BD38C1-BA1F-CF35-DA6D-5C29F00A3681}"/>
              </a:ext>
            </a:extLst>
          </p:cNvPr>
          <p:cNvSpPr txBox="1"/>
          <p:nvPr/>
        </p:nvSpPr>
        <p:spPr>
          <a:xfrm>
            <a:off x="1092200" y="2336800"/>
            <a:ext cx="2921000" cy="276999"/>
          </a:xfrm>
          <a:prstGeom prst="rect">
            <a:avLst/>
          </a:prstGeom>
          <a:noFill/>
        </p:spPr>
        <p:txBody>
          <a:bodyPr vert="horz" wrap="square" lIns="0" tIns="0" rIns="0" bIns="0" rtlCol="0" anchor="t">
            <a:noAutofit/>
          </a:bodyPr>
          <a:lstStyle/>
          <a:p>
            <a:pPr>
              <a:spcAft>
                <a:spcPts val="400"/>
              </a:spcAft>
            </a:pPr>
            <a:r>
              <a:rPr lang="es-ES" sz="2300" b="1">
                <a:solidFill>
                  <a:srgbClr val="07131F"/>
                </a:solidFill>
                <a:latin typeface="Arial" panose="020B0604020202020204" pitchFamily="34" charset="0"/>
              </a:rPr>
              <a:t>1.148 + 209</a:t>
            </a:r>
          </a:p>
        </p:txBody>
      </p:sp>
      <p:sp>
        <p:nvSpPr>
          <p:cNvPr id="12" name="Evaluation title">
            <a:extLst>
              <a:ext uri="{FF2B5EF4-FFF2-40B4-BE49-F238E27FC236}">
                <a16:creationId xmlns:a16="http://schemas.microsoft.com/office/drawing/2014/main" id="{16D8BA99-882B-403C-80ED-AF66284D6FCE}"/>
              </a:ext>
            </a:extLst>
          </p:cNvPr>
          <p:cNvSpPr txBox="1"/>
          <p:nvPr/>
        </p:nvSpPr>
        <p:spPr>
          <a:xfrm>
            <a:off x="1092200" y="3962400"/>
            <a:ext cx="30480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Corpus español</a:t>
            </a:r>
          </a:p>
        </p:txBody>
      </p:sp>
      <p:sp>
        <p:nvSpPr>
          <p:cNvPr id="13" name="Evaluation detail">
            <a:extLst>
              <a:ext uri="{FF2B5EF4-FFF2-40B4-BE49-F238E27FC236}">
                <a16:creationId xmlns:a16="http://schemas.microsoft.com/office/drawing/2014/main" id="{62B58D00-922C-12EC-9383-A6B4DC4AAED0}"/>
              </a:ext>
            </a:extLst>
          </p:cNvPr>
          <p:cNvSpPr txBox="1"/>
          <p:nvPr/>
        </p:nvSpPr>
        <p:spPr>
          <a:xfrm>
            <a:off x="1092200" y="4457700"/>
            <a:ext cx="2794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Entrenamiento limpio y split oficial de prueba sin solapamientos.</a:t>
            </a:r>
          </a:p>
        </p:txBody>
      </p:sp>
      <p:sp>
        <p:nvSpPr>
          <p:cNvPr id="14" name="Evaluation metric">
            <a:extLst>
              <a:ext uri="{FF2B5EF4-FFF2-40B4-BE49-F238E27FC236}">
                <a16:creationId xmlns:a16="http://schemas.microsoft.com/office/drawing/2014/main" id="{5F8FEF54-AA33-4830-83F1-B52129601953}"/>
              </a:ext>
            </a:extLst>
          </p:cNvPr>
          <p:cNvSpPr txBox="1"/>
          <p:nvPr/>
        </p:nvSpPr>
        <p:spPr>
          <a:xfrm>
            <a:off x="4800600" y="2336800"/>
            <a:ext cx="2921000" cy="276999"/>
          </a:xfrm>
          <a:prstGeom prst="rect">
            <a:avLst/>
          </a:prstGeom>
          <a:noFill/>
        </p:spPr>
        <p:txBody>
          <a:bodyPr vert="horz" wrap="square" lIns="0" tIns="0" rIns="0" bIns="0" rtlCol="0" anchor="t">
            <a:noAutofit/>
          </a:bodyPr>
          <a:lstStyle/>
          <a:p>
            <a:pPr>
              <a:spcAft>
                <a:spcPts val="400"/>
              </a:spcAft>
            </a:pPr>
            <a:r>
              <a:rPr lang="es-ES" sz="2300" b="1">
                <a:solidFill>
                  <a:srgbClr val="07131F"/>
                </a:solidFill>
                <a:latin typeface="Arial" panose="020B0604020202020204" pitchFamily="34" charset="0"/>
              </a:rPr>
              <a:t>65.661 + 16.416</a:t>
            </a:r>
          </a:p>
        </p:txBody>
      </p:sp>
      <p:sp>
        <p:nvSpPr>
          <p:cNvPr id="15" name="Evaluation title">
            <a:extLst>
              <a:ext uri="{FF2B5EF4-FFF2-40B4-BE49-F238E27FC236}">
                <a16:creationId xmlns:a16="http://schemas.microsoft.com/office/drawing/2014/main" id="{2498E590-2FBE-F5CB-6F34-4724DD3F8B51}"/>
              </a:ext>
            </a:extLst>
          </p:cNvPr>
          <p:cNvSpPr txBox="1"/>
          <p:nvPr/>
        </p:nvSpPr>
        <p:spPr>
          <a:xfrm>
            <a:off x="4800600" y="3962400"/>
            <a:ext cx="30480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Corpus inglés</a:t>
            </a:r>
          </a:p>
        </p:txBody>
      </p:sp>
      <p:sp>
        <p:nvSpPr>
          <p:cNvPr id="16" name="Evaluation detail">
            <a:extLst>
              <a:ext uri="{FF2B5EF4-FFF2-40B4-BE49-F238E27FC236}">
                <a16:creationId xmlns:a16="http://schemas.microsoft.com/office/drawing/2014/main" id="{B009DF46-98AA-A62B-408F-8F223ECE82A4}"/>
              </a:ext>
            </a:extLst>
          </p:cNvPr>
          <p:cNvSpPr txBox="1"/>
          <p:nvPr/>
        </p:nvSpPr>
        <p:spPr>
          <a:xfrm>
            <a:off x="4800600" y="4457700"/>
            <a:ext cx="2794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División 80/20 estratificada tras deduplicar el CSV agregado.</a:t>
            </a:r>
          </a:p>
        </p:txBody>
      </p:sp>
      <p:sp>
        <p:nvSpPr>
          <p:cNvPr id="17" name="Evaluation metric">
            <a:extLst>
              <a:ext uri="{FF2B5EF4-FFF2-40B4-BE49-F238E27FC236}">
                <a16:creationId xmlns:a16="http://schemas.microsoft.com/office/drawing/2014/main" id="{C4791EBD-F432-7D79-AC56-0ABAD1D9FCEE}"/>
              </a:ext>
            </a:extLst>
          </p:cNvPr>
          <p:cNvSpPr txBox="1"/>
          <p:nvPr/>
        </p:nvSpPr>
        <p:spPr>
          <a:xfrm>
            <a:off x="8509000" y="2336800"/>
            <a:ext cx="2921000" cy="276999"/>
          </a:xfrm>
          <a:prstGeom prst="rect">
            <a:avLst/>
          </a:prstGeom>
          <a:noFill/>
        </p:spPr>
        <p:txBody>
          <a:bodyPr vert="horz" wrap="square" lIns="0" tIns="0" rIns="0" bIns="0" rtlCol="0" anchor="t">
            <a:noAutofit/>
          </a:bodyPr>
          <a:lstStyle/>
          <a:p>
            <a:pPr>
              <a:spcAft>
                <a:spcPts val="400"/>
              </a:spcAft>
            </a:pPr>
            <a:r>
              <a:rPr lang="es-ES" sz="2300" b="1">
                <a:solidFill>
                  <a:srgbClr val="07131F"/>
                </a:solidFill>
                <a:latin typeface="Arial" panose="020B0604020202020204" pitchFamily="34" charset="0"/>
              </a:rPr>
              <a:t>40 + 16 EML</a:t>
            </a:r>
          </a:p>
        </p:txBody>
      </p:sp>
      <p:sp>
        <p:nvSpPr>
          <p:cNvPr id="18" name="Evaluation title">
            <a:extLst>
              <a:ext uri="{FF2B5EF4-FFF2-40B4-BE49-F238E27FC236}">
                <a16:creationId xmlns:a16="http://schemas.microsoft.com/office/drawing/2014/main" id="{80F41F96-064A-6F42-CB76-1186C48FA184}"/>
              </a:ext>
            </a:extLst>
          </p:cNvPr>
          <p:cNvSpPr txBox="1"/>
          <p:nvPr/>
        </p:nvSpPr>
        <p:spPr>
          <a:xfrm>
            <a:off x="8509000" y="3962400"/>
            <a:ext cx="30480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Sistema completo</a:t>
            </a:r>
          </a:p>
        </p:txBody>
      </p:sp>
      <p:sp>
        <p:nvSpPr>
          <p:cNvPr id="19" name="Evaluation detail">
            <a:extLst>
              <a:ext uri="{FF2B5EF4-FFF2-40B4-BE49-F238E27FC236}">
                <a16:creationId xmlns:a16="http://schemas.microsoft.com/office/drawing/2014/main" id="{C9E2260B-3A08-864A-8BFB-99FBC0DDB42E}"/>
              </a:ext>
            </a:extLst>
          </p:cNvPr>
          <p:cNvSpPr txBox="1"/>
          <p:nvPr/>
        </p:nvSpPr>
        <p:spPr>
          <a:xfrm>
            <a:off x="8509000" y="4457700"/>
            <a:ext cx="2794000" cy="276999"/>
          </a:xfrm>
          <a:prstGeom prst="rect">
            <a:avLst/>
          </a:prstGeom>
          <a:noFill/>
        </p:spPr>
        <p:txBody>
          <a:bodyPr vert="horz" wrap="square" lIns="0" tIns="0" rIns="0" bIns="0" rtlCol="0" anchor="t">
            <a:noAutofit/>
          </a:bodyPr>
          <a:lstStyle/>
          <a:p>
            <a:pPr>
              <a:spcAft>
                <a:spcPts val="400"/>
              </a:spcAft>
            </a:pPr>
            <a:r>
              <a:rPr lang="es-ES" sz="1400">
                <a:solidFill>
                  <a:srgbClr val="49657A"/>
                </a:solidFill>
                <a:latin typeface="Arial" panose="020B0604020202020204" pitchFamily="34" charset="0"/>
              </a:rPr>
              <a:t>Calibración separada y comprobación bilingüe con MIME y cabeceras.</a:t>
            </a:r>
          </a:p>
        </p:txBody>
      </p:sp>
      <p:sp>
        <p:nvSpPr>
          <p:cNvPr id="20" name="Evaluation caveat">
            <a:extLst>
              <a:ext uri="{FF2B5EF4-FFF2-40B4-BE49-F238E27FC236}">
                <a16:creationId xmlns:a16="http://schemas.microsoft.com/office/drawing/2014/main" id="{DC17EBE3-74C4-0850-8230-E37208299D5B}"/>
              </a:ext>
            </a:extLst>
          </p:cNvPr>
          <p:cNvSpPr txBox="1"/>
          <p:nvPr/>
        </p:nvSpPr>
        <p:spPr>
          <a:xfrm>
            <a:off x="1676400" y="5778500"/>
            <a:ext cx="8839200" cy="276999"/>
          </a:xfrm>
          <a:prstGeom prst="rect">
            <a:avLst/>
          </a:prstGeom>
          <a:noFill/>
        </p:spPr>
        <p:txBody>
          <a:bodyPr vert="horz" wrap="square" lIns="0" tIns="0" rIns="0" bIns="0" rtlCol="0" anchor="t">
            <a:noAutofit/>
          </a:bodyPr>
          <a:lstStyle/>
          <a:p>
            <a:pPr algn="ctr">
              <a:spcAft>
                <a:spcPts val="400"/>
              </a:spcAft>
            </a:pPr>
            <a:r>
              <a:rPr lang="es-ES" sz="1700" b="1">
                <a:solidFill>
                  <a:srgbClr val="B42318"/>
                </a:solidFill>
                <a:latin typeface="Arial" panose="020B0604020202020204" pitchFamily="34" charset="0"/>
              </a:rPr>
              <a:t>Principio metodológico: ninguna muestra se presenta como estimación de producción.</a:t>
            </a:r>
          </a:p>
        </p:txBody>
      </p:sp>
    </p:spTree>
    <p:extLst>
      <p:ext uri="{BB962C8B-B14F-4D97-AF65-F5344CB8AC3E}">
        <p14:creationId xmlns:p14="http://schemas.microsoft.com/office/powerpoint/2010/main" val="427091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85BEA7-5C5F-F3DD-3107-678D1816B3FD}"/>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RESULTADOS</a:t>
            </a:r>
          </a:p>
        </p:txBody>
      </p:sp>
      <p:sp>
        <p:nvSpPr>
          <p:cNvPr id="3" name="Slide title">
            <a:extLst>
              <a:ext uri="{FF2B5EF4-FFF2-40B4-BE49-F238E27FC236}">
                <a16:creationId xmlns:a16="http://schemas.microsoft.com/office/drawing/2014/main" id="{E8705BA0-8379-F4FE-E21E-9C21E96E4743}"/>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El heurístico obtiene el mejor resultado en 16 EML</a:t>
            </a:r>
          </a:p>
        </p:txBody>
      </p:sp>
      <p:cxnSp>
        <p:nvCxnSpPr>
          <p:cNvPr id="4" name="Accent rule">
            <a:extLst>
              <a:ext uri="{FF2B5EF4-FFF2-40B4-BE49-F238E27FC236}">
                <a16:creationId xmlns:a16="http://schemas.microsoft.com/office/drawing/2014/main" id="{CBB6E2EB-E70B-F72F-A682-64416566871A}"/>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60E65A5D-9583-1A37-E620-7DF0BD2AC750}"/>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938CEEAD-800B-648F-3450-BE97D4B488E0}"/>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10</a:t>
            </a:r>
          </a:p>
        </p:txBody>
      </p:sp>
      <p:sp>
        <p:nvSpPr>
          <p:cNvPr id="7" name="Chart subtitle">
            <a:extLst>
              <a:ext uri="{FF2B5EF4-FFF2-40B4-BE49-F238E27FC236}">
                <a16:creationId xmlns:a16="http://schemas.microsoft.com/office/drawing/2014/main" id="{22335E8E-6EBD-9AB6-5C3A-17005DB2804F}"/>
              </a:ext>
            </a:extLst>
          </p:cNvPr>
          <p:cNvSpPr txBox="1"/>
          <p:nvPr/>
        </p:nvSpPr>
        <p:spPr>
          <a:xfrm>
            <a:off x="863600" y="1435100"/>
            <a:ext cx="5207000" cy="276999"/>
          </a:xfrm>
          <a:prstGeom prst="rect">
            <a:avLst/>
          </a:prstGeom>
          <a:noFill/>
        </p:spPr>
        <p:txBody>
          <a:bodyPr vert="horz" wrap="square" lIns="0" tIns="0" rIns="0" bIns="0" rtlCol="0" anchor="t">
            <a:noAutofit/>
          </a:bodyPr>
          <a:lstStyle/>
          <a:p>
            <a:pPr>
              <a:spcAft>
                <a:spcPts val="400"/>
              </a:spcAft>
            </a:pPr>
            <a:r>
              <a:rPr lang="es-ES" sz="1200" b="1">
                <a:solidFill>
                  <a:srgbClr val="6A8192"/>
                </a:solidFill>
                <a:latin typeface="Arial" panose="020B0604020202020204" pitchFamily="34" charset="0"/>
              </a:rPr>
              <a:t>Evaluación final · 16 EML reservados</a:t>
            </a:r>
          </a:p>
        </p:txBody>
      </p:sp>
      <p:cxnSp>
        <p:nvCxnSpPr>
          <p:cNvPr id="8" name="Chart axis">
            <a:extLst>
              <a:ext uri="{FF2B5EF4-FFF2-40B4-BE49-F238E27FC236}">
                <a16:creationId xmlns:a16="http://schemas.microsoft.com/office/drawing/2014/main" id="{67A065E9-6D9E-B93C-276F-3F00ECD591A8}"/>
              </a:ext>
            </a:extLst>
          </p:cNvPr>
          <p:cNvCxnSpPr/>
          <p:nvPr/>
        </p:nvCxnSpPr>
        <p:spPr>
          <a:xfrm>
            <a:off x="2565400" y="5816600"/>
            <a:ext cx="4826000" cy="0"/>
          </a:xfrm>
          <a:prstGeom prst="line">
            <a:avLst/>
          </a:prstGeom>
          <a:ln w="15240">
            <a:solidFill>
              <a:srgbClr val="DCE5EA"/>
            </a:solidFill>
          </a:ln>
        </p:spPr>
        <p:style>
          <a:lnRef idx="2">
            <a:schemeClr val="accent1"/>
          </a:lnRef>
          <a:fillRef idx="0">
            <a:schemeClr val="accent1"/>
          </a:fillRef>
          <a:effectRef idx="1">
            <a:schemeClr val="accent1"/>
          </a:effectRef>
          <a:fontRef idx="minor">
            <a:schemeClr val="tx1"/>
          </a:fontRef>
        </p:style>
      </p:cxnSp>
      <p:cxnSp>
        <p:nvCxnSpPr>
          <p:cNvPr id="9" name="Grid 0">
            <a:extLst>
              <a:ext uri="{FF2B5EF4-FFF2-40B4-BE49-F238E27FC236}">
                <a16:creationId xmlns:a16="http://schemas.microsoft.com/office/drawing/2014/main" id="{5D12A755-61C6-07B9-583C-8BC5890C158D}"/>
              </a:ext>
            </a:extLst>
          </p:cNvPr>
          <p:cNvCxnSpPr/>
          <p:nvPr/>
        </p:nvCxnSpPr>
        <p:spPr>
          <a:xfrm>
            <a:off x="2565400" y="2235200"/>
            <a:ext cx="0" cy="3581400"/>
          </a:xfrm>
          <a:prstGeom prst="line">
            <a:avLst/>
          </a:prstGeom>
          <a:ln w="8890">
            <a:solidFill>
              <a:srgbClr val="DCE5EA"/>
            </a:solidFill>
          </a:ln>
        </p:spPr>
        <p:style>
          <a:lnRef idx="2">
            <a:schemeClr val="accent1"/>
          </a:lnRef>
          <a:fillRef idx="0">
            <a:schemeClr val="accent1"/>
          </a:fillRef>
          <a:effectRef idx="1">
            <a:schemeClr val="accent1"/>
          </a:effectRef>
          <a:fontRef idx="minor">
            <a:schemeClr val="tx1"/>
          </a:fontRef>
        </p:style>
      </p:cxnSp>
      <p:sp>
        <p:nvSpPr>
          <p:cNvPr id="10" name="Tick 0">
            <a:extLst>
              <a:ext uri="{FF2B5EF4-FFF2-40B4-BE49-F238E27FC236}">
                <a16:creationId xmlns:a16="http://schemas.microsoft.com/office/drawing/2014/main" id="{6D5BE6F9-CD04-4668-1B68-7542564946D8}"/>
              </a:ext>
            </a:extLst>
          </p:cNvPr>
          <p:cNvSpPr txBox="1"/>
          <p:nvPr/>
        </p:nvSpPr>
        <p:spPr>
          <a:xfrm>
            <a:off x="2387600" y="5930900"/>
            <a:ext cx="355600" cy="276999"/>
          </a:xfrm>
          <a:prstGeom prst="rect">
            <a:avLst/>
          </a:prstGeom>
          <a:noFill/>
        </p:spPr>
        <p:txBody>
          <a:bodyPr vert="horz" wrap="square" lIns="0" tIns="0" rIns="0" bIns="0" rtlCol="0" anchor="t">
            <a:noAutofit/>
          </a:bodyPr>
          <a:lstStyle/>
          <a:p>
            <a:pPr algn="ctr">
              <a:spcAft>
                <a:spcPts val="400"/>
              </a:spcAft>
            </a:pPr>
            <a:r>
              <a:rPr lang="es-ES" sz="900">
                <a:solidFill>
                  <a:srgbClr val="6A8192"/>
                </a:solidFill>
                <a:latin typeface="Arial" panose="020B0604020202020204" pitchFamily="34" charset="0"/>
              </a:rPr>
              <a:t>0</a:t>
            </a:r>
          </a:p>
        </p:txBody>
      </p:sp>
      <p:cxnSp>
        <p:nvCxnSpPr>
          <p:cNvPr id="11" name="Grid 25">
            <a:extLst>
              <a:ext uri="{FF2B5EF4-FFF2-40B4-BE49-F238E27FC236}">
                <a16:creationId xmlns:a16="http://schemas.microsoft.com/office/drawing/2014/main" id="{EC7064BE-2564-FA06-47DE-AC3EDDF82058}"/>
              </a:ext>
            </a:extLst>
          </p:cNvPr>
          <p:cNvCxnSpPr/>
          <p:nvPr/>
        </p:nvCxnSpPr>
        <p:spPr>
          <a:xfrm>
            <a:off x="3771900" y="2235200"/>
            <a:ext cx="0" cy="3581400"/>
          </a:xfrm>
          <a:prstGeom prst="line">
            <a:avLst/>
          </a:prstGeom>
          <a:ln w="8890">
            <a:solidFill>
              <a:srgbClr val="DCE5EA"/>
            </a:solidFill>
          </a:ln>
        </p:spPr>
        <p:style>
          <a:lnRef idx="2">
            <a:schemeClr val="accent1"/>
          </a:lnRef>
          <a:fillRef idx="0">
            <a:schemeClr val="accent1"/>
          </a:fillRef>
          <a:effectRef idx="1">
            <a:schemeClr val="accent1"/>
          </a:effectRef>
          <a:fontRef idx="minor">
            <a:schemeClr val="tx1"/>
          </a:fontRef>
        </p:style>
      </p:cxnSp>
      <p:sp>
        <p:nvSpPr>
          <p:cNvPr id="12" name="Tick 25">
            <a:extLst>
              <a:ext uri="{FF2B5EF4-FFF2-40B4-BE49-F238E27FC236}">
                <a16:creationId xmlns:a16="http://schemas.microsoft.com/office/drawing/2014/main" id="{E2EF303E-A8CC-4304-82DB-76DAAEF4AEE5}"/>
              </a:ext>
            </a:extLst>
          </p:cNvPr>
          <p:cNvSpPr txBox="1"/>
          <p:nvPr/>
        </p:nvSpPr>
        <p:spPr>
          <a:xfrm>
            <a:off x="3594100" y="5930900"/>
            <a:ext cx="355600" cy="276999"/>
          </a:xfrm>
          <a:prstGeom prst="rect">
            <a:avLst/>
          </a:prstGeom>
          <a:noFill/>
        </p:spPr>
        <p:txBody>
          <a:bodyPr vert="horz" wrap="square" lIns="0" tIns="0" rIns="0" bIns="0" rtlCol="0" anchor="t">
            <a:noAutofit/>
          </a:bodyPr>
          <a:lstStyle/>
          <a:p>
            <a:pPr algn="ctr">
              <a:spcAft>
                <a:spcPts val="400"/>
              </a:spcAft>
            </a:pPr>
            <a:r>
              <a:rPr lang="es-ES" sz="900">
                <a:solidFill>
                  <a:srgbClr val="6A8192"/>
                </a:solidFill>
                <a:latin typeface="Arial" panose="020B0604020202020204" pitchFamily="34" charset="0"/>
              </a:rPr>
              <a:t>25</a:t>
            </a:r>
          </a:p>
        </p:txBody>
      </p:sp>
      <p:cxnSp>
        <p:nvCxnSpPr>
          <p:cNvPr id="13" name="Grid 50">
            <a:extLst>
              <a:ext uri="{FF2B5EF4-FFF2-40B4-BE49-F238E27FC236}">
                <a16:creationId xmlns:a16="http://schemas.microsoft.com/office/drawing/2014/main" id="{DE0F2102-1FD4-D3B7-032C-2565CA21F871}"/>
              </a:ext>
            </a:extLst>
          </p:cNvPr>
          <p:cNvCxnSpPr/>
          <p:nvPr/>
        </p:nvCxnSpPr>
        <p:spPr>
          <a:xfrm>
            <a:off x="4978400" y="2235200"/>
            <a:ext cx="0" cy="3581400"/>
          </a:xfrm>
          <a:prstGeom prst="line">
            <a:avLst/>
          </a:prstGeom>
          <a:ln w="8890">
            <a:solidFill>
              <a:srgbClr val="DCE5EA"/>
            </a:solidFill>
          </a:ln>
        </p:spPr>
        <p:style>
          <a:lnRef idx="2">
            <a:schemeClr val="accent1"/>
          </a:lnRef>
          <a:fillRef idx="0">
            <a:schemeClr val="accent1"/>
          </a:fillRef>
          <a:effectRef idx="1">
            <a:schemeClr val="accent1"/>
          </a:effectRef>
          <a:fontRef idx="minor">
            <a:schemeClr val="tx1"/>
          </a:fontRef>
        </p:style>
      </p:cxnSp>
      <p:sp>
        <p:nvSpPr>
          <p:cNvPr id="14" name="Tick 50">
            <a:extLst>
              <a:ext uri="{FF2B5EF4-FFF2-40B4-BE49-F238E27FC236}">
                <a16:creationId xmlns:a16="http://schemas.microsoft.com/office/drawing/2014/main" id="{815713F7-3186-DE84-7F1A-35AFE3FBB3B4}"/>
              </a:ext>
            </a:extLst>
          </p:cNvPr>
          <p:cNvSpPr txBox="1"/>
          <p:nvPr/>
        </p:nvSpPr>
        <p:spPr>
          <a:xfrm>
            <a:off x="4800600" y="5930900"/>
            <a:ext cx="355600" cy="276999"/>
          </a:xfrm>
          <a:prstGeom prst="rect">
            <a:avLst/>
          </a:prstGeom>
          <a:noFill/>
        </p:spPr>
        <p:txBody>
          <a:bodyPr vert="horz" wrap="square" lIns="0" tIns="0" rIns="0" bIns="0" rtlCol="0" anchor="t">
            <a:noAutofit/>
          </a:bodyPr>
          <a:lstStyle/>
          <a:p>
            <a:pPr algn="ctr">
              <a:spcAft>
                <a:spcPts val="400"/>
              </a:spcAft>
            </a:pPr>
            <a:r>
              <a:rPr lang="es-ES" sz="900">
                <a:solidFill>
                  <a:srgbClr val="6A8192"/>
                </a:solidFill>
                <a:latin typeface="Arial" panose="020B0604020202020204" pitchFamily="34" charset="0"/>
              </a:rPr>
              <a:t>50</a:t>
            </a:r>
          </a:p>
        </p:txBody>
      </p:sp>
      <p:cxnSp>
        <p:nvCxnSpPr>
          <p:cNvPr id="15" name="Grid 75">
            <a:extLst>
              <a:ext uri="{FF2B5EF4-FFF2-40B4-BE49-F238E27FC236}">
                <a16:creationId xmlns:a16="http://schemas.microsoft.com/office/drawing/2014/main" id="{146C9D9A-099F-1CF8-A4EA-7D21F2DD22AC}"/>
              </a:ext>
            </a:extLst>
          </p:cNvPr>
          <p:cNvCxnSpPr/>
          <p:nvPr/>
        </p:nvCxnSpPr>
        <p:spPr>
          <a:xfrm>
            <a:off x="6184900" y="2235200"/>
            <a:ext cx="0" cy="3581400"/>
          </a:xfrm>
          <a:prstGeom prst="line">
            <a:avLst/>
          </a:prstGeom>
          <a:ln w="8890">
            <a:solidFill>
              <a:srgbClr val="DCE5EA"/>
            </a:solidFill>
          </a:ln>
        </p:spPr>
        <p:style>
          <a:lnRef idx="2">
            <a:schemeClr val="accent1"/>
          </a:lnRef>
          <a:fillRef idx="0">
            <a:schemeClr val="accent1"/>
          </a:fillRef>
          <a:effectRef idx="1">
            <a:schemeClr val="accent1"/>
          </a:effectRef>
          <a:fontRef idx="minor">
            <a:schemeClr val="tx1"/>
          </a:fontRef>
        </p:style>
      </p:cxnSp>
      <p:sp>
        <p:nvSpPr>
          <p:cNvPr id="16" name="Tick 75">
            <a:extLst>
              <a:ext uri="{FF2B5EF4-FFF2-40B4-BE49-F238E27FC236}">
                <a16:creationId xmlns:a16="http://schemas.microsoft.com/office/drawing/2014/main" id="{9D0F2B54-0107-FFDC-F55F-D0B64FCDF45E}"/>
              </a:ext>
            </a:extLst>
          </p:cNvPr>
          <p:cNvSpPr txBox="1"/>
          <p:nvPr/>
        </p:nvSpPr>
        <p:spPr>
          <a:xfrm>
            <a:off x="6007100" y="5930900"/>
            <a:ext cx="355600" cy="276999"/>
          </a:xfrm>
          <a:prstGeom prst="rect">
            <a:avLst/>
          </a:prstGeom>
          <a:noFill/>
        </p:spPr>
        <p:txBody>
          <a:bodyPr vert="horz" wrap="square" lIns="0" tIns="0" rIns="0" bIns="0" rtlCol="0" anchor="t">
            <a:noAutofit/>
          </a:bodyPr>
          <a:lstStyle/>
          <a:p>
            <a:pPr algn="ctr">
              <a:spcAft>
                <a:spcPts val="400"/>
              </a:spcAft>
            </a:pPr>
            <a:r>
              <a:rPr lang="es-ES" sz="900">
                <a:solidFill>
                  <a:srgbClr val="6A8192"/>
                </a:solidFill>
                <a:latin typeface="Arial" panose="020B0604020202020204" pitchFamily="34" charset="0"/>
              </a:rPr>
              <a:t>75</a:t>
            </a:r>
          </a:p>
        </p:txBody>
      </p:sp>
      <p:cxnSp>
        <p:nvCxnSpPr>
          <p:cNvPr id="17" name="Grid 100">
            <a:extLst>
              <a:ext uri="{FF2B5EF4-FFF2-40B4-BE49-F238E27FC236}">
                <a16:creationId xmlns:a16="http://schemas.microsoft.com/office/drawing/2014/main" id="{DF81775E-60EA-C0ED-6C78-5C0B7F85E2A1}"/>
              </a:ext>
            </a:extLst>
          </p:cNvPr>
          <p:cNvCxnSpPr/>
          <p:nvPr/>
        </p:nvCxnSpPr>
        <p:spPr>
          <a:xfrm>
            <a:off x="7391400" y="2235200"/>
            <a:ext cx="0" cy="3581400"/>
          </a:xfrm>
          <a:prstGeom prst="line">
            <a:avLst/>
          </a:prstGeom>
          <a:ln w="8890">
            <a:solidFill>
              <a:srgbClr val="DCE5EA"/>
            </a:solidFill>
          </a:ln>
        </p:spPr>
        <p:style>
          <a:lnRef idx="2">
            <a:schemeClr val="accent1"/>
          </a:lnRef>
          <a:fillRef idx="0">
            <a:schemeClr val="accent1"/>
          </a:fillRef>
          <a:effectRef idx="1">
            <a:schemeClr val="accent1"/>
          </a:effectRef>
          <a:fontRef idx="minor">
            <a:schemeClr val="tx1"/>
          </a:fontRef>
        </p:style>
      </p:cxnSp>
      <p:sp>
        <p:nvSpPr>
          <p:cNvPr id="18" name="Tick 100">
            <a:extLst>
              <a:ext uri="{FF2B5EF4-FFF2-40B4-BE49-F238E27FC236}">
                <a16:creationId xmlns:a16="http://schemas.microsoft.com/office/drawing/2014/main" id="{52C060C3-4218-A853-0C71-329CF9E35044}"/>
              </a:ext>
            </a:extLst>
          </p:cNvPr>
          <p:cNvSpPr txBox="1"/>
          <p:nvPr/>
        </p:nvSpPr>
        <p:spPr>
          <a:xfrm>
            <a:off x="7213600" y="5930900"/>
            <a:ext cx="355600" cy="276999"/>
          </a:xfrm>
          <a:prstGeom prst="rect">
            <a:avLst/>
          </a:prstGeom>
          <a:noFill/>
        </p:spPr>
        <p:txBody>
          <a:bodyPr vert="horz" wrap="square" lIns="0" tIns="0" rIns="0" bIns="0" rtlCol="0" anchor="t">
            <a:noAutofit/>
          </a:bodyPr>
          <a:lstStyle/>
          <a:p>
            <a:pPr algn="ctr">
              <a:spcAft>
                <a:spcPts val="400"/>
              </a:spcAft>
            </a:pPr>
            <a:r>
              <a:rPr lang="es-ES" sz="900">
                <a:solidFill>
                  <a:srgbClr val="6A8192"/>
                </a:solidFill>
                <a:latin typeface="Arial" panose="020B0604020202020204" pitchFamily="34" charset="0"/>
              </a:rPr>
              <a:t>100</a:t>
            </a:r>
          </a:p>
        </p:txBody>
      </p:sp>
      <p:sp>
        <p:nvSpPr>
          <p:cNvPr id="19" name="Legend swatch">
            <a:extLst>
              <a:ext uri="{FF2B5EF4-FFF2-40B4-BE49-F238E27FC236}">
                <a16:creationId xmlns:a16="http://schemas.microsoft.com/office/drawing/2014/main" id="{799257F9-118E-6776-D7E0-6B1A172949C5}"/>
              </a:ext>
            </a:extLst>
          </p:cNvPr>
          <p:cNvSpPr/>
          <p:nvPr/>
        </p:nvSpPr>
        <p:spPr>
          <a:xfrm>
            <a:off x="2667000" y="1905000"/>
            <a:ext cx="139700" cy="139700"/>
          </a:xfrm>
          <a:prstGeom prst="rect">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Legend">
            <a:extLst>
              <a:ext uri="{FF2B5EF4-FFF2-40B4-BE49-F238E27FC236}">
                <a16:creationId xmlns:a16="http://schemas.microsoft.com/office/drawing/2014/main" id="{2F55B49D-A754-4B0C-A970-D74D2D304D88}"/>
              </a:ext>
            </a:extLst>
          </p:cNvPr>
          <p:cNvSpPr txBox="1"/>
          <p:nvPr/>
        </p:nvSpPr>
        <p:spPr>
          <a:xfrm>
            <a:off x="2882900" y="1854200"/>
            <a:ext cx="914400" cy="276999"/>
          </a:xfrm>
          <a:prstGeom prst="rect">
            <a:avLst/>
          </a:prstGeom>
          <a:noFill/>
        </p:spPr>
        <p:txBody>
          <a:bodyPr vert="horz" wrap="square" lIns="0" tIns="0" rIns="0" bIns="0" rtlCol="0" anchor="t">
            <a:noAutofit/>
          </a:bodyPr>
          <a:lstStyle/>
          <a:p>
            <a:pPr>
              <a:spcAft>
                <a:spcPts val="400"/>
              </a:spcAft>
            </a:pPr>
            <a:r>
              <a:rPr lang="es-ES" sz="1000">
                <a:solidFill>
                  <a:srgbClr val="49657A"/>
                </a:solidFill>
                <a:latin typeface="Arial" panose="020B0604020202020204" pitchFamily="34" charset="0"/>
              </a:rPr>
              <a:t>Accuracy</a:t>
            </a:r>
          </a:p>
        </p:txBody>
      </p:sp>
      <p:sp>
        <p:nvSpPr>
          <p:cNvPr id="21" name="Legend swatch">
            <a:extLst>
              <a:ext uri="{FF2B5EF4-FFF2-40B4-BE49-F238E27FC236}">
                <a16:creationId xmlns:a16="http://schemas.microsoft.com/office/drawing/2014/main" id="{E9185B03-C7BE-4304-F514-0E4CF8A824DD}"/>
              </a:ext>
            </a:extLst>
          </p:cNvPr>
          <p:cNvSpPr/>
          <p:nvPr/>
        </p:nvSpPr>
        <p:spPr>
          <a:xfrm>
            <a:off x="3937000" y="1905000"/>
            <a:ext cx="139700" cy="139700"/>
          </a:xfrm>
          <a:prstGeom prst="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Legend">
            <a:extLst>
              <a:ext uri="{FF2B5EF4-FFF2-40B4-BE49-F238E27FC236}">
                <a16:creationId xmlns:a16="http://schemas.microsoft.com/office/drawing/2014/main" id="{8A4CBF7C-D8EF-3A4B-E679-6D7E797DE6FF}"/>
              </a:ext>
            </a:extLst>
          </p:cNvPr>
          <p:cNvSpPr txBox="1"/>
          <p:nvPr/>
        </p:nvSpPr>
        <p:spPr>
          <a:xfrm>
            <a:off x="4152900" y="1854200"/>
            <a:ext cx="914400" cy="276999"/>
          </a:xfrm>
          <a:prstGeom prst="rect">
            <a:avLst/>
          </a:prstGeom>
          <a:noFill/>
        </p:spPr>
        <p:txBody>
          <a:bodyPr vert="horz" wrap="square" lIns="0" tIns="0" rIns="0" bIns="0" rtlCol="0" anchor="t">
            <a:noAutofit/>
          </a:bodyPr>
          <a:lstStyle/>
          <a:p>
            <a:pPr>
              <a:spcAft>
                <a:spcPts val="400"/>
              </a:spcAft>
            </a:pPr>
            <a:r>
              <a:rPr lang="es-ES" sz="1000">
                <a:solidFill>
                  <a:srgbClr val="49657A"/>
                </a:solidFill>
                <a:latin typeface="Arial" panose="020B0604020202020204" pitchFamily="34" charset="0"/>
              </a:rPr>
              <a:t>Recall</a:t>
            </a:r>
          </a:p>
        </p:txBody>
      </p:sp>
      <p:sp>
        <p:nvSpPr>
          <p:cNvPr id="23" name="Legend swatch">
            <a:extLst>
              <a:ext uri="{FF2B5EF4-FFF2-40B4-BE49-F238E27FC236}">
                <a16:creationId xmlns:a16="http://schemas.microsoft.com/office/drawing/2014/main" id="{63BB82D2-F87E-BE8B-299F-74D45BC6DCE2}"/>
              </a:ext>
            </a:extLst>
          </p:cNvPr>
          <p:cNvSpPr/>
          <p:nvPr/>
        </p:nvSpPr>
        <p:spPr>
          <a:xfrm>
            <a:off x="5207000" y="1905000"/>
            <a:ext cx="139700" cy="139700"/>
          </a:xfrm>
          <a:prstGeom prst="rect">
            <a:avLst/>
          </a:prstGeom>
          <a:solidFill>
            <a:srgbClr val="123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Legend">
            <a:extLst>
              <a:ext uri="{FF2B5EF4-FFF2-40B4-BE49-F238E27FC236}">
                <a16:creationId xmlns:a16="http://schemas.microsoft.com/office/drawing/2014/main" id="{1EE645BB-D9EB-7786-02A0-09A08D321E7C}"/>
              </a:ext>
            </a:extLst>
          </p:cNvPr>
          <p:cNvSpPr txBox="1"/>
          <p:nvPr/>
        </p:nvSpPr>
        <p:spPr>
          <a:xfrm>
            <a:off x="5422900" y="1854200"/>
            <a:ext cx="914400" cy="276999"/>
          </a:xfrm>
          <a:prstGeom prst="rect">
            <a:avLst/>
          </a:prstGeom>
          <a:noFill/>
        </p:spPr>
        <p:txBody>
          <a:bodyPr vert="horz" wrap="square" lIns="0" tIns="0" rIns="0" bIns="0" rtlCol="0" anchor="t">
            <a:noAutofit/>
          </a:bodyPr>
          <a:lstStyle/>
          <a:p>
            <a:pPr>
              <a:spcAft>
                <a:spcPts val="400"/>
              </a:spcAft>
            </a:pPr>
            <a:r>
              <a:rPr lang="es-ES" sz="1000">
                <a:solidFill>
                  <a:srgbClr val="49657A"/>
                </a:solidFill>
                <a:latin typeface="Arial" panose="020B0604020202020204" pitchFamily="34" charset="0"/>
              </a:rPr>
              <a:t>F1</a:t>
            </a:r>
          </a:p>
        </p:txBody>
      </p:sp>
      <p:sp>
        <p:nvSpPr>
          <p:cNvPr id="25" name="Mode label">
            <a:extLst>
              <a:ext uri="{FF2B5EF4-FFF2-40B4-BE49-F238E27FC236}">
                <a16:creationId xmlns:a16="http://schemas.microsoft.com/office/drawing/2014/main" id="{CE5C6B25-9B7D-5AEE-123B-8E5A77CD7B7D}"/>
              </a:ext>
            </a:extLst>
          </p:cNvPr>
          <p:cNvSpPr txBox="1"/>
          <p:nvPr/>
        </p:nvSpPr>
        <p:spPr>
          <a:xfrm>
            <a:off x="863600" y="2679700"/>
            <a:ext cx="1473200" cy="276999"/>
          </a:xfrm>
          <a:prstGeom prst="rect">
            <a:avLst/>
          </a:prstGeom>
          <a:noFill/>
        </p:spPr>
        <p:txBody>
          <a:bodyPr vert="horz" wrap="square" lIns="0" tIns="0" rIns="0" bIns="0" rtlCol="0" anchor="t">
            <a:noAutofit/>
          </a:bodyPr>
          <a:lstStyle/>
          <a:p>
            <a:pPr>
              <a:spcAft>
                <a:spcPts val="400"/>
              </a:spcAft>
            </a:pPr>
            <a:r>
              <a:rPr lang="es-ES" sz="1300" b="1">
                <a:solidFill>
                  <a:srgbClr val="07131F"/>
                </a:solidFill>
                <a:latin typeface="Arial" panose="020B0604020202020204" pitchFamily="34" charset="0"/>
              </a:rPr>
              <a:t>Heurístico</a:t>
            </a:r>
          </a:p>
        </p:txBody>
      </p:sp>
      <p:sp>
        <p:nvSpPr>
          <p:cNvPr id="26" name="Result bar">
            <a:extLst>
              <a:ext uri="{FF2B5EF4-FFF2-40B4-BE49-F238E27FC236}">
                <a16:creationId xmlns:a16="http://schemas.microsoft.com/office/drawing/2014/main" id="{1B55EDC4-88D2-BBD6-6815-5017430C4181}"/>
              </a:ext>
            </a:extLst>
          </p:cNvPr>
          <p:cNvSpPr/>
          <p:nvPr/>
        </p:nvSpPr>
        <p:spPr>
          <a:xfrm>
            <a:off x="2565400" y="2514600"/>
            <a:ext cx="4826000" cy="165100"/>
          </a:xfrm>
          <a:prstGeom prst="rect">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Result value">
            <a:extLst>
              <a:ext uri="{FF2B5EF4-FFF2-40B4-BE49-F238E27FC236}">
                <a16:creationId xmlns:a16="http://schemas.microsoft.com/office/drawing/2014/main" id="{B502FCE9-68A0-BD00-BF9C-71C8AB20DB85}"/>
              </a:ext>
            </a:extLst>
          </p:cNvPr>
          <p:cNvSpPr txBox="1"/>
          <p:nvPr/>
        </p:nvSpPr>
        <p:spPr>
          <a:xfrm>
            <a:off x="7467600" y="25019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100,0 %</a:t>
            </a:r>
          </a:p>
        </p:txBody>
      </p:sp>
      <p:sp>
        <p:nvSpPr>
          <p:cNvPr id="28" name="Result bar">
            <a:extLst>
              <a:ext uri="{FF2B5EF4-FFF2-40B4-BE49-F238E27FC236}">
                <a16:creationId xmlns:a16="http://schemas.microsoft.com/office/drawing/2014/main" id="{F31C320F-5D8C-0B3A-F56B-EBCC7994191F}"/>
              </a:ext>
            </a:extLst>
          </p:cNvPr>
          <p:cNvSpPr/>
          <p:nvPr/>
        </p:nvSpPr>
        <p:spPr>
          <a:xfrm>
            <a:off x="2565400" y="2781300"/>
            <a:ext cx="4826000" cy="165100"/>
          </a:xfrm>
          <a:prstGeom prst="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sult value">
            <a:extLst>
              <a:ext uri="{FF2B5EF4-FFF2-40B4-BE49-F238E27FC236}">
                <a16:creationId xmlns:a16="http://schemas.microsoft.com/office/drawing/2014/main" id="{AAF6AB32-9E9D-3A22-C038-06CB55DAE573}"/>
              </a:ext>
            </a:extLst>
          </p:cNvPr>
          <p:cNvSpPr txBox="1"/>
          <p:nvPr/>
        </p:nvSpPr>
        <p:spPr>
          <a:xfrm>
            <a:off x="7467600" y="27686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100,0 %</a:t>
            </a:r>
          </a:p>
        </p:txBody>
      </p:sp>
      <p:sp>
        <p:nvSpPr>
          <p:cNvPr id="30" name="Result bar">
            <a:extLst>
              <a:ext uri="{FF2B5EF4-FFF2-40B4-BE49-F238E27FC236}">
                <a16:creationId xmlns:a16="http://schemas.microsoft.com/office/drawing/2014/main" id="{C05E9E46-8F5C-8607-9428-3675B2F6F60F}"/>
              </a:ext>
            </a:extLst>
          </p:cNvPr>
          <p:cNvSpPr/>
          <p:nvPr/>
        </p:nvSpPr>
        <p:spPr>
          <a:xfrm>
            <a:off x="2565400" y="3048000"/>
            <a:ext cx="4826000" cy="165100"/>
          </a:xfrm>
          <a:prstGeom prst="rect">
            <a:avLst/>
          </a:prstGeom>
          <a:solidFill>
            <a:srgbClr val="123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sult value">
            <a:extLst>
              <a:ext uri="{FF2B5EF4-FFF2-40B4-BE49-F238E27FC236}">
                <a16:creationId xmlns:a16="http://schemas.microsoft.com/office/drawing/2014/main" id="{DEB5F7CA-7D8D-8FB7-1E78-32BE3260485E}"/>
              </a:ext>
            </a:extLst>
          </p:cNvPr>
          <p:cNvSpPr txBox="1"/>
          <p:nvPr/>
        </p:nvSpPr>
        <p:spPr>
          <a:xfrm>
            <a:off x="7467600" y="30353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100,0 %</a:t>
            </a:r>
          </a:p>
        </p:txBody>
      </p:sp>
      <p:sp>
        <p:nvSpPr>
          <p:cNvPr id="32" name="Mode label">
            <a:extLst>
              <a:ext uri="{FF2B5EF4-FFF2-40B4-BE49-F238E27FC236}">
                <a16:creationId xmlns:a16="http://schemas.microsoft.com/office/drawing/2014/main" id="{2AEFDA24-3BE4-C13C-610D-C2C2F57A2566}"/>
              </a:ext>
            </a:extLst>
          </p:cNvPr>
          <p:cNvSpPr txBox="1"/>
          <p:nvPr/>
        </p:nvSpPr>
        <p:spPr>
          <a:xfrm>
            <a:off x="863600" y="3873500"/>
            <a:ext cx="1473200" cy="276999"/>
          </a:xfrm>
          <a:prstGeom prst="rect">
            <a:avLst/>
          </a:prstGeom>
          <a:noFill/>
        </p:spPr>
        <p:txBody>
          <a:bodyPr vert="horz" wrap="square" lIns="0" tIns="0" rIns="0" bIns="0" rtlCol="0" anchor="t">
            <a:noAutofit/>
          </a:bodyPr>
          <a:lstStyle/>
          <a:p>
            <a:pPr>
              <a:spcAft>
                <a:spcPts val="400"/>
              </a:spcAft>
            </a:pPr>
            <a:r>
              <a:rPr lang="es-ES" sz="1300" b="1">
                <a:solidFill>
                  <a:srgbClr val="07131F"/>
                </a:solidFill>
                <a:latin typeface="Arial" panose="020B0604020202020204" pitchFamily="34" charset="0"/>
              </a:rPr>
              <a:t>Neuronal</a:t>
            </a:r>
          </a:p>
        </p:txBody>
      </p:sp>
      <p:sp>
        <p:nvSpPr>
          <p:cNvPr id="33" name="Result bar">
            <a:extLst>
              <a:ext uri="{FF2B5EF4-FFF2-40B4-BE49-F238E27FC236}">
                <a16:creationId xmlns:a16="http://schemas.microsoft.com/office/drawing/2014/main" id="{7CE94712-1FA2-4692-AE8F-5B547CF083F3}"/>
              </a:ext>
            </a:extLst>
          </p:cNvPr>
          <p:cNvSpPr/>
          <p:nvPr/>
        </p:nvSpPr>
        <p:spPr>
          <a:xfrm>
            <a:off x="2565400" y="3708400"/>
            <a:ext cx="3918712" cy="165100"/>
          </a:xfrm>
          <a:prstGeom prst="rect">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sult value">
            <a:extLst>
              <a:ext uri="{FF2B5EF4-FFF2-40B4-BE49-F238E27FC236}">
                <a16:creationId xmlns:a16="http://schemas.microsoft.com/office/drawing/2014/main" id="{847999E8-82AB-FE48-6148-36368E030D52}"/>
              </a:ext>
            </a:extLst>
          </p:cNvPr>
          <p:cNvSpPr txBox="1"/>
          <p:nvPr/>
        </p:nvSpPr>
        <p:spPr>
          <a:xfrm>
            <a:off x="6560312" y="36957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81,2 %</a:t>
            </a:r>
          </a:p>
        </p:txBody>
      </p:sp>
      <p:sp>
        <p:nvSpPr>
          <p:cNvPr id="35" name="Result bar">
            <a:extLst>
              <a:ext uri="{FF2B5EF4-FFF2-40B4-BE49-F238E27FC236}">
                <a16:creationId xmlns:a16="http://schemas.microsoft.com/office/drawing/2014/main" id="{CE245CFB-4CC7-8B69-0299-052BBFA690B6}"/>
              </a:ext>
            </a:extLst>
          </p:cNvPr>
          <p:cNvSpPr/>
          <p:nvPr/>
        </p:nvSpPr>
        <p:spPr>
          <a:xfrm>
            <a:off x="2565400" y="3975100"/>
            <a:ext cx="4222750" cy="165100"/>
          </a:xfrm>
          <a:prstGeom prst="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sult value">
            <a:extLst>
              <a:ext uri="{FF2B5EF4-FFF2-40B4-BE49-F238E27FC236}">
                <a16:creationId xmlns:a16="http://schemas.microsoft.com/office/drawing/2014/main" id="{6DAACCFA-DD7B-9CB5-D3AE-83A9301BC7F6}"/>
              </a:ext>
            </a:extLst>
          </p:cNvPr>
          <p:cNvSpPr txBox="1"/>
          <p:nvPr/>
        </p:nvSpPr>
        <p:spPr>
          <a:xfrm>
            <a:off x="6864350" y="39624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87,5 %</a:t>
            </a:r>
          </a:p>
        </p:txBody>
      </p:sp>
      <p:sp>
        <p:nvSpPr>
          <p:cNvPr id="37" name="Result bar">
            <a:extLst>
              <a:ext uri="{FF2B5EF4-FFF2-40B4-BE49-F238E27FC236}">
                <a16:creationId xmlns:a16="http://schemas.microsoft.com/office/drawing/2014/main" id="{61122139-10D2-6D54-8161-EB2D559EBC01}"/>
              </a:ext>
            </a:extLst>
          </p:cNvPr>
          <p:cNvSpPr/>
          <p:nvPr/>
        </p:nvSpPr>
        <p:spPr>
          <a:xfrm>
            <a:off x="2565400" y="4241800"/>
            <a:ext cx="3971798" cy="165100"/>
          </a:xfrm>
          <a:prstGeom prst="rect">
            <a:avLst/>
          </a:prstGeom>
          <a:solidFill>
            <a:srgbClr val="123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sult value">
            <a:extLst>
              <a:ext uri="{FF2B5EF4-FFF2-40B4-BE49-F238E27FC236}">
                <a16:creationId xmlns:a16="http://schemas.microsoft.com/office/drawing/2014/main" id="{E31AA964-AD9B-3AD6-97C9-4500D59DB3E4}"/>
              </a:ext>
            </a:extLst>
          </p:cNvPr>
          <p:cNvSpPr txBox="1"/>
          <p:nvPr/>
        </p:nvSpPr>
        <p:spPr>
          <a:xfrm>
            <a:off x="6613398" y="42291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82,3 %</a:t>
            </a:r>
          </a:p>
        </p:txBody>
      </p:sp>
      <p:sp>
        <p:nvSpPr>
          <p:cNvPr id="39" name="Mode label">
            <a:extLst>
              <a:ext uri="{FF2B5EF4-FFF2-40B4-BE49-F238E27FC236}">
                <a16:creationId xmlns:a16="http://schemas.microsoft.com/office/drawing/2014/main" id="{A4E639D1-EAAB-EC4D-C8F9-32C58CFC8A6C}"/>
              </a:ext>
            </a:extLst>
          </p:cNvPr>
          <p:cNvSpPr txBox="1"/>
          <p:nvPr/>
        </p:nvSpPr>
        <p:spPr>
          <a:xfrm>
            <a:off x="863600" y="5067300"/>
            <a:ext cx="1473200" cy="276999"/>
          </a:xfrm>
          <a:prstGeom prst="rect">
            <a:avLst/>
          </a:prstGeom>
          <a:noFill/>
        </p:spPr>
        <p:txBody>
          <a:bodyPr vert="horz" wrap="square" lIns="0" tIns="0" rIns="0" bIns="0" rtlCol="0" anchor="t">
            <a:noAutofit/>
          </a:bodyPr>
          <a:lstStyle/>
          <a:p>
            <a:pPr>
              <a:spcAft>
                <a:spcPts val="400"/>
              </a:spcAft>
            </a:pPr>
            <a:r>
              <a:rPr lang="es-ES" sz="1300" b="1">
                <a:solidFill>
                  <a:srgbClr val="07131F"/>
                </a:solidFill>
                <a:latin typeface="Arial" panose="020B0604020202020204" pitchFamily="34" charset="0"/>
              </a:rPr>
              <a:t>Combinado</a:t>
            </a:r>
          </a:p>
        </p:txBody>
      </p:sp>
      <p:sp>
        <p:nvSpPr>
          <p:cNvPr id="40" name="Result bar">
            <a:extLst>
              <a:ext uri="{FF2B5EF4-FFF2-40B4-BE49-F238E27FC236}">
                <a16:creationId xmlns:a16="http://schemas.microsoft.com/office/drawing/2014/main" id="{7CC425F5-198E-94A8-2560-2C7628BCB925}"/>
              </a:ext>
            </a:extLst>
          </p:cNvPr>
          <p:cNvSpPr/>
          <p:nvPr/>
        </p:nvSpPr>
        <p:spPr>
          <a:xfrm>
            <a:off x="2565400" y="4902200"/>
            <a:ext cx="4222750" cy="165100"/>
          </a:xfrm>
          <a:prstGeom prst="rect">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sult value">
            <a:extLst>
              <a:ext uri="{FF2B5EF4-FFF2-40B4-BE49-F238E27FC236}">
                <a16:creationId xmlns:a16="http://schemas.microsoft.com/office/drawing/2014/main" id="{E5EA86BB-6A13-ED0A-9E19-54362DC2B084}"/>
              </a:ext>
            </a:extLst>
          </p:cNvPr>
          <p:cNvSpPr txBox="1"/>
          <p:nvPr/>
        </p:nvSpPr>
        <p:spPr>
          <a:xfrm>
            <a:off x="6864350" y="48895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87,5 %</a:t>
            </a:r>
          </a:p>
        </p:txBody>
      </p:sp>
      <p:sp>
        <p:nvSpPr>
          <p:cNvPr id="42" name="Result bar">
            <a:extLst>
              <a:ext uri="{FF2B5EF4-FFF2-40B4-BE49-F238E27FC236}">
                <a16:creationId xmlns:a16="http://schemas.microsoft.com/office/drawing/2014/main" id="{F6420778-6706-B252-5EE1-511795CCAC87}"/>
              </a:ext>
            </a:extLst>
          </p:cNvPr>
          <p:cNvSpPr/>
          <p:nvPr/>
        </p:nvSpPr>
        <p:spPr>
          <a:xfrm>
            <a:off x="2565400" y="5168900"/>
            <a:ext cx="4826000" cy="165100"/>
          </a:xfrm>
          <a:prstGeom prst="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Result value">
            <a:extLst>
              <a:ext uri="{FF2B5EF4-FFF2-40B4-BE49-F238E27FC236}">
                <a16:creationId xmlns:a16="http://schemas.microsoft.com/office/drawing/2014/main" id="{1DF6B2AE-6A51-73F9-EC69-52F41E142BEE}"/>
              </a:ext>
            </a:extLst>
          </p:cNvPr>
          <p:cNvSpPr txBox="1"/>
          <p:nvPr/>
        </p:nvSpPr>
        <p:spPr>
          <a:xfrm>
            <a:off x="7467600" y="51562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100,0 %</a:t>
            </a:r>
          </a:p>
        </p:txBody>
      </p:sp>
      <p:sp>
        <p:nvSpPr>
          <p:cNvPr id="44" name="Result bar">
            <a:extLst>
              <a:ext uri="{FF2B5EF4-FFF2-40B4-BE49-F238E27FC236}">
                <a16:creationId xmlns:a16="http://schemas.microsoft.com/office/drawing/2014/main" id="{32770438-1FA9-6A85-3086-D1729D7F87ED}"/>
              </a:ext>
            </a:extLst>
          </p:cNvPr>
          <p:cNvSpPr/>
          <p:nvPr/>
        </p:nvSpPr>
        <p:spPr>
          <a:xfrm>
            <a:off x="2565400" y="5435600"/>
            <a:ext cx="4290314" cy="165100"/>
          </a:xfrm>
          <a:prstGeom prst="rect">
            <a:avLst/>
          </a:prstGeom>
          <a:solidFill>
            <a:srgbClr val="123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Result value">
            <a:extLst>
              <a:ext uri="{FF2B5EF4-FFF2-40B4-BE49-F238E27FC236}">
                <a16:creationId xmlns:a16="http://schemas.microsoft.com/office/drawing/2014/main" id="{44AAEA96-BB33-D8A0-C842-1E5C9D90F346}"/>
              </a:ext>
            </a:extLst>
          </p:cNvPr>
          <p:cNvSpPr txBox="1"/>
          <p:nvPr/>
        </p:nvSpPr>
        <p:spPr>
          <a:xfrm>
            <a:off x="6931914" y="5422900"/>
            <a:ext cx="685800" cy="276999"/>
          </a:xfrm>
          <a:prstGeom prst="rect">
            <a:avLst/>
          </a:prstGeom>
          <a:noFill/>
        </p:spPr>
        <p:txBody>
          <a:bodyPr vert="horz" wrap="square" lIns="0" tIns="0" rIns="0" bIns="0" rtlCol="0" anchor="t">
            <a:noAutofit/>
          </a:bodyPr>
          <a:lstStyle/>
          <a:p>
            <a:pPr>
              <a:spcAft>
                <a:spcPts val="400"/>
              </a:spcAft>
            </a:pPr>
            <a:r>
              <a:rPr lang="es-ES" sz="900" b="1">
                <a:solidFill>
                  <a:srgbClr val="49657A"/>
                </a:solidFill>
                <a:latin typeface="Arial" panose="020B0604020202020204" pitchFamily="34" charset="0"/>
              </a:rPr>
              <a:t>88,9 %</a:t>
            </a:r>
          </a:p>
        </p:txBody>
      </p:sp>
      <p:sp>
        <p:nvSpPr>
          <p:cNvPr id="46" name="Result callout">
            <a:extLst>
              <a:ext uri="{FF2B5EF4-FFF2-40B4-BE49-F238E27FC236}">
                <a16:creationId xmlns:a16="http://schemas.microsoft.com/office/drawing/2014/main" id="{29A48A21-B6EA-5950-9ED7-98D19CB88B4E}"/>
              </a:ext>
            </a:extLst>
          </p:cNvPr>
          <p:cNvSpPr/>
          <p:nvPr/>
        </p:nvSpPr>
        <p:spPr>
          <a:xfrm>
            <a:off x="8229600" y="1955800"/>
            <a:ext cx="3048000" cy="1422400"/>
          </a:xfrm>
          <a:prstGeom prst="rect">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Recall result">
            <a:extLst>
              <a:ext uri="{FF2B5EF4-FFF2-40B4-BE49-F238E27FC236}">
                <a16:creationId xmlns:a16="http://schemas.microsoft.com/office/drawing/2014/main" id="{02CCBE7B-D402-88C0-61CB-7DBB64FEEFE0}"/>
              </a:ext>
            </a:extLst>
          </p:cNvPr>
          <p:cNvSpPr txBox="1"/>
          <p:nvPr/>
        </p:nvSpPr>
        <p:spPr>
          <a:xfrm>
            <a:off x="8534400" y="2286000"/>
            <a:ext cx="2413000" cy="276999"/>
          </a:xfrm>
          <a:prstGeom prst="rect">
            <a:avLst/>
          </a:prstGeom>
          <a:noFill/>
        </p:spPr>
        <p:txBody>
          <a:bodyPr vert="horz" wrap="square" lIns="0" tIns="0" rIns="0" bIns="0" rtlCol="0" anchor="t">
            <a:noAutofit/>
          </a:bodyPr>
          <a:lstStyle/>
          <a:p>
            <a:pPr>
              <a:spcAft>
                <a:spcPts val="400"/>
              </a:spcAft>
            </a:pPr>
            <a:r>
              <a:rPr lang="es-ES" sz="2500" b="1">
                <a:solidFill>
                  <a:srgbClr val="FFFFFF"/>
                </a:solidFill>
                <a:latin typeface="Arial" panose="020B0604020202020204" pitchFamily="34" charset="0"/>
              </a:rPr>
              <a:t>100 % recall</a:t>
            </a:r>
          </a:p>
        </p:txBody>
      </p:sp>
      <p:sp>
        <p:nvSpPr>
          <p:cNvPr id="48" name="Recall detail">
            <a:extLst>
              <a:ext uri="{FF2B5EF4-FFF2-40B4-BE49-F238E27FC236}">
                <a16:creationId xmlns:a16="http://schemas.microsoft.com/office/drawing/2014/main" id="{F1D34106-AB38-E199-3AA9-B3E21D442CEB}"/>
              </a:ext>
            </a:extLst>
          </p:cNvPr>
          <p:cNvSpPr txBox="1"/>
          <p:nvPr/>
        </p:nvSpPr>
        <p:spPr>
          <a:xfrm>
            <a:off x="8534400" y="2806700"/>
            <a:ext cx="2413000" cy="276999"/>
          </a:xfrm>
          <a:prstGeom prst="rect">
            <a:avLst/>
          </a:prstGeom>
          <a:noFill/>
        </p:spPr>
        <p:txBody>
          <a:bodyPr vert="horz" wrap="square" lIns="0" tIns="0" rIns="0" bIns="0" rtlCol="0" anchor="t">
            <a:noAutofit/>
          </a:bodyPr>
          <a:lstStyle/>
          <a:p>
            <a:pPr>
              <a:spcAft>
                <a:spcPts val="400"/>
              </a:spcAft>
            </a:pPr>
            <a:r>
              <a:rPr lang="es-ES" sz="1200">
                <a:solidFill>
                  <a:srgbClr val="C9D7E0"/>
                </a:solidFill>
                <a:latin typeface="Arial" panose="020B0604020202020204" pitchFamily="34" charset="0"/>
              </a:rPr>
              <a:t>Combinado: 8/8 phishing
2 falsas alarmas</a:t>
            </a:r>
          </a:p>
        </p:txBody>
      </p:sp>
      <p:sp>
        <p:nvSpPr>
          <p:cNvPr id="49" name="External title">
            <a:extLst>
              <a:ext uri="{FF2B5EF4-FFF2-40B4-BE49-F238E27FC236}">
                <a16:creationId xmlns:a16="http://schemas.microsoft.com/office/drawing/2014/main" id="{4AB3D5D4-383A-9B62-B940-C29304D93CC4}"/>
              </a:ext>
            </a:extLst>
          </p:cNvPr>
          <p:cNvSpPr txBox="1"/>
          <p:nvPr/>
        </p:nvSpPr>
        <p:spPr>
          <a:xfrm>
            <a:off x="8229600" y="3835400"/>
            <a:ext cx="3048000" cy="276999"/>
          </a:xfrm>
          <a:prstGeom prst="rect">
            <a:avLst/>
          </a:prstGeom>
          <a:noFill/>
        </p:spPr>
        <p:txBody>
          <a:bodyPr vert="horz" wrap="square" lIns="0" tIns="0" rIns="0" bIns="0" rtlCol="0" anchor="t">
            <a:noAutofit/>
          </a:bodyPr>
          <a:lstStyle/>
          <a:p>
            <a:pPr>
              <a:spcAft>
                <a:spcPts val="400"/>
              </a:spcAft>
            </a:pPr>
            <a:r>
              <a:rPr lang="es-ES" sz="1700" b="1">
                <a:solidFill>
                  <a:srgbClr val="07131F"/>
                </a:solidFill>
                <a:latin typeface="Arial" panose="020B0604020202020204" pitchFamily="34" charset="0"/>
              </a:rPr>
              <a:t>Diagnóstico DIFrauD</a:t>
            </a:r>
          </a:p>
        </p:txBody>
      </p:sp>
      <p:sp>
        <p:nvSpPr>
          <p:cNvPr id="50" name="External metrics">
            <a:extLst>
              <a:ext uri="{FF2B5EF4-FFF2-40B4-BE49-F238E27FC236}">
                <a16:creationId xmlns:a16="http://schemas.microsoft.com/office/drawing/2014/main" id="{F4BF6F15-A8F3-0C8E-C99C-09DBF9F70551}"/>
              </a:ext>
            </a:extLst>
          </p:cNvPr>
          <p:cNvSpPr txBox="1"/>
          <p:nvPr/>
        </p:nvSpPr>
        <p:spPr>
          <a:xfrm>
            <a:off x="8229600" y="4305300"/>
            <a:ext cx="3048000" cy="276999"/>
          </a:xfrm>
          <a:prstGeom prst="rect">
            <a:avLst/>
          </a:prstGeom>
          <a:noFill/>
        </p:spPr>
        <p:txBody>
          <a:bodyPr vert="horz" wrap="square" lIns="0" tIns="0" rIns="0" bIns="0" rtlCol="0" anchor="t">
            <a:noAutofit/>
          </a:bodyPr>
          <a:lstStyle/>
          <a:p>
            <a:pPr>
              <a:spcAft>
                <a:spcPts val="400"/>
              </a:spcAft>
            </a:pPr>
            <a:r>
              <a:rPr lang="es-ES" sz="2200" b="1">
                <a:solidFill>
                  <a:srgbClr val="0F766E"/>
                </a:solidFill>
                <a:latin typeface="Arial" panose="020B0604020202020204" pitchFamily="34" charset="0"/>
              </a:rPr>
              <a:t>89,0 % accuracy
93,4 % recall</a:t>
            </a:r>
          </a:p>
        </p:txBody>
      </p:sp>
      <p:sp>
        <p:nvSpPr>
          <p:cNvPr id="51" name="External caveat">
            <a:extLst>
              <a:ext uri="{FF2B5EF4-FFF2-40B4-BE49-F238E27FC236}">
                <a16:creationId xmlns:a16="http://schemas.microsoft.com/office/drawing/2014/main" id="{425E6C1F-978C-A25B-0E52-BF40354EC0A6}"/>
              </a:ext>
            </a:extLst>
          </p:cNvPr>
          <p:cNvSpPr txBox="1"/>
          <p:nvPr/>
        </p:nvSpPr>
        <p:spPr>
          <a:xfrm>
            <a:off x="8229600" y="5168900"/>
            <a:ext cx="2870200" cy="276999"/>
          </a:xfrm>
          <a:prstGeom prst="rect">
            <a:avLst/>
          </a:prstGeom>
          <a:noFill/>
        </p:spPr>
        <p:txBody>
          <a:bodyPr vert="horz" wrap="square" lIns="0" tIns="0" rIns="0" bIns="0" rtlCol="0" anchor="t">
            <a:noAutofit/>
          </a:bodyPr>
          <a:lstStyle/>
          <a:p>
            <a:pPr>
              <a:spcAft>
                <a:spcPts val="400"/>
              </a:spcAft>
            </a:pPr>
            <a:r>
              <a:rPr lang="es-ES" sz="1200">
                <a:solidFill>
                  <a:srgbClr val="49657A"/>
                </a:solidFill>
                <a:latin typeface="Arial" panose="020B0604020202020204" pitchFamily="34" charset="0"/>
              </a:rPr>
              <a:t>Diagnóstico complementario; no acredita superioridad en producción.</a:t>
            </a:r>
          </a:p>
        </p:txBody>
      </p:sp>
    </p:spTree>
    <p:extLst>
      <p:ext uri="{BB962C8B-B14F-4D97-AF65-F5344CB8AC3E}">
        <p14:creationId xmlns:p14="http://schemas.microsoft.com/office/powerpoint/2010/main" val="1483607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73E3C141-EBEF-8E33-F973-5355DCECA956}"/>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VALIDACIÓN</a:t>
            </a:r>
          </a:p>
        </p:txBody>
      </p:sp>
      <p:sp>
        <p:nvSpPr>
          <p:cNvPr id="3" name="Slide title">
            <a:extLst>
              <a:ext uri="{FF2B5EF4-FFF2-40B4-BE49-F238E27FC236}">
                <a16:creationId xmlns:a16="http://schemas.microsoft.com/office/drawing/2014/main" id="{AC46B1C7-49C5-58FF-AEF2-B59F9AADC686}"/>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La evidencia cubre código, web y rendimiento</a:t>
            </a:r>
          </a:p>
        </p:txBody>
      </p:sp>
      <p:cxnSp>
        <p:nvCxnSpPr>
          <p:cNvPr id="4" name="Accent rule">
            <a:extLst>
              <a:ext uri="{FF2B5EF4-FFF2-40B4-BE49-F238E27FC236}">
                <a16:creationId xmlns:a16="http://schemas.microsoft.com/office/drawing/2014/main" id="{35A06764-838A-2DA1-9895-83C674551CB3}"/>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A786F22D-E2D5-3705-C791-62C66C3DB385}"/>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52964DAF-414E-C924-F4E3-D45F3AE68B9B}"/>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11</a:t>
            </a:r>
          </a:p>
        </p:txBody>
      </p:sp>
      <p:cxnSp>
        <p:nvCxnSpPr>
          <p:cNvPr id="7" name="Metric vertical">
            <a:extLst>
              <a:ext uri="{FF2B5EF4-FFF2-40B4-BE49-F238E27FC236}">
                <a16:creationId xmlns:a16="http://schemas.microsoft.com/office/drawing/2014/main" id="{6093B073-2401-5A32-C71D-58A38FC6A15C}"/>
              </a:ext>
            </a:extLst>
          </p:cNvPr>
          <p:cNvCxnSpPr/>
          <p:nvPr/>
        </p:nvCxnSpPr>
        <p:spPr>
          <a:xfrm>
            <a:off x="6096000" y="1803400"/>
            <a:ext cx="0" cy="3822700"/>
          </a:xfrm>
          <a:prstGeom prst="line">
            <a:avLst/>
          </a:prstGeom>
          <a:ln w="15240">
            <a:solidFill>
              <a:srgbClr val="DCE5EA"/>
            </a:solidFill>
          </a:ln>
        </p:spPr>
        <p:style>
          <a:lnRef idx="2">
            <a:schemeClr val="accent1"/>
          </a:lnRef>
          <a:fillRef idx="0">
            <a:schemeClr val="accent1"/>
          </a:fillRef>
          <a:effectRef idx="1">
            <a:schemeClr val="accent1"/>
          </a:effectRef>
          <a:fontRef idx="minor">
            <a:schemeClr val="tx1"/>
          </a:fontRef>
        </p:style>
      </p:cxnSp>
      <p:cxnSp>
        <p:nvCxnSpPr>
          <p:cNvPr id="8" name="Metric horizontal">
            <a:extLst>
              <a:ext uri="{FF2B5EF4-FFF2-40B4-BE49-F238E27FC236}">
                <a16:creationId xmlns:a16="http://schemas.microsoft.com/office/drawing/2014/main" id="{F64D3DC2-092F-0735-E8C3-24DB82EFB0D1}"/>
              </a:ext>
            </a:extLst>
          </p:cNvPr>
          <p:cNvCxnSpPr/>
          <p:nvPr/>
        </p:nvCxnSpPr>
        <p:spPr>
          <a:xfrm>
            <a:off x="1016000" y="3708400"/>
            <a:ext cx="10160000" cy="0"/>
          </a:xfrm>
          <a:prstGeom prst="line">
            <a:avLst/>
          </a:prstGeom>
          <a:ln w="15240">
            <a:solidFill>
              <a:srgbClr val="DCE5EA"/>
            </a:solidFill>
          </a:ln>
        </p:spPr>
        <p:style>
          <a:lnRef idx="2">
            <a:schemeClr val="accent1"/>
          </a:lnRef>
          <a:fillRef idx="0">
            <a:schemeClr val="accent1"/>
          </a:fillRef>
          <a:effectRef idx="1">
            <a:schemeClr val="accent1"/>
          </a:effectRef>
          <a:fontRef idx="minor">
            <a:schemeClr val="tx1"/>
          </a:fontRef>
        </p:style>
      </p:cxnSp>
      <p:sp>
        <p:nvSpPr>
          <p:cNvPr id="9" name="Metric value">
            <a:extLst>
              <a:ext uri="{FF2B5EF4-FFF2-40B4-BE49-F238E27FC236}">
                <a16:creationId xmlns:a16="http://schemas.microsoft.com/office/drawing/2014/main" id="{7EE883C3-8639-3E9E-C29F-69FCA6903BCA}"/>
              </a:ext>
            </a:extLst>
          </p:cNvPr>
          <p:cNvSpPr txBox="1"/>
          <p:nvPr/>
        </p:nvSpPr>
        <p:spPr>
          <a:xfrm>
            <a:off x="1143000" y="1905000"/>
            <a:ext cx="3810000" cy="276999"/>
          </a:xfrm>
          <a:prstGeom prst="rect">
            <a:avLst/>
          </a:prstGeom>
          <a:noFill/>
        </p:spPr>
        <p:txBody>
          <a:bodyPr vert="horz" wrap="square" lIns="0" tIns="0" rIns="0" bIns="0" rtlCol="0" anchor="t">
            <a:noAutofit/>
          </a:bodyPr>
          <a:lstStyle/>
          <a:p>
            <a:pPr>
              <a:spcAft>
                <a:spcPts val="400"/>
              </a:spcAft>
            </a:pPr>
            <a:r>
              <a:rPr lang="es-ES" sz="4200" b="1">
                <a:solidFill>
                  <a:srgbClr val="07131F"/>
                </a:solidFill>
                <a:latin typeface="Arial" panose="020B0604020202020204" pitchFamily="34" charset="0"/>
              </a:rPr>
              <a:t>94</a:t>
            </a:r>
          </a:p>
        </p:txBody>
      </p:sp>
      <p:sp>
        <p:nvSpPr>
          <p:cNvPr id="10" name="Metric title">
            <a:extLst>
              <a:ext uri="{FF2B5EF4-FFF2-40B4-BE49-F238E27FC236}">
                <a16:creationId xmlns:a16="http://schemas.microsoft.com/office/drawing/2014/main" id="{E694359E-942F-ECEA-23F2-7A16A83144F2}"/>
              </a:ext>
            </a:extLst>
          </p:cNvPr>
          <p:cNvSpPr txBox="1"/>
          <p:nvPr/>
        </p:nvSpPr>
        <p:spPr>
          <a:xfrm>
            <a:off x="1143000" y="2641600"/>
            <a:ext cx="4191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pruebas Python</a:t>
            </a:r>
          </a:p>
        </p:txBody>
      </p:sp>
      <p:sp>
        <p:nvSpPr>
          <p:cNvPr id="11" name="Metric detail">
            <a:extLst>
              <a:ext uri="{FF2B5EF4-FFF2-40B4-BE49-F238E27FC236}">
                <a16:creationId xmlns:a16="http://schemas.microsoft.com/office/drawing/2014/main" id="{357DFCC2-F9C0-9164-4225-3C16AC5336B5}"/>
              </a:ext>
            </a:extLst>
          </p:cNvPr>
          <p:cNvSpPr txBox="1"/>
          <p:nvPr/>
        </p:nvSpPr>
        <p:spPr>
          <a:xfrm>
            <a:off x="1143000" y="3048000"/>
            <a:ext cx="406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Componentes, API, modelos e integraciones</a:t>
            </a:r>
          </a:p>
        </p:txBody>
      </p:sp>
      <p:sp>
        <p:nvSpPr>
          <p:cNvPr id="12" name="Metric value">
            <a:extLst>
              <a:ext uri="{FF2B5EF4-FFF2-40B4-BE49-F238E27FC236}">
                <a16:creationId xmlns:a16="http://schemas.microsoft.com/office/drawing/2014/main" id="{D0A7552D-42E6-C58C-39C0-FB8E0FC54246}"/>
              </a:ext>
            </a:extLst>
          </p:cNvPr>
          <p:cNvSpPr txBox="1"/>
          <p:nvPr/>
        </p:nvSpPr>
        <p:spPr>
          <a:xfrm>
            <a:off x="6604000" y="1905000"/>
            <a:ext cx="3810000" cy="276999"/>
          </a:xfrm>
          <a:prstGeom prst="rect">
            <a:avLst/>
          </a:prstGeom>
          <a:noFill/>
        </p:spPr>
        <p:txBody>
          <a:bodyPr vert="horz" wrap="square" lIns="0" tIns="0" rIns="0" bIns="0" rtlCol="0" anchor="t">
            <a:noAutofit/>
          </a:bodyPr>
          <a:lstStyle/>
          <a:p>
            <a:pPr>
              <a:spcAft>
                <a:spcPts val="400"/>
              </a:spcAft>
            </a:pPr>
            <a:r>
              <a:rPr lang="es-ES" sz="4200" b="1">
                <a:solidFill>
                  <a:srgbClr val="07131F"/>
                </a:solidFill>
                <a:latin typeface="Arial" panose="020B0604020202020204" pitchFamily="34" charset="0"/>
              </a:rPr>
              <a:t>2</a:t>
            </a:r>
          </a:p>
        </p:txBody>
      </p:sp>
      <p:sp>
        <p:nvSpPr>
          <p:cNvPr id="13" name="Metric title">
            <a:extLst>
              <a:ext uri="{FF2B5EF4-FFF2-40B4-BE49-F238E27FC236}">
                <a16:creationId xmlns:a16="http://schemas.microsoft.com/office/drawing/2014/main" id="{284FABFD-14B7-6747-9624-FE853939B086}"/>
              </a:ext>
            </a:extLst>
          </p:cNvPr>
          <p:cNvSpPr txBox="1"/>
          <p:nvPr/>
        </p:nvSpPr>
        <p:spPr>
          <a:xfrm>
            <a:off x="6604000" y="2641600"/>
            <a:ext cx="4191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recorridos Chromium</a:t>
            </a:r>
          </a:p>
        </p:txBody>
      </p:sp>
      <p:sp>
        <p:nvSpPr>
          <p:cNvPr id="14" name="Metric detail">
            <a:extLst>
              <a:ext uri="{FF2B5EF4-FFF2-40B4-BE49-F238E27FC236}">
                <a16:creationId xmlns:a16="http://schemas.microsoft.com/office/drawing/2014/main" id="{697CAABD-1A57-F9A8-E06A-0610FD75C32C}"/>
              </a:ext>
            </a:extLst>
          </p:cNvPr>
          <p:cNvSpPr txBox="1"/>
          <p:nvPr/>
        </p:nvSpPr>
        <p:spPr>
          <a:xfrm>
            <a:off x="6604000" y="3048000"/>
            <a:ext cx="406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Incluido navegador → Streamlit → backend</a:t>
            </a:r>
          </a:p>
        </p:txBody>
      </p:sp>
      <p:sp>
        <p:nvSpPr>
          <p:cNvPr id="15" name="Metric value">
            <a:extLst>
              <a:ext uri="{FF2B5EF4-FFF2-40B4-BE49-F238E27FC236}">
                <a16:creationId xmlns:a16="http://schemas.microsoft.com/office/drawing/2014/main" id="{8C75CD4F-E85A-0135-0FDB-00F8009D4C3F}"/>
              </a:ext>
            </a:extLst>
          </p:cNvPr>
          <p:cNvSpPr txBox="1"/>
          <p:nvPr/>
        </p:nvSpPr>
        <p:spPr>
          <a:xfrm>
            <a:off x="1143000" y="4038600"/>
            <a:ext cx="3810000" cy="276999"/>
          </a:xfrm>
          <a:prstGeom prst="rect">
            <a:avLst/>
          </a:prstGeom>
          <a:noFill/>
        </p:spPr>
        <p:txBody>
          <a:bodyPr vert="horz" wrap="square" lIns="0" tIns="0" rIns="0" bIns="0" rtlCol="0" anchor="t">
            <a:noAutofit/>
          </a:bodyPr>
          <a:lstStyle/>
          <a:p>
            <a:pPr>
              <a:spcAft>
                <a:spcPts val="400"/>
              </a:spcAft>
            </a:pPr>
            <a:r>
              <a:rPr lang="es-ES" sz="4200" b="1">
                <a:solidFill>
                  <a:srgbClr val="0F766E"/>
                </a:solidFill>
                <a:latin typeface="Arial" panose="020B0604020202020204" pitchFamily="34" charset="0"/>
              </a:rPr>
              <a:t>96,6 %</a:t>
            </a:r>
          </a:p>
        </p:txBody>
      </p:sp>
      <p:sp>
        <p:nvSpPr>
          <p:cNvPr id="16" name="Metric title">
            <a:extLst>
              <a:ext uri="{FF2B5EF4-FFF2-40B4-BE49-F238E27FC236}">
                <a16:creationId xmlns:a16="http://schemas.microsoft.com/office/drawing/2014/main" id="{E17C01B3-026D-123A-DB20-C0118723AE94}"/>
              </a:ext>
            </a:extLst>
          </p:cNvPr>
          <p:cNvSpPr txBox="1"/>
          <p:nvPr/>
        </p:nvSpPr>
        <p:spPr>
          <a:xfrm>
            <a:off x="1143000" y="4775200"/>
            <a:ext cx="4191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menos tiempo de importación</a:t>
            </a:r>
          </a:p>
        </p:txBody>
      </p:sp>
      <p:sp>
        <p:nvSpPr>
          <p:cNvPr id="17" name="Metric detail">
            <a:extLst>
              <a:ext uri="{FF2B5EF4-FFF2-40B4-BE49-F238E27FC236}">
                <a16:creationId xmlns:a16="http://schemas.microsoft.com/office/drawing/2014/main" id="{7B3E6EE6-A86C-62D7-4DB1-BCC22A476AC2}"/>
              </a:ext>
            </a:extLst>
          </p:cNvPr>
          <p:cNvSpPr txBox="1"/>
          <p:nvPr/>
        </p:nvSpPr>
        <p:spPr>
          <a:xfrm>
            <a:off x="1143000" y="5181600"/>
            <a:ext cx="406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Heurísticas tras diferir dependencias pesadas</a:t>
            </a:r>
          </a:p>
        </p:txBody>
      </p:sp>
      <p:sp>
        <p:nvSpPr>
          <p:cNvPr id="18" name="Metric value">
            <a:extLst>
              <a:ext uri="{FF2B5EF4-FFF2-40B4-BE49-F238E27FC236}">
                <a16:creationId xmlns:a16="http://schemas.microsoft.com/office/drawing/2014/main" id="{C52C9DB7-31D4-253A-7B17-1BE836FEFCF3}"/>
              </a:ext>
            </a:extLst>
          </p:cNvPr>
          <p:cNvSpPr txBox="1"/>
          <p:nvPr/>
        </p:nvSpPr>
        <p:spPr>
          <a:xfrm>
            <a:off x="6604000" y="4038600"/>
            <a:ext cx="3810000" cy="276999"/>
          </a:xfrm>
          <a:prstGeom prst="rect">
            <a:avLst/>
          </a:prstGeom>
          <a:noFill/>
        </p:spPr>
        <p:txBody>
          <a:bodyPr vert="horz" wrap="square" lIns="0" tIns="0" rIns="0" bIns="0" rtlCol="0" anchor="t">
            <a:noAutofit/>
          </a:bodyPr>
          <a:lstStyle/>
          <a:p>
            <a:pPr>
              <a:spcAft>
                <a:spcPts val="400"/>
              </a:spcAft>
            </a:pPr>
            <a:r>
              <a:rPr lang="es-ES" sz="4200" b="1">
                <a:solidFill>
                  <a:srgbClr val="0F766E"/>
                </a:solidFill>
                <a:latin typeface="Arial" panose="020B0604020202020204" pitchFamily="34" charset="0"/>
              </a:rPr>
              <a:t>76,2 %</a:t>
            </a:r>
          </a:p>
        </p:txBody>
      </p:sp>
      <p:sp>
        <p:nvSpPr>
          <p:cNvPr id="19" name="Metric title">
            <a:extLst>
              <a:ext uri="{FF2B5EF4-FFF2-40B4-BE49-F238E27FC236}">
                <a16:creationId xmlns:a16="http://schemas.microsoft.com/office/drawing/2014/main" id="{04CF6198-6B6F-8275-3266-ABF5C49AFEDE}"/>
              </a:ext>
            </a:extLst>
          </p:cNvPr>
          <p:cNvSpPr txBox="1"/>
          <p:nvPr/>
        </p:nvSpPr>
        <p:spPr>
          <a:xfrm>
            <a:off x="6604000" y="4775200"/>
            <a:ext cx="4191000" cy="276999"/>
          </a:xfrm>
          <a:prstGeom prst="rect">
            <a:avLst/>
          </a:prstGeom>
          <a:noFill/>
        </p:spPr>
        <p:txBody>
          <a:bodyPr vert="horz" wrap="square" lIns="0" tIns="0" rIns="0" bIns="0" rtlCol="0" anchor="t">
            <a:noAutofit/>
          </a:bodyPr>
          <a:lstStyle/>
          <a:p>
            <a:pPr>
              <a:spcAft>
                <a:spcPts val="400"/>
              </a:spcAft>
            </a:pPr>
            <a:r>
              <a:rPr lang="es-ES" b="1">
                <a:solidFill>
                  <a:srgbClr val="07131F"/>
                </a:solidFill>
                <a:latin typeface="Arial" panose="020B0604020202020204" pitchFamily="34" charset="0"/>
              </a:rPr>
              <a:t>menos arranque de la web</a:t>
            </a:r>
          </a:p>
        </p:txBody>
      </p:sp>
      <p:sp>
        <p:nvSpPr>
          <p:cNvPr id="20" name="Metric detail">
            <a:extLst>
              <a:ext uri="{FF2B5EF4-FFF2-40B4-BE49-F238E27FC236}">
                <a16:creationId xmlns:a16="http://schemas.microsoft.com/office/drawing/2014/main" id="{C5414DDA-BD67-38C4-DB71-A343EA96AF99}"/>
              </a:ext>
            </a:extLst>
          </p:cNvPr>
          <p:cNvSpPr txBox="1"/>
          <p:nvPr/>
        </p:nvSpPr>
        <p:spPr>
          <a:xfrm>
            <a:off x="6604000" y="5181600"/>
            <a:ext cx="4064000" cy="276999"/>
          </a:xfrm>
          <a:prstGeom prst="rect">
            <a:avLst/>
          </a:prstGeom>
          <a:noFill/>
        </p:spPr>
        <p:txBody>
          <a:bodyPr vert="horz" wrap="square" lIns="0" tIns="0" rIns="0" bIns="0" rtlCol="0" anchor="t">
            <a:noAutofit/>
          </a:bodyPr>
          <a:lstStyle/>
          <a:p>
            <a:pPr>
              <a:spcAft>
                <a:spcPts val="400"/>
              </a:spcAft>
            </a:pPr>
            <a:r>
              <a:rPr lang="es-ES" sz="1300">
                <a:solidFill>
                  <a:srgbClr val="49657A"/>
                </a:solidFill>
                <a:latin typeface="Arial" panose="020B0604020202020204" pitchFamily="34" charset="0"/>
              </a:rPr>
              <a:t>Mejora medida; inferencia estable</a:t>
            </a:r>
          </a:p>
        </p:txBody>
      </p:sp>
    </p:spTree>
    <p:extLst>
      <p:ext uri="{BB962C8B-B14F-4D97-AF65-F5344CB8AC3E}">
        <p14:creationId xmlns:p14="http://schemas.microsoft.com/office/powerpoint/2010/main" val="3933433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74357AD3-8F09-83C3-0E97-E0DD396DB68A}"/>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DEMOSTRACIÓN</a:t>
            </a:r>
          </a:p>
        </p:txBody>
      </p:sp>
      <p:sp>
        <p:nvSpPr>
          <p:cNvPr id="3" name="Slide title">
            <a:extLst>
              <a:ext uri="{FF2B5EF4-FFF2-40B4-BE49-F238E27FC236}">
                <a16:creationId xmlns:a16="http://schemas.microsoft.com/office/drawing/2014/main" id="{8372BAC5-B2EC-6157-8ADE-A827E1000A4D}"/>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Cuatro pasos sostienen la demostración</a:t>
            </a:r>
          </a:p>
        </p:txBody>
      </p:sp>
      <p:cxnSp>
        <p:nvCxnSpPr>
          <p:cNvPr id="4" name="Accent rule">
            <a:extLst>
              <a:ext uri="{FF2B5EF4-FFF2-40B4-BE49-F238E27FC236}">
                <a16:creationId xmlns:a16="http://schemas.microsoft.com/office/drawing/2014/main" id="{88958E9D-60F1-6D93-F971-0D61AD89BF35}"/>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C7BA2444-FFD1-17C2-5316-B64E02CC9024}"/>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302AF2BB-C803-D391-C039-461C9ABEB193}"/>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12</a:t>
            </a:r>
          </a:p>
        </p:txBody>
      </p:sp>
      <p:cxnSp>
        <p:nvCxnSpPr>
          <p:cNvPr id="7" name="Demo arrow">
            <a:extLst>
              <a:ext uri="{FF2B5EF4-FFF2-40B4-BE49-F238E27FC236}">
                <a16:creationId xmlns:a16="http://schemas.microsoft.com/office/drawing/2014/main" id="{82AB7A9E-4C23-C720-239C-DA7D726ED1CB}"/>
              </a:ext>
            </a:extLst>
          </p:cNvPr>
          <p:cNvCxnSpPr/>
          <p:nvPr/>
        </p:nvCxnSpPr>
        <p:spPr>
          <a:xfrm>
            <a:off x="2451100" y="3136900"/>
            <a:ext cx="1930400" cy="0"/>
          </a:xfrm>
          <a:prstGeom prst="line">
            <a:avLst/>
          </a:prstGeom>
          <a:ln w="25400">
            <a:solidFill>
              <a:srgbClr val="0D9488"/>
            </a:solidFill>
            <a:tailEnd type="arrow"/>
          </a:ln>
        </p:spPr>
        <p:style>
          <a:lnRef idx="2">
            <a:schemeClr val="accent1"/>
          </a:lnRef>
          <a:fillRef idx="0">
            <a:schemeClr val="accent1"/>
          </a:fillRef>
          <a:effectRef idx="1">
            <a:schemeClr val="accent1"/>
          </a:effectRef>
          <a:fontRef idx="minor">
            <a:schemeClr val="tx1"/>
          </a:fontRef>
        </p:style>
      </p:cxnSp>
      <p:cxnSp>
        <p:nvCxnSpPr>
          <p:cNvPr id="8" name="Demo arrow">
            <a:extLst>
              <a:ext uri="{FF2B5EF4-FFF2-40B4-BE49-F238E27FC236}">
                <a16:creationId xmlns:a16="http://schemas.microsoft.com/office/drawing/2014/main" id="{B023417C-E535-40F2-82B3-198A9F7B4202}"/>
              </a:ext>
            </a:extLst>
          </p:cNvPr>
          <p:cNvCxnSpPr/>
          <p:nvPr/>
        </p:nvCxnSpPr>
        <p:spPr>
          <a:xfrm>
            <a:off x="5219700" y="3136900"/>
            <a:ext cx="1930400" cy="0"/>
          </a:xfrm>
          <a:prstGeom prst="line">
            <a:avLst/>
          </a:prstGeom>
          <a:ln w="25400">
            <a:solidFill>
              <a:srgbClr val="0D9488"/>
            </a:solidFill>
            <a:tailEnd type="arrow"/>
          </a:ln>
        </p:spPr>
        <p:style>
          <a:lnRef idx="2">
            <a:schemeClr val="accent1"/>
          </a:lnRef>
          <a:fillRef idx="0">
            <a:schemeClr val="accent1"/>
          </a:fillRef>
          <a:effectRef idx="1">
            <a:schemeClr val="accent1"/>
          </a:effectRef>
          <a:fontRef idx="minor">
            <a:schemeClr val="tx1"/>
          </a:fontRef>
        </p:style>
      </p:cxnSp>
      <p:cxnSp>
        <p:nvCxnSpPr>
          <p:cNvPr id="9" name="Demo arrow">
            <a:extLst>
              <a:ext uri="{FF2B5EF4-FFF2-40B4-BE49-F238E27FC236}">
                <a16:creationId xmlns:a16="http://schemas.microsoft.com/office/drawing/2014/main" id="{3F24D6E5-001B-A319-7C68-5A25AB6E18C5}"/>
              </a:ext>
            </a:extLst>
          </p:cNvPr>
          <p:cNvCxnSpPr/>
          <p:nvPr/>
        </p:nvCxnSpPr>
        <p:spPr>
          <a:xfrm>
            <a:off x="7988300" y="3136900"/>
            <a:ext cx="1930400" cy="0"/>
          </a:xfrm>
          <a:prstGeom prst="line">
            <a:avLst/>
          </a:prstGeom>
          <a:ln w="25400">
            <a:solidFill>
              <a:srgbClr val="0D9488"/>
            </a:solidFill>
            <a:tailEnd type="arrow"/>
          </a:ln>
        </p:spPr>
        <p:style>
          <a:lnRef idx="2">
            <a:schemeClr val="accent1"/>
          </a:lnRef>
          <a:fillRef idx="0">
            <a:schemeClr val="accent1"/>
          </a:fillRef>
          <a:effectRef idx="1">
            <a:schemeClr val="accent1"/>
          </a:effectRef>
          <a:fontRef idx="minor">
            <a:schemeClr val="tx1"/>
          </a:fontRef>
        </p:style>
      </p:cxnSp>
      <p:sp>
        <p:nvSpPr>
          <p:cNvPr id="10" name="Demo number">
            <a:extLst>
              <a:ext uri="{FF2B5EF4-FFF2-40B4-BE49-F238E27FC236}">
                <a16:creationId xmlns:a16="http://schemas.microsoft.com/office/drawing/2014/main" id="{5BDC9811-D10D-0045-43A6-27005409CDB6}"/>
              </a:ext>
            </a:extLst>
          </p:cNvPr>
          <p:cNvSpPr txBox="1"/>
          <p:nvPr/>
        </p:nvSpPr>
        <p:spPr>
          <a:xfrm>
            <a:off x="914400" y="2032000"/>
            <a:ext cx="2235200" cy="276999"/>
          </a:xfrm>
          <a:prstGeom prst="rect">
            <a:avLst/>
          </a:prstGeom>
          <a:noFill/>
        </p:spPr>
        <p:txBody>
          <a:bodyPr vert="horz" wrap="square" lIns="0" tIns="0" rIns="0" bIns="0" rtlCol="0" anchor="t">
            <a:noAutofit/>
          </a:bodyPr>
          <a:lstStyle/>
          <a:p>
            <a:pPr algn="ctr">
              <a:spcAft>
                <a:spcPts val="400"/>
              </a:spcAft>
            </a:pPr>
            <a:r>
              <a:rPr lang="es-ES" sz="1300" b="1">
                <a:solidFill>
                  <a:srgbClr val="0F766E"/>
                </a:solidFill>
                <a:latin typeface="Arial" panose="020B0604020202020204" pitchFamily="34" charset="0"/>
              </a:rPr>
              <a:t>01</a:t>
            </a:r>
          </a:p>
        </p:txBody>
      </p:sp>
      <p:sp>
        <p:nvSpPr>
          <p:cNvPr id="11" name="Demo node">
            <a:extLst>
              <a:ext uri="{FF2B5EF4-FFF2-40B4-BE49-F238E27FC236}">
                <a16:creationId xmlns:a16="http://schemas.microsoft.com/office/drawing/2014/main" id="{80FC3A9C-66D6-8428-B6DB-E954ADB7BAF6}"/>
              </a:ext>
            </a:extLst>
          </p:cNvPr>
          <p:cNvSpPr/>
          <p:nvPr/>
        </p:nvSpPr>
        <p:spPr>
          <a:xfrm>
            <a:off x="1765300" y="2870200"/>
            <a:ext cx="533400" cy="533400"/>
          </a:xfrm>
          <a:prstGeom prst="ellipse">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Demo title">
            <a:extLst>
              <a:ext uri="{FF2B5EF4-FFF2-40B4-BE49-F238E27FC236}">
                <a16:creationId xmlns:a16="http://schemas.microsoft.com/office/drawing/2014/main" id="{CD6E09CD-BCD0-E81F-8E60-089830DFA28D}"/>
              </a:ext>
            </a:extLst>
          </p:cNvPr>
          <p:cNvSpPr txBox="1"/>
          <p:nvPr/>
        </p:nvSpPr>
        <p:spPr>
          <a:xfrm>
            <a:off x="914400" y="3822700"/>
            <a:ext cx="2235200" cy="276999"/>
          </a:xfrm>
          <a:prstGeom prst="rect">
            <a:avLst/>
          </a:prstGeom>
          <a:noFill/>
        </p:spPr>
        <p:txBody>
          <a:bodyPr vert="horz" wrap="square" lIns="0" tIns="0" rIns="0" bIns="0" rtlCol="0" anchor="t">
            <a:noAutofit/>
          </a:bodyPr>
          <a:lstStyle/>
          <a:p>
            <a:pPr algn="ctr">
              <a:spcAft>
                <a:spcPts val="400"/>
              </a:spcAft>
            </a:pPr>
            <a:r>
              <a:rPr lang="es-ES" sz="1900" b="1">
                <a:solidFill>
                  <a:srgbClr val="07131F"/>
                </a:solidFill>
                <a:latin typeface="Arial" panose="020B0604020202020204" pitchFamily="34" charset="0"/>
              </a:rPr>
              <a:t>Arrancar</a:t>
            </a:r>
          </a:p>
        </p:txBody>
      </p:sp>
      <p:sp>
        <p:nvSpPr>
          <p:cNvPr id="13" name="Demo detail">
            <a:extLst>
              <a:ext uri="{FF2B5EF4-FFF2-40B4-BE49-F238E27FC236}">
                <a16:creationId xmlns:a16="http://schemas.microsoft.com/office/drawing/2014/main" id="{7EB36032-2368-2658-91E9-8DC5BC2CAD3F}"/>
              </a:ext>
            </a:extLst>
          </p:cNvPr>
          <p:cNvSpPr txBox="1"/>
          <p:nvPr/>
        </p:nvSpPr>
        <p:spPr>
          <a:xfrm>
            <a:off x="914400" y="4305300"/>
            <a:ext cx="2235200" cy="276999"/>
          </a:xfrm>
          <a:prstGeom prst="rect">
            <a:avLst/>
          </a:prstGeom>
          <a:noFill/>
        </p:spPr>
        <p:txBody>
          <a:bodyPr vert="horz" wrap="square" lIns="0" tIns="0" rIns="0" bIns="0" rtlCol="0" anchor="t">
            <a:noAutofit/>
          </a:bodyPr>
          <a:lstStyle/>
          <a:p>
            <a:pPr algn="ctr">
              <a:spcAft>
                <a:spcPts val="400"/>
              </a:spcAft>
            </a:pPr>
            <a:r>
              <a:rPr lang="es-ES" sz="1400">
                <a:solidFill>
                  <a:srgbClr val="49657A"/>
                </a:solidFill>
                <a:latin typeface="Arial" panose="020B0604020202020204" pitchFamily="34" charset="0"/>
              </a:rPr>
              <a:t>Backend :8766 y /health</a:t>
            </a:r>
          </a:p>
        </p:txBody>
      </p:sp>
      <p:sp>
        <p:nvSpPr>
          <p:cNvPr id="14" name="Demo number">
            <a:extLst>
              <a:ext uri="{FF2B5EF4-FFF2-40B4-BE49-F238E27FC236}">
                <a16:creationId xmlns:a16="http://schemas.microsoft.com/office/drawing/2014/main" id="{0BD24B8B-5FA1-A8B3-69CA-2D66BEBF92DD}"/>
              </a:ext>
            </a:extLst>
          </p:cNvPr>
          <p:cNvSpPr txBox="1"/>
          <p:nvPr/>
        </p:nvSpPr>
        <p:spPr>
          <a:xfrm>
            <a:off x="3683000" y="2032000"/>
            <a:ext cx="2235200" cy="276999"/>
          </a:xfrm>
          <a:prstGeom prst="rect">
            <a:avLst/>
          </a:prstGeom>
          <a:noFill/>
        </p:spPr>
        <p:txBody>
          <a:bodyPr vert="horz" wrap="square" lIns="0" tIns="0" rIns="0" bIns="0" rtlCol="0" anchor="t">
            <a:noAutofit/>
          </a:bodyPr>
          <a:lstStyle/>
          <a:p>
            <a:pPr algn="ctr">
              <a:spcAft>
                <a:spcPts val="400"/>
              </a:spcAft>
            </a:pPr>
            <a:r>
              <a:rPr lang="es-ES" sz="1300" b="1">
                <a:solidFill>
                  <a:srgbClr val="0F766E"/>
                </a:solidFill>
                <a:latin typeface="Arial" panose="020B0604020202020204" pitchFamily="34" charset="0"/>
              </a:rPr>
              <a:t>02</a:t>
            </a:r>
          </a:p>
        </p:txBody>
      </p:sp>
      <p:sp>
        <p:nvSpPr>
          <p:cNvPr id="15" name="Demo node">
            <a:extLst>
              <a:ext uri="{FF2B5EF4-FFF2-40B4-BE49-F238E27FC236}">
                <a16:creationId xmlns:a16="http://schemas.microsoft.com/office/drawing/2014/main" id="{F53E09DC-6A5C-2E92-48A0-4685B3F1AF1B}"/>
              </a:ext>
            </a:extLst>
          </p:cNvPr>
          <p:cNvSpPr/>
          <p:nvPr/>
        </p:nvSpPr>
        <p:spPr>
          <a:xfrm>
            <a:off x="4533900" y="2870200"/>
            <a:ext cx="533400" cy="533400"/>
          </a:xfrm>
          <a:prstGeom prst="ellipse">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Demo title">
            <a:extLst>
              <a:ext uri="{FF2B5EF4-FFF2-40B4-BE49-F238E27FC236}">
                <a16:creationId xmlns:a16="http://schemas.microsoft.com/office/drawing/2014/main" id="{FAE4B0F9-F614-30F8-3AFB-44411E2250D0}"/>
              </a:ext>
            </a:extLst>
          </p:cNvPr>
          <p:cNvSpPr txBox="1"/>
          <p:nvPr/>
        </p:nvSpPr>
        <p:spPr>
          <a:xfrm>
            <a:off x="3683000" y="3822700"/>
            <a:ext cx="2235200" cy="276999"/>
          </a:xfrm>
          <a:prstGeom prst="rect">
            <a:avLst/>
          </a:prstGeom>
          <a:noFill/>
        </p:spPr>
        <p:txBody>
          <a:bodyPr vert="horz" wrap="square" lIns="0" tIns="0" rIns="0" bIns="0" rtlCol="0" anchor="t">
            <a:noAutofit/>
          </a:bodyPr>
          <a:lstStyle/>
          <a:p>
            <a:pPr algn="ctr">
              <a:spcAft>
                <a:spcPts val="400"/>
              </a:spcAft>
            </a:pPr>
            <a:r>
              <a:rPr lang="es-ES" sz="1900" b="1">
                <a:solidFill>
                  <a:srgbClr val="07131F"/>
                </a:solidFill>
                <a:latin typeface="Arial" panose="020B0604020202020204" pitchFamily="34" charset="0"/>
              </a:rPr>
              <a:t>Abrir</a:t>
            </a:r>
          </a:p>
        </p:txBody>
      </p:sp>
      <p:sp>
        <p:nvSpPr>
          <p:cNvPr id="17" name="Demo detail">
            <a:extLst>
              <a:ext uri="{FF2B5EF4-FFF2-40B4-BE49-F238E27FC236}">
                <a16:creationId xmlns:a16="http://schemas.microsoft.com/office/drawing/2014/main" id="{1A3EEBD6-A54B-E025-7BC4-18234DEF5034}"/>
              </a:ext>
            </a:extLst>
          </p:cNvPr>
          <p:cNvSpPr txBox="1"/>
          <p:nvPr/>
        </p:nvSpPr>
        <p:spPr>
          <a:xfrm>
            <a:off x="3683000" y="4305300"/>
            <a:ext cx="2235200" cy="276999"/>
          </a:xfrm>
          <a:prstGeom prst="rect">
            <a:avLst/>
          </a:prstGeom>
          <a:noFill/>
        </p:spPr>
        <p:txBody>
          <a:bodyPr vert="horz" wrap="square" lIns="0" tIns="0" rIns="0" bIns="0" rtlCol="0" anchor="t">
            <a:noAutofit/>
          </a:bodyPr>
          <a:lstStyle/>
          <a:p>
            <a:pPr algn="ctr">
              <a:spcAft>
                <a:spcPts val="400"/>
              </a:spcAft>
            </a:pPr>
            <a:r>
              <a:rPr lang="es-ES" sz="1400">
                <a:solidFill>
                  <a:srgbClr val="49657A"/>
                </a:solidFill>
                <a:latin typeface="Arial" panose="020B0604020202020204" pitchFamily="34" charset="0"/>
              </a:rPr>
              <a:t>Streamlit conectado</a:t>
            </a:r>
          </a:p>
        </p:txBody>
      </p:sp>
      <p:sp>
        <p:nvSpPr>
          <p:cNvPr id="18" name="Demo number">
            <a:extLst>
              <a:ext uri="{FF2B5EF4-FFF2-40B4-BE49-F238E27FC236}">
                <a16:creationId xmlns:a16="http://schemas.microsoft.com/office/drawing/2014/main" id="{3C7AB551-7116-9495-43F4-C91621788D5E}"/>
              </a:ext>
            </a:extLst>
          </p:cNvPr>
          <p:cNvSpPr txBox="1"/>
          <p:nvPr/>
        </p:nvSpPr>
        <p:spPr>
          <a:xfrm>
            <a:off x="6451600" y="2032000"/>
            <a:ext cx="2235200" cy="276999"/>
          </a:xfrm>
          <a:prstGeom prst="rect">
            <a:avLst/>
          </a:prstGeom>
          <a:noFill/>
        </p:spPr>
        <p:txBody>
          <a:bodyPr vert="horz" wrap="square" lIns="0" tIns="0" rIns="0" bIns="0" rtlCol="0" anchor="t">
            <a:noAutofit/>
          </a:bodyPr>
          <a:lstStyle/>
          <a:p>
            <a:pPr algn="ctr">
              <a:spcAft>
                <a:spcPts val="400"/>
              </a:spcAft>
            </a:pPr>
            <a:r>
              <a:rPr lang="es-ES" sz="1300" b="1">
                <a:solidFill>
                  <a:srgbClr val="0F766E"/>
                </a:solidFill>
                <a:latin typeface="Arial" panose="020B0604020202020204" pitchFamily="34" charset="0"/>
              </a:rPr>
              <a:t>03</a:t>
            </a:r>
          </a:p>
        </p:txBody>
      </p:sp>
      <p:sp>
        <p:nvSpPr>
          <p:cNvPr id="19" name="Demo node">
            <a:extLst>
              <a:ext uri="{FF2B5EF4-FFF2-40B4-BE49-F238E27FC236}">
                <a16:creationId xmlns:a16="http://schemas.microsoft.com/office/drawing/2014/main" id="{FE4A709D-E04D-CF46-1E22-8C7776034A35}"/>
              </a:ext>
            </a:extLst>
          </p:cNvPr>
          <p:cNvSpPr/>
          <p:nvPr/>
        </p:nvSpPr>
        <p:spPr>
          <a:xfrm>
            <a:off x="7302500" y="2870200"/>
            <a:ext cx="533400" cy="533400"/>
          </a:xfrm>
          <a:prstGeom prst="ellipse">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Demo title">
            <a:extLst>
              <a:ext uri="{FF2B5EF4-FFF2-40B4-BE49-F238E27FC236}">
                <a16:creationId xmlns:a16="http://schemas.microsoft.com/office/drawing/2014/main" id="{1E088800-C307-04B1-D3EC-6F4354C0A174}"/>
              </a:ext>
            </a:extLst>
          </p:cNvPr>
          <p:cNvSpPr txBox="1"/>
          <p:nvPr/>
        </p:nvSpPr>
        <p:spPr>
          <a:xfrm>
            <a:off x="6451600" y="3822700"/>
            <a:ext cx="2235200" cy="276999"/>
          </a:xfrm>
          <a:prstGeom prst="rect">
            <a:avLst/>
          </a:prstGeom>
          <a:noFill/>
        </p:spPr>
        <p:txBody>
          <a:bodyPr vert="horz" wrap="square" lIns="0" tIns="0" rIns="0" bIns="0" rtlCol="0" anchor="t">
            <a:noAutofit/>
          </a:bodyPr>
          <a:lstStyle/>
          <a:p>
            <a:pPr algn="ctr">
              <a:spcAft>
                <a:spcPts val="400"/>
              </a:spcAft>
            </a:pPr>
            <a:r>
              <a:rPr lang="es-ES" sz="1900" b="1">
                <a:solidFill>
                  <a:srgbClr val="07131F"/>
                </a:solidFill>
                <a:latin typeface="Arial" panose="020B0604020202020204" pitchFamily="34" charset="0"/>
              </a:rPr>
              <a:t>Analizar</a:t>
            </a:r>
          </a:p>
        </p:txBody>
      </p:sp>
      <p:sp>
        <p:nvSpPr>
          <p:cNvPr id="21" name="Demo detail">
            <a:extLst>
              <a:ext uri="{FF2B5EF4-FFF2-40B4-BE49-F238E27FC236}">
                <a16:creationId xmlns:a16="http://schemas.microsoft.com/office/drawing/2014/main" id="{60B5D9EE-F202-43F5-DD16-039477500EF1}"/>
              </a:ext>
            </a:extLst>
          </p:cNvPr>
          <p:cNvSpPr txBox="1"/>
          <p:nvPr/>
        </p:nvSpPr>
        <p:spPr>
          <a:xfrm>
            <a:off x="6451600" y="4305300"/>
            <a:ext cx="2235200" cy="276999"/>
          </a:xfrm>
          <a:prstGeom prst="rect">
            <a:avLst/>
          </a:prstGeom>
          <a:noFill/>
        </p:spPr>
        <p:txBody>
          <a:bodyPr vert="horz" wrap="square" lIns="0" tIns="0" rIns="0" bIns="0" rtlCol="0" anchor="t">
            <a:noAutofit/>
          </a:bodyPr>
          <a:lstStyle/>
          <a:p>
            <a:pPr algn="ctr">
              <a:spcAft>
                <a:spcPts val="400"/>
              </a:spcAft>
            </a:pPr>
            <a:r>
              <a:rPr lang="es-ES" sz="1400">
                <a:solidFill>
                  <a:srgbClr val="49657A"/>
                </a:solidFill>
                <a:latin typeface="Arial" panose="020B0604020202020204" pitchFamily="34" charset="0"/>
              </a:rPr>
              <a:t>EML BEC controlado</a:t>
            </a:r>
          </a:p>
        </p:txBody>
      </p:sp>
      <p:sp>
        <p:nvSpPr>
          <p:cNvPr id="22" name="Demo number">
            <a:extLst>
              <a:ext uri="{FF2B5EF4-FFF2-40B4-BE49-F238E27FC236}">
                <a16:creationId xmlns:a16="http://schemas.microsoft.com/office/drawing/2014/main" id="{25CDA0CB-F07D-7344-DEFA-C72DA9C6C415}"/>
              </a:ext>
            </a:extLst>
          </p:cNvPr>
          <p:cNvSpPr txBox="1"/>
          <p:nvPr/>
        </p:nvSpPr>
        <p:spPr>
          <a:xfrm>
            <a:off x="9220200" y="2032000"/>
            <a:ext cx="2235200" cy="276999"/>
          </a:xfrm>
          <a:prstGeom prst="rect">
            <a:avLst/>
          </a:prstGeom>
          <a:noFill/>
        </p:spPr>
        <p:txBody>
          <a:bodyPr vert="horz" wrap="square" lIns="0" tIns="0" rIns="0" bIns="0" rtlCol="0" anchor="t">
            <a:noAutofit/>
          </a:bodyPr>
          <a:lstStyle/>
          <a:p>
            <a:pPr algn="ctr">
              <a:spcAft>
                <a:spcPts val="400"/>
              </a:spcAft>
            </a:pPr>
            <a:r>
              <a:rPr lang="es-ES" sz="1300" b="1">
                <a:solidFill>
                  <a:srgbClr val="0F766E"/>
                </a:solidFill>
                <a:latin typeface="Arial" panose="020B0604020202020204" pitchFamily="34" charset="0"/>
              </a:rPr>
              <a:t>04</a:t>
            </a:r>
          </a:p>
        </p:txBody>
      </p:sp>
      <p:sp>
        <p:nvSpPr>
          <p:cNvPr id="23" name="Demo node">
            <a:extLst>
              <a:ext uri="{FF2B5EF4-FFF2-40B4-BE49-F238E27FC236}">
                <a16:creationId xmlns:a16="http://schemas.microsoft.com/office/drawing/2014/main" id="{C02F335A-2D4F-0573-9D8A-C2EFC7D224D8}"/>
              </a:ext>
            </a:extLst>
          </p:cNvPr>
          <p:cNvSpPr/>
          <p:nvPr/>
        </p:nvSpPr>
        <p:spPr>
          <a:xfrm>
            <a:off x="10071100" y="2870200"/>
            <a:ext cx="533400" cy="533400"/>
          </a:xfrm>
          <a:prstGeom prst="ellipse">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Demo title">
            <a:extLst>
              <a:ext uri="{FF2B5EF4-FFF2-40B4-BE49-F238E27FC236}">
                <a16:creationId xmlns:a16="http://schemas.microsoft.com/office/drawing/2014/main" id="{0B86C436-0C30-AD1A-B651-98540B7B515A}"/>
              </a:ext>
            </a:extLst>
          </p:cNvPr>
          <p:cNvSpPr txBox="1"/>
          <p:nvPr/>
        </p:nvSpPr>
        <p:spPr>
          <a:xfrm>
            <a:off x="9220200" y="3822700"/>
            <a:ext cx="2235200" cy="276999"/>
          </a:xfrm>
          <a:prstGeom prst="rect">
            <a:avLst/>
          </a:prstGeom>
          <a:noFill/>
        </p:spPr>
        <p:txBody>
          <a:bodyPr vert="horz" wrap="square" lIns="0" tIns="0" rIns="0" bIns="0" rtlCol="0" anchor="t">
            <a:noAutofit/>
          </a:bodyPr>
          <a:lstStyle/>
          <a:p>
            <a:pPr algn="ctr">
              <a:spcAft>
                <a:spcPts val="400"/>
              </a:spcAft>
            </a:pPr>
            <a:r>
              <a:rPr lang="es-ES" sz="1900" b="1">
                <a:solidFill>
                  <a:srgbClr val="07131F"/>
                </a:solidFill>
                <a:latin typeface="Arial" panose="020B0604020202020204" pitchFamily="34" charset="0"/>
              </a:rPr>
              <a:t>Explicar</a:t>
            </a:r>
          </a:p>
        </p:txBody>
      </p:sp>
      <p:sp>
        <p:nvSpPr>
          <p:cNvPr id="25" name="Demo detail">
            <a:extLst>
              <a:ext uri="{FF2B5EF4-FFF2-40B4-BE49-F238E27FC236}">
                <a16:creationId xmlns:a16="http://schemas.microsoft.com/office/drawing/2014/main" id="{91242F2D-E439-D8A4-1C92-4BE318ED9973}"/>
              </a:ext>
            </a:extLst>
          </p:cNvPr>
          <p:cNvSpPr txBox="1"/>
          <p:nvPr/>
        </p:nvSpPr>
        <p:spPr>
          <a:xfrm>
            <a:off x="9220200" y="4305300"/>
            <a:ext cx="2235200" cy="276999"/>
          </a:xfrm>
          <a:prstGeom prst="rect">
            <a:avLst/>
          </a:prstGeom>
          <a:noFill/>
        </p:spPr>
        <p:txBody>
          <a:bodyPr vert="horz" wrap="square" lIns="0" tIns="0" rIns="0" bIns="0" rtlCol="0" anchor="t">
            <a:noAutofit/>
          </a:bodyPr>
          <a:lstStyle/>
          <a:p>
            <a:pPr algn="ctr">
              <a:spcAft>
                <a:spcPts val="400"/>
              </a:spcAft>
            </a:pPr>
            <a:r>
              <a:rPr lang="es-ES" sz="1400">
                <a:solidFill>
                  <a:srgbClr val="49657A"/>
                </a:solidFill>
                <a:latin typeface="Arial" panose="020B0604020202020204" pitchFamily="34" charset="0"/>
              </a:rPr>
              <a:t>Riesgo, señales y modos</a:t>
            </a:r>
          </a:p>
        </p:txBody>
      </p:sp>
      <p:sp>
        <p:nvSpPr>
          <p:cNvPr id="26" name="Demo note">
            <a:extLst>
              <a:ext uri="{FF2B5EF4-FFF2-40B4-BE49-F238E27FC236}">
                <a16:creationId xmlns:a16="http://schemas.microsoft.com/office/drawing/2014/main" id="{88E009A7-1259-716B-AA9F-9343A24C8DC2}"/>
              </a:ext>
            </a:extLst>
          </p:cNvPr>
          <p:cNvSpPr/>
          <p:nvPr/>
        </p:nvSpPr>
        <p:spPr>
          <a:xfrm>
            <a:off x="914400" y="5257800"/>
            <a:ext cx="10363200" cy="685800"/>
          </a:xfrm>
          <a:prstGeom prst="rect">
            <a:avLst/>
          </a:prstGeom>
          <a:solidFill>
            <a:srgbClr val="EAF0F3"/>
          </a:solidFill>
          <a:ln w="12700">
            <a:solidFill>
              <a:srgbClr val="DCE5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LAN note">
            <a:extLst>
              <a:ext uri="{FF2B5EF4-FFF2-40B4-BE49-F238E27FC236}">
                <a16:creationId xmlns:a16="http://schemas.microsoft.com/office/drawing/2014/main" id="{CC95F672-1EF7-E8E3-9F05-51CE5356945F}"/>
              </a:ext>
            </a:extLst>
          </p:cNvPr>
          <p:cNvSpPr txBox="1"/>
          <p:nvPr/>
        </p:nvSpPr>
        <p:spPr>
          <a:xfrm>
            <a:off x="1168400" y="5473700"/>
            <a:ext cx="9855200" cy="276999"/>
          </a:xfrm>
          <a:prstGeom prst="rect">
            <a:avLst/>
          </a:prstGeom>
          <a:noFill/>
        </p:spPr>
        <p:txBody>
          <a:bodyPr vert="horz" wrap="square" lIns="0" tIns="0" rIns="0" bIns="0" rtlCol="0" anchor="t">
            <a:noAutofit/>
          </a:bodyPr>
          <a:lstStyle/>
          <a:p>
            <a:pPr algn="ctr">
              <a:spcAft>
                <a:spcPts val="400"/>
              </a:spcAft>
            </a:pPr>
            <a:r>
              <a:rPr lang="es-ES" sz="1400" b="1">
                <a:solidFill>
                  <a:srgbClr val="12304A"/>
                </a:solidFill>
                <a:latin typeface="Arial" panose="020B0604020202020204" pitchFamily="34" charset="0"/>
              </a:rPr>
              <a:t>Opcional: móvil en la LAN → Streamlit 0.0.0.0:8501; el backend permanece en 127.0.0.1:8766.</a:t>
            </a:r>
          </a:p>
        </p:txBody>
      </p:sp>
    </p:spTree>
    <p:extLst>
      <p:ext uri="{BB962C8B-B14F-4D97-AF65-F5344CB8AC3E}">
        <p14:creationId xmlns:p14="http://schemas.microsoft.com/office/powerpoint/2010/main" val="1085111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16BB3708-3765-BF52-EAA8-DC5B114298E6}"/>
              </a:ext>
            </a:extLst>
          </p:cNvPr>
          <p:cNvSpPr txBox="1"/>
          <p:nvPr/>
        </p:nvSpPr>
        <p:spPr>
          <a:xfrm>
            <a:off x="711200" y="254000"/>
            <a:ext cx="4572000" cy="276999"/>
          </a:xfrm>
          <a:prstGeom prst="rect">
            <a:avLst/>
          </a:prstGeom>
          <a:noFill/>
        </p:spPr>
        <p:txBody>
          <a:bodyPr vert="horz" wrap="square" lIns="0" tIns="0" rIns="0" bIns="0" rtlCol="0" anchor="t">
            <a:noAutofit/>
          </a:bodyPr>
          <a:lstStyle/>
          <a:p>
            <a:pPr>
              <a:spcAft>
                <a:spcPts val="400"/>
              </a:spcAft>
            </a:pPr>
            <a:r>
              <a:rPr lang="es-ES" sz="1000" b="1">
                <a:solidFill>
                  <a:srgbClr val="0F766E"/>
                </a:solidFill>
                <a:latin typeface="Arial" panose="020B0604020202020204" pitchFamily="34" charset="0"/>
              </a:rPr>
              <a:t>DISCUSIÓN</a:t>
            </a:r>
          </a:p>
        </p:txBody>
      </p:sp>
      <p:sp>
        <p:nvSpPr>
          <p:cNvPr id="3" name="Slide title">
            <a:extLst>
              <a:ext uri="{FF2B5EF4-FFF2-40B4-BE49-F238E27FC236}">
                <a16:creationId xmlns:a16="http://schemas.microsoft.com/office/drawing/2014/main" id="{5C74BE77-651B-962D-AE48-1F7EF82809E8}"/>
              </a:ext>
            </a:extLst>
          </p:cNvPr>
          <p:cNvSpPr txBox="1"/>
          <p:nvPr/>
        </p:nvSpPr>
        <p:spPr>
          <a:xfrm>
            <a:off x="711200" y="533400"/>
            <a:ext cx="10769600" cy="276999"/>
          </a:xfrm>
          <a:prstGeom prst="rect">
            <a:avLst/>
          </a:prstGeom>
          <a:noFill/>
        </p:spPr>
        <p:txBody>
          <a:bodyPr vert="horz" wrap="square" lIns="0" tIns="0" rIns="0" bIns="0" rtlCol="0" anchor="t">
            <a:noAutofit/>
          </a:bodyPr>
          <a:lstStyle/>
          <a:p>
            <a:pPr>
              <a:spcAft>
                <a:spcPts val="400"/>
              </a:spcAft>
            </a:pPr>
            <a:r>
              <a:rPr lang="es-ES" sz="3500" b="1">
                <a:solidFill>
                  <a:srgbClr val="07131F"/>
                </a:solidFill>
                <a:latin typeface="Arial" panose="020B0604020202020204" pitchFamily="34" charset="0"/>
              </a:rPr>
              <a:t>Los límites están definidos, no ocultos</a:t>
            </a:r>
          </a:p>
        </p:txBody>
      </p:sp>
      <p:cxnSp>
        <p:nvCxnSpPr>
          <p:cNvPr id="4" name="Accent rule">
            <a:extLst>
              <a:ext uri="{FF2B5EF4-FFF2-40B4-BE49-F238E27FC236}">
                <a16:creationId xmlns:a16="http://schemas.microsoft.com/office/drawing/2014/main" id="{D43D1A1B-3A14-3C37-7C03-65493B088854}"/>
              </a:ext>
            </a:extLst>
          </p:cNvPr>
          <p:cNvCxnSpPr/>
          <p:nvPr/>
        </p:nvCxnSpPr>
        <p:spPr>
          <a:xfrm>
            <a:off x="711200" y="1282700"/>
            <a:ext cx="7112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5" name="Footer author">
            <a:extLst>
              <a:ext uri="{FF2B5EF4-FFF2-40B4-BE49-F238E27FC236}">
                <a16:creationId xmlns:a16="http://schemas.microsoft.com/office/drawing/2014/main" id="{29E0876B-3AF7-BEEC-A52A-185CD0BF1003}"/>
              </a:ext>
            </a:extLst>
          </p:cNvPr>
          <p:cNvSpPr txBox="1"/>
          <p:nvPr/>
        </p:nvSpPr>
        <p:spPr>
          <a:xfrm>
            <a:off x="711200" y="6502400"/>
            <a:ext cx="3810000" cy="276999"/>
          </a:xfrm>
          <a:prstGeom prst="rect">
            <a:avLst/>
          </a:prstGeom>
          <a:noFill/>
        </p:spPr>
        <p:txBody>
          <a:bodyPr vert="horz" wrap="square" lIns="0" tIns="0" rIns="0" bIns="0" rtlCol="0" anchor="t">
            <a:noAutofit/>
          </a:bodyPr>
          <a:lstStyle/>
          <a:p>
            <a:pPr>
              <a:spcAft>
                <a:spcPts val="400"/>
              </a:spcAft>
            </a:pPr>
            <a:r>
              <a:rPr lang="es-ES" sz="900">
                <a:solidFill>
                  <a:srgbClr val="6A8192"/>
                </a:solidFill>
                <a:latin typeface="Arial" panose="020B0604020202020204" pitchFamily="34" charset="0"/>
              </a:rPr>
              <a:t>Alejandro Villarrubia García · TFG</a:t>
            </a:r>
          </a:p>
        </p:txBody>
      </p:sp>
      <p:sp>
        <p:nvSpPr>
          <p:cNvPr id="6" name="Slide number">
            <a:extLst>
              <a:ext uri="{FF2B5EF4-FFF2-40B4-BE49-F238E27FC236}">
                <a16:creationId xmlns:a16="http://schemas.microsoft.com/office/drawing/2014/main" id="{96347FFE-3A08-1E88-5B9A-F8415370BFCE}"/>
              </a:ext>
            </a:extLst>
          </p:cNvPr>
          <p:cNvSpPr txBox="1"/>
          <p:nvPr/>
        </p:nvSpPr>
        <p:spPr>
          <a:xfrm>
            <a:off x="11201400" y="6477000"/>
            <a:ext cx="279400" cy="276999"/>
          </a:xfrm>
          <a:prstGeom prst="rect">
            <a:avLst/>
          </a:prstGeom>
          <a:noFill/>
        </p:spPr>
        <p:txBody>
          <a:bodyPr vert="horz" wrap="square" lIns="0" tIns="0" rIns="0" bIns="0" rtlCol="0" anchor="t">
            <a:noAutofit/>
          </a:bodyPr>
          <a:lstStyle/>
          <a:p>
            <a:pPr algn="ctr">
              <a:spcAft>
                <a:spcPts val="400"/>
              </a:spcAft>
            </a:pPr>
            <a:r>
              <a:rPr lang="es-ES" sz="1000" b="1">
                <a:solidFill>
                  <a:srgbClr val="6A8192"/>
                </a:solidFill>
                <a:latin typeface="Arial" panose="020B0604020202020204" pitchFamily="34" charset="0"/>
              </a:rPr>
              <a:t>13</a:t>
            </a:r>
          </a:p>
        </p:txBody>
      </p:sp>
      <p:sp>
        <p:nvSpPr>
          <p:cNvPr id="7" name="Demonstrates label">
            <a:extLst>
              <a:ext uri="{FF2B5EF4-FFF2-40B4-BE49-F238E27FC236}">
                <a16:creationId xmlns:a16="http://schemas.microsoft.com/office/drawing/2014/main" id="{B01CA375-8F7B-33D1-A781-976E77587AF6}"/>
              </a:ext>
            </a:extLst>
          </p:cNvPr>
          <p:cNvSpPr txBox="1"/>
          <p:nvPr/>
        </p:nvSpPr>
        <p:spPr>
          <a:xfrm>
            <a:off x="889000" y="1752600"/>
            <a:ext cx="4572000" cy="276999"/>
          </a:xfrm>
          <a:prstGeom prst="rect">
            <a:avLst/>
          </a:prstGeom>
          <a:noFill/>
        </p:spPr>
        <p:txBody>
          <a:bodyPr vert="horz" wrap="square" lIns="0" tIns="0" rIns="0" bIns="0" rtlCol="0" anchor="t">
            <a:noAutofit/>
          </a:bodyPr>
          <a:lstStyle/>
          <a:p>
            <a:pPr>
              <a:spcAft>
                <a:spcPts val="400"/>
              </a:spcAft>
            </a:pPr>
            <a:r>
              <a:rPr lang="es-ES" sz="1100" b="1">
                <a:solidFill>
                  <a:srgbClr val="0F766E"/>
                </a:solidFill>
                <a:latin typeface="Arial" panose="020B0604020202020204" pitchFamily="34" charset="0"/>
              </a:rPr>
              <a:t>LO QUE DEMUESTRA</a:t>
            </a:r>
          </a:p>
        </p:txBody>
      </p:sp>
      <p:sp>
        <p:nvSpPr>
          <p:cNvPr id="8" name="Demonstrates">
            <a:extLst>
              <a:ext uri="{FF2B5EF4-FFF2-40B4-BE49-F238E27FC236}">
                <a16:creationId xmlns:a16="http://schemas.microsoft.com/office/drawing/2014/main" id="{49E522AC-45E6-D837-A200-3859CBC7225E}"/>
              </a:ext>
            </a:extLst>
          </p:cNvPr>
          <p:cNvSpPr txBox="1"/>
          <p:nvPr/>
        </p:nvSpPr>
        <p:spPr>
          <a:xfrm>
            <a:off x="889000" y="2260600"/>
            <a:ext cx="4648200" cy="276999"/>
          </a:xfrm>
          <a:prstGeom prst="rect">
            <a:avLst/>
          </a:prstGeom>
          <a:noFill/>
        </p:spPr>
        <p:txBody>
          <a:bodyPr vert="horz" wrap="square" lIns="0" tIns="0" rIns="0" bIns="0" rtlCol="0" anchor="t">
            <a:noAutofit/>
          </a:bodyPr>
          <a:lstStyle/>
          <a:p>
            <a:pPr>
              <a:spcAft>
                <a:spcPts val="400"/>
              </a:spcAft>
            </a:pPr>
            <a:r>
              <a:rPr lang="es-ES" sz="1700">
                <a:solidFill>
                  <a:srgbClr val="07131F"/>
                </a:solidFill>
                <a:latin typeface="Arial" panose="020B0604020202020204" pitchFamily="34" charset="0"/>
              </a:rPr>
              <a:t>• Arquitectura cliente-servidor funcional
• Análisis explicable y bilingüe
• Modelos centrales compartidos
• Evaluación reproducible y errores trazables</a:t>
            </a:r>
          </a:p>
        </p:txBody>
      </p:sp>
      <p:cxnSp>
        <p:nvCxnSpPr>
          <p:cNvPr id="9" name="Limit divider">
            <a:extLst>
              <a:ext uri="{FF2B5EF4-FFF2-40B4-BE49-F238E27FC236}">
                <a16:creationId xmlns:a16="http://schemas.microsoft.com/office/drawing/2014/main" id="{E2EB764A-5CBC-59ED-D90B-736ADBC920FF}"/>
              </a:ext>
            </a:extLst>
          </p:cNvPr>
          <p:cNvCxnSpPr/>
          <p:nvPr/>
        </p:nvCxnSpPr>
        <p:spPr>
          <a:xfrm>
            <a:off x="6096000" y="1714500"/>
            <a:ext cx="0" cy="3467100"/>
          </a:xfrm>
          <a:prstGeom prst="line">
            <a:avLst/>
          </a:prstGeom>
          <a:ln w="17780">
            <a:solidFill>
              <a:srgbClr val="DCE5EA"/>
            </a:solidFill>
          </a:ln>
        </p:spPr>
        <p:style>
          <a:lnRef idx="2">
            <a:schemeClr val="accent1"/>
          </a:lnRef>
          <a:fillRef idx="0">
            <a:schemeClr val="accent1"/>
          </a:fillRef>
          <a:effectRef idx="1">
            <a:schemeClr val="accent1"/>
          </a:effectRef>
          <a:fontRef idx="minor">
            <a:schemeClr val="tx1"/>
          </a:fontRef>
        </p:style>
      </p:cxnSp>
      <p:sp>
        <p:nvSpPr>
          <p:cNvPr id="10" name="Does not label">
            <a:extLst>
              <a:ext uri="{FF2B5EF4-FFF2-40B4-BE49-F238E27FC236}">
                <a16:creationId xmlns:a16="http://schemas.microsoft.com/office/drawing/2014/main" id="{7ACDE76E-EE9B-BDB3-10BC-B20A0F605B98}"/>
              </a:ext>
            </a:extLst>
          </p:cNvPr>
          <p:cNvSpPr txBox="1"/>
          <p:nvPr/>
        </p:nvSpPr>
        <p:spPr>
          <a:xfrm>
            <a:off x="6731000" y="1752600"/>
            <a:ext cx="4572000" cy="276999"/>
          </a:xfrm>
          <a:prstGeom prst="rect">
            <a:avLst/>
          </a:prstGeom>
          <a:noFill/>
        </p:spPr>
        <p:txBody>
          <a:bodyPr vert="horz" wrap="square" lIns="0" tIns="0" rIns="0" bIns="0" rtlCol="0" anchor="t">
            <a:noAutofit/>
          </a:bodyPr>
          <a:lstStyle/>
          <a:p>
            <a:pPr>
              <a:spcAft>
                <a:spcPts val="400"/>
              </a:spcAft>
            </a:pPr>
            <a:r>
              <a:rPr lang="es-ES" sz="1100" b="1">
                <a:solidFill>
                  <a:srgbClr val="B42318"/>
                </a:solidFill>
                <a:latin typeface="Arial" panose="020B0604020202020204" pitchFamily="34" charset="0"/>
              </a:rPr>
              <a:t>LO QUE NO AFIRMA</a:t>
            </a:r>
          </a:p>
        </p:txBody>
      </p:sp>
      <p:sp>
        <p:nvSpPr>
          <p:cNvPr id="11" name="Does not">
            <a:extLst>
              <a:ext uri="{FF2B5EF4-FFF2-40B4-BE49-F238E27FC236}">
                <a16:creationId xmlns:a16="http://schemas.microsoft.com/office/drawing/2014/main" id="{F71CFE99-D9C3-F13F-419A-E86ABA36A63E}"/>
              </a:ext>
            </a:extLst>
          </p:cNvPr>
          <p:cNvSpPr txBox="1"/>
          <p:nvPr/>
        </p:nvSpPr>
        <p:spPr>
          <a:xfrm>
            <a:off x="6731000" y="2260600"/>
            <a:ext cx="4572000" cy="276999"/>
          </a:xfrm>
          <a:prstGeom prst="rect">
            <a:avLst/>
          </a:prstGeom>
          <a:noFill/>
        </p:spPr>
        <p:txBody>
          <a:bodyPr vert="horz" wrap="square" lIns="0" tIns="0" rIns="0" bIns="0" rtlCol="0" anchor="t">
            <a:noAutofit/>
          </a:bodyPr>
          <a:lstStyle/>
          <a:p>
            <a:pPr>
              <a:spcAft>
                <a:spcPts val="400"/>
              </a:spcAft>
            </a:pPr>
            <a:r>
              <a:rPr lang="es-ES" sz="1700">
                <a:solidFill>
                  <a:srgbClr val="07131F"/>
                </a:solidFill>
                <a:latin typeface="Arial" panose="020B0604020202020204" pitchFamily="34" charset="0"/>
              </a:rPr>
              <a:t>• Métricas garantizadas en producción
• Reputación online ni validación TLS
• Análisis dinámico de las páginas
• Seguridad multiusuario para Internet</a:t>
            </a:r>
          </a:p>
        </p:txBody>
      </p:sp>
      <p:sp>
        <p:nvSpPr>
          <p:cNvPr id="12" name="Future band">
            <a:extLst>
              <a:ext uri="{FF2B5EF4-FFF2-40B4-BE49-F238E27FC236}">
                <a16:creationId xmlns:a16="http://schemas.microsoft.com/office/drawing/2014/main" id="{6E08F8C0-F4CA-D114-3418-915D9917E588}"/>
              </a:ext>
            </a:extLst>
          </p:cNvPr>
          <p:cNvSpPr/>
          <p:nvPr/>
        </p:nvSpPr>
        <p:spPr>
          <a:xfrm>
            <a:off x="889000" y="4978400"/>
            <a:ext cx="10414000" cy="990600"/>
          </a:xfrm>
          <a:prstGeom prst="rect">
            <a:avLst/>
          </a:prstGeom>
          <a:solidFill>
            <a:srgbClr val="0713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Future label">
            <a:extLst>
              <a:ext uri="{FF2B5EF4-FFF2-40B4-BE49-F238E27FC236}">
                <a16:creationId xmlns:a16="http://schemas.microsoft.com/office/drawing/2014/main" id="{C49B219B-8152-12B5-9537-4672D63670C5}"/>
              </a:ext>
            </a:extLst>
          </p:cNvPr>
          <p:cNvSpPr txBox="1"/>
          <p:nvPr/>
        </p:nvSpPr>
        <p:spPr>
          <a:xfrm>
            <a:off x="1193800" y="5257800"/>
            <a:ext cx="1905000" cy="276999"/>
          </a:xfrm>
          <a:prstGeom prst="rect">
            <a:avLst/>
          </a:prstGeom>
          <a:noFill/>
        </p:spPr>
        <p:txBody>
          <a:bodyPr vert="horz" wrap="square" lIns="0" tIns="0" rIns="0" bIns="0" rtlCol="0" anchor="t">
            <a:noAutofit/>
          </a:bodyPr>
          <a:lstStyle/>
          <a:p>
            <a:pPr>
              <a:spcAft>
                <a:spcPts val="400"/>
              </a:spcAft>
            </a:pPr>
            <a:r>
              <a:rPr lang="es-ES" sz="1100" b="1">
                <a:solidFill>
                  <a:srgbClr val="CCFBF1"/>
                </a:solidFill>
                <a:latin typeface="Arial" panose="020B0604020202020204" pitchFamily="34" charset="0"/>
              </a:rPr>
              <a:t>PRIORIDAD FUTURA</a:t>
            </a:r>
          </a:p>
        </p:txBody>
      </p:sp>
      <p:sp>
        <p:nvSpPr>
          <p:cNvPr id="14" name="Future items">
            <a:extLst>
              <a:ext uri="{FF2B5EF4-FFF2-40B4-BE49-F238E27FC236}">
                <a16:creationId xmlns:a16="http://schemas.microsoft.com/office/drawing/2014/main" id="{5FFB56DD-9B10-373C-6FCC-7CB000E5E477}"/>
              </a:ext>
            </a:extLst>
          </p:cNvPr>
          <p:cNvSpPr txBox="1"/>
          <p:nvPr/>
        </p:nvSpPr>
        <p:spPr>
          <a:xfrm>
            <a:off x="3352800" y="5181600"/>
            <a:ext cx="7569200" cy="276999"/>
          </a:xfrm>
          <a:prstGeom prst="rect">
            <a:avLst/>
          </a:prstGeom>
          <a:noFill/>
        </p:spPr>
        <p:txBody>
          <a:bodyPr vert="horz" wrap="square" lIns="0" tIns="0" rIns="0" bIns="0" rtlCol="0" anchor="ctr">
            <a:noAutofit/>
          </a:bodyPr>
          <a:lstStyle/>
          <a:p>
            <a:pPr>
              <a:spcAft>
                <a:spcPts val="400"/>
              </a:spcAft>
            </a:pPr>
            <a:r>
              <a:rPr lang="es-ES" sz="1500" b="1">
                <a:solidFill>
                  <a:srgbClr val="FFFFFF"/>
                </a:solidFill>
                <a:latin typeface="Arial" panose="020B0604020202020204" pitchFamily="34" charset="0"/>
              </a:rPr>
              <a:t>Corpus reciente, bilingüe, anonimizado e independiente · TLS y autenticación · reputación de dominios</a:t>
            </a:r>
          </a:p>
        </p:txBody>
      </p:sp>
    </p:spTree>
    <p:extLst>
      <p:ext uri="{BB962C8B-B14F-4D97-AF65-F5344CB8AC3E}">
        <p14:creationId xmlns:p14="http://schemas.microsoft.com/office/powerpoint/2010/main" val="859971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31F"/>
        </a:solidFill>
        <a:effectLst/>
      </p:bgPr>
    </p:bg>
    <p:spTree>
      <p:nvGrpSpPr>
        <p:cNvPr id="1" name=""/>
        <p:cNvGrpSpPr/>
        <p:nvPr/>
      </p:nvGrpSpPr>
      <p:grpSpPr>
        <a:xfrm>
          <a:off x="0" y="0"/>
          <a:ext cx="0" cy="0"/>
          <a:chOff x="0" y="0"/>
          <a:chExt cx="0" cy="0"/>
        </a:xfrm>
      </p:grpSpPr>
      <p:sp>
        <p:nvSpPr>
          <p:cNvPr id="2" name="Closing label">
            <a:extLst>
              <a:ext uri="{FF2B5EF4-FFF2-40B4-BE49-F238E27FC236}">
                <a16:creationId xmlns:a16="http://schemas.microsoft.com/office/drawing/2014/main" id="{1A95F3DB-0567-B4DA-582B-EED3D0F0EC76}"/>
              </a:ext>
            </a:extLst>
          </p:cNvPr>
          <p:cNvSpPr txBox="1"/>
          <p:nvPr/>
        </p:nvSpPr>
        <p:spPr>
          <a:xfrm>
            <a:off x="736600" y="635000"/>
            <a:ext cx="2794000" cy="276999"/>
          </a:xfrm>
          <a:prstGeom prst="rect">
            <a:avLst/>
          </a:prstGeom>
          <a:noFill/>
        </p:spPr>
        <p:txBody>
          <a:bodyPr vert="horz" wrap="square" lIns="0" tIns="0" rIns="0" bIns="0" rtlCol="0" anchor="t">
            <a:noAutofit/>
          </a:bodyPr>
          <a:lstStyle/>
          <a:p>
            <a:pPr>
              <a:spcAft>
                <a:spcPts val="400"/>
              </a:spcAft>
            </a:pPr>
            <a:r>
              <a:rPr lang="es-ES" sz="1200" b="1">
                <a:solidFill>
                  <a:srgbClr val="CCFBF1"/>
                </a:solidFill>
                <a:latin typeface="Arial" panose="020B0604020202020204" pitchFamily="34" charset="0"/>
              </a:rPr>
              <a:t>CONCLUSIÓN</a:t>
            </a:r>
          </a:p>
        </p:txBody>
      </p:sp>
      <p:sp>
        <p:nvSpPr>
          <p:cNvPr id="3" name="Closing title">
            <a:extLst>
              <a:ext uri="{FF2B5EF4-FFF2-40B4-BE49-F238E27FC236}">
                <a16:creationId xmlns:a16="http://schemas.microsoft.com/office/drawing/2014/main" id="{75237107-5F7A-9049-2E40-36A8083D19FF}"/>
              </a:ext>
            </a:extLst>
          </p:cNvPr>
          <p:cNvSpPr txBox="1"/>
          <p:nvPr/>
        </p:nvSpPr>
        <p:spPr>
          <a:xfrm>
            <a:off x="736600" y="1651000"/>
            <a:ext cx="7747000" cy="276999"/>
          </a:xfrm>
          <a:prstGeom prst="rect">
            <a:avLst/>
          </a:prstGeom>
          <a:noFill/>
        </p:spPr>
        <p:txBody>
          <a:bodyPr vert="horz" wrap="square" lIns="0" tIns="0" rIns="0" bIns="0" rtlCol="0" anchor="t">
            <a:noAutofit/>
          </a:bodyPr>
          <a:lstStyle/>
          <a:p>
            <a:pPr>
              <a:spcAft>
                <a:spcPts val="400"/>
              </a:spcAft>
            </a:pPr>
            <a:r>
              <a:rPr lang="es-ES" sz="5000" b="1">
                <a:solidFill>
                  <a:srgbClr val="FFFFFF"/>
                </a:solidFill>
                <a:latin typeface="Arial" panose="020B0604020202020204" pitchFamily="34" charset="0"/>
              </a:rPr>
              <a:t>Una decisión central,
varias interfaces</a:t>
            </a:r>
          </a:p>
        </p:txBody>
      </p:sp>
      <p:sp>
        <p:nvSpPr>
          <p:cNvPr id="4" name="Closing thesis">
            <a:extLst>
              <a:ext uri="{FF2B5EF4-FFF2-40B4-BE49-F238E27FC236}">
                <a16:creationId xmlns:a16="http://schemas.microsoft.com/office/drawing/2014/main" id="{E88AB999-D2C2-03DF-6EBC-48A74E960712}"/>
              </a:ext>
            </a:extLst>
          </p:cNvPr>
          <p:cNvSpPr txBox="1"/>
          <p:nvPr/>
        </p:nvSpPr>
        <p:spPr>
          <a:xfrm>
            <a:off x="736600" y="3708400"/>
            <a:ext cx="8255000" cy="276999"/>
          </a:xfrm>
          <a:prstGeom prst="rect">
            <a:avLst/>
          </a:prstGeom>
          <a:noFill/>
        </p:spPr>
        <p:txBody>
          <a:bodyPr vert="horz" wrap="square" lIns="0" tIns="0" rIns="0" bIns="0" rtlCol="0" anchor="t">
            <a:noAutofit/>
          </a:bodyPr>
          <a:lstStyle/>
          <a:p>
            <a:pPr>
              <a:spcAft>
                <a:spcPts val="400"/>
              </a:spcAft>
            </a:pPr>
            <a:r>
              <a:rPr lang="es-ES" sz="1900">
                <a:solidFill>
                  <a:srgbClr val="C9D7E0"/>
                </a:solidFill>
                <a:latin typeface="Arial" panose="020B0604020202020204" pitchFamily="34" charset="0"/>
              </a:rPr>
              <a:t>El prototipo separa presentación y análisis, combina evidencias explicables con aprendizaje supervisado y permite actualizar los modelos una sola vez para todos los clientes.</a:t>
            </a:r>
          </a:p>
        </p:txBody>
      </p:sp>
      <p:cxnSp>
        <p:nvCxnSpPr>
          <p:cNvPr id="5" name="Closing rule">
            <a:extLst>
              <a:ext uri="{FF2B5EF4-FFF2-40B4-BE49-F238E27FC236}">
                <a16:creationId xmlns:a16="http://schemas.microsoft.com/office/drawing/2014/main" id="{C7EC88EC-F558-8C7E-B599-552D44625B47}"/>
              </a:ext>
            </a:extLst>
          </p:cNvPr>
          <p:cNvCxnSpPr/>
          <p:nvPr/>
        </p:nvCxnSpPr>
        <p:spPr>
          <a:xfrm>
            <a:off x="736600" y="5181600"/>
            <a:ext cx="8255000" cy="0"/>
          </a:xfrm>
          <a:prstGeom prst="line">
            <a:avLst/>
          </a:prstGeom>
          <a:ln w="50800">
            <a:solidFill>
              <a:srgbClr val="0D9488"/>
            </a:solidFill>
          </a:ln>
        </p:spPr>
        <p:style>
          <a:lnRef idx="2">
            <a:schemeClr val="accent1"/>
          </a:lnRef>
          <a:fillRef idx="0">
            <a:schemeClr val="accent1"/>
          </a:fillRef>
          <a:effectRef idx="1">
            <a:schemeClr val="accent1"/>
          </a:effectRef>
          <a:fontRef idx="minor">
            <a:schemeClr val="tx1"/>
          </a:fontRef>
        </p:style>
      </p:cxnSp>
      <p:sp>
        <p:nvSpPr>
          <p:cNvPr id="6" name="Closing contribution">
            <a:extLst>
              <a:ext uri="{FF2B5EF4-FFF2-40B4-BE49-F238E27FC236}">
                <a16:creationId xmlns:a16="http://schemas.microsoft.com/office/drawing/2014/main" id="{58E407AE-5730-9905-5CF4-7A22DE67CFC1}"/>
              </a:ext>
            </a:extLst>
          </p:cNvPr>
          <p:cNvSpPr txBox="1"/>
          <p:nvPr/>
        </p:nvSpPr>
        <p:spPr>
          <a:xfrm>
            <a:off x="736600" y="5473700"/>
            <a:ext cx="8255000" cy="276999"/>
          </a:xfrm>
          <a:prstGeom prst="rect">
            <a:avLst/>
          </a:prstGeom>
          <a:noFill/>
        </p:spPr>
        <p:txBody>
          <a:bodyPr vert="horz" wrap="square" lIns="0" tIns="0" rIns="0" bIns="0" rtlCol="0" anchor="t">
            <a:noAutofit/>
          </a:bodyPr>
          <a:lstStyle/>
          <a:p>
            <a:pPr>
              <a:spcAft>
                <a:spcPts val="400"/>
              </a:spcAft>
            </a:pPr>
            <a:r>
              <a:rPr lang="es-ES" sz="1600" b="1">
                <a:solidFill>
                  <a:srgbClr val="FFFFFF"/>
                </a:solidFill>
                <a:latin typeface="Arial" panose="020B0604020202020204" pitchFamily="34" charset="0"/>
              </a:rPr>
              <a:t>Aportación: un detector mantenible, evaluado y preparado para evolucionar sin duplicar modelos.</a:t>
            </a:r>
          </a:p>
        </p:txBody>
      </p:sp>
      <p:sp>
        <p:nvSpPr>
          <p:cNvPr id="7" name="Questions">
            <a:extLst>
              <a:ext uri="{FF2B5EF4-FFF2-40B4-BE49-F238E27FC236}">
                <a16:creationId xmlns:a16="http://schemas.microsoft.com/office/drawing/2014/main" id="{F41BFED2-D3FE-59CE-7DEC-7771DB5A3C31}"/>
              </a:ext>
            </a:extLst>
          </p:cNvPr>
          <p:cNvSpPr txBox="1"/>
          <p:nvPr/>
        </p:nvSpPr>
        <p:spPr>
          <a:xfrm>
            <a:off x="9423400" y="5537200"/>
            <a:ext cx="2133600" cy="276999"/>
          </a:xfrm>
          <a:prstGeom prst="rect">
            <a:avLst/>
          </a:prstGeom>
          <a:noFill/>
        </p:spPr>
        <p:txBody>
          <a:bodyPr vert="horz" wrap="square" lIns="0" tIns="0" rIns="0" bIns="0" rtlCol="0" anchor="t">
            <a:noAutofit/>
          </a:bodyPr>
          <a:lstStyle/>
          <a:p>
            <a:pPr algn="ctr">
              <a:spcAft>
                <a:spcPts val="400"/>
              </a:spcAft>
            </a:pPr>
            <a:r>
              <a:rPr lang="es-ES" sz="1500" b="1">
                <a:solidFill>
                  <a:srgbClr val="CCFBF1"/>
                </a:solidFill>
                <a:latin typeface="Arial" panose="020B0604020202020204" pitchFamily="34" charset="0"/>
              </a:rPr>
              <a:t>Preguntas del tribunal</a:t>
            </a:r>
          </a:p>
        </p:txBody>
      </p:sp>
    </p:spTree>
    <p:extLst>
      <p:ext uri="{BB962C8B-B14F-4D97-AF65-F5344CB8AC3E}">
        <p14:creationId xmlns:p14="http://schemas.microsoft.com/office/powerpoint/2010/main" val="2973480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2198</Words>
  <Application>Microsoft Office PowerPoint</Application>
  <PresentationFormat>Panorámica</PresentationFormat>
  <Paragraphs>241</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Técnicas y métodos de ataque y cómo detectarlos</dc:title>
  <dc:creator>ALEJANDRO VILLARRUBIA</dc:creator>
  <cp:lastModifiedBy>ALEJANDRO VILLARRUBIA</cp:lastModifiedBy>
  <cp:revision>2</cp:revision>
  <dcterms:created xsi:type="dcterms:W3CDTF">2026-08-31T22:04:54Z</dcterms:created>
  <dcterms:modified xsi:type="dcterms:W3CDTF">2026-09-28T19:41:01Z</dcterms:modified>
</cp:coreProperties>
</file>