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7C5BE-9978-4CEF-950D-CB3DCFAD8EB4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54FAD-17C0-4F9B-AC55-52F69F49E05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7380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Apertura: presentar el problema y la aportación en dos frases. El sistema combina señales explicables y aprendizaje supervisado, pero la decisión se centraliza en un único servidor.
[Sources]
- TFG.txt: portada y resumen.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2466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que el phishing combina aspectos técnicos y humanos. La propuesta no devuelve solo una clase: muestra evidencias que permiten revisar la decisión.
[Sources]
- TFG.txt: introducción, señales analizadas y diseño de la aplicación.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7921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los objetivos como decisiones de diseño. La centralización permite que una actualización del servidor llegue a todos los clientes sin distribuir modelos.
[Sources]
- TFG.txt: objetivos y resumen de arquitectura.
- README.md: Cómo está montado.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607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Esta es la diapositiva clave. El navegador habla con Streamlit y Streamlit con el backend; la extensión y el monitor llaman a la misma API. Local describe la ubicación, no elimina la separación cliente-servidor.
[Sources]
- README.md: Cómo está montado y Componentes.
- TFG.txt: Arquitectura general.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88380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Recorrer el correo de izquierda a derecha. Todas las entradas terminan en la misma representación y todos los clientes reciben el mismo formato de salida.
[Sources]
- TFG.txt: Flujo de análisis y contrato del backend.
- README.md: Contrato del backend.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677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Contrastar interpretabilidad y capacidad de generalización. El modo combinado fue calibrado con un conjunto separado; la evidencia individual fuerte no se diluye en la media.
[Sources]
- TFG.txt: Diseño del clasificador y metodología cuantitativa.
- evaluation/calibration_results.json.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9263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Explicar por qué la arquitectura responde al requisito principal: se entrena y activa una sola versión por idioma. Los clientes no guardan copias ni ejecutan inferencia local.
[Sources]
- README.md: centralización de modelos.
- TFG.txt: entrenamiento, activación y versión central.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186497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Relacionar cada tecnología con una decisión, no enumerar herramientas. Aclarar que SPF, DKIM y DMARC se interpretan desde las cabeceras recibidas: no hay consultas DNS ni validación criptográfica. Diferenciar los controles ya implementados de los controles necesarios para producción.
[Sources]
- TFG.txt: herramientas, seguridad y privacidad.
- README.md: Configuración y Alcance.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48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El protocolo verifica SHA-256, elimina duplicados y contradicciones y separa la prueba antes del ajuste. Español conserva 209 casos oficiales; inglés usa una división 80/20 con semilla 42. Los seis corpus componentes no se suman al CSV agregado. Los 40 casos de calibración y 16 EML cumplen funciones distintas. DIFrauD y Zenodo son diagnósticos externos con límites explícitos.
[Sources]
- TRAINING_EVALUATION_REPORT.md.
- evaluation/training_sources.json.
- EVALUATION_REPORT.md.
- EXTERNAL_EVALUATION_REPORT.md.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63605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Mostrar que el combinado conserva el recall del heurístico con una accuracy alta. Explicar el único falso positivo y evitar presentar los porcentajes como rendimiento garantizado en una empresa.
[Sources]
- EVALUATION_REPORT.md: resultados globales.
- EXTERNAL_EVALUATION_REPORT.md: resultado DIFrauD.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9357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Presentar evidencia de tres niveles: pruebas de código, recorrido real del navegador y medición de rendimiento. Las advertencias de convergencia pertenecen a pruebas rápidas del MLP.
[Sources]
- README.md: Validación automática.
- PERFORMANCE_REPORT.md.
- docs/INTEGRATION_VALIDATION.md.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54940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La demostración debe durar unos tres minutos. Si falla OAuth, usar los EML sintéticos y las capturas de respaldo. En el acceso móvil solo se expone Streamlit a la LAN privada.
[Sources]
- docs/DEFENSE_SCREENSHOTS.md.
- defense_demo/README.md.
- README.md: acceso temporal desde la red local.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68992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Responder con honestidad. La limitación científica principal es la falta de un corpus real reciente e independiente; no falta una función del prototipo, falta evidencia para extrapolar a producción.
[Sources]
- TFG.txt: Limitaciones y trabajo futuro.
- CLEANUP_PLAN.md: deuda técnica que no debe ocultarse.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32737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/>
              <a:t>Cierre: volver a la tesis inicial. El valor no es solo detectar; es centralizar la decisión, conservar la explicación y permitir evolución controlada. Abrir el turno de preguntas.
[Sources]
- TFG.txt: conclusiones.
- README.md: arquitectura y alcance.
[/Sources]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54FAD-17C0-4F9B-AC55-52F69F49E05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4548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753028-B554-0106-8E3F-AEB890DA6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4B345A6-F460-C5BA-7B2B-AC06DD37D9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C507B69-718F-C093-FF1E-D809F9F24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22C606-B9DB-D750-345A-776FB1082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503321-2A25-BCDF-B167-ED293B5FB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2788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2E415-62CC-ED0A-9126-C62F27389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2EA9DF0-AFC8-12A1-CBDD-7260E8231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99BD82C-6E93-14C6-BEF7-B443B7A1B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76430F-7B86-E00A-BD92-EAD754D07F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E9C685-8AF3-B5E1-BBA2-048D63636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63362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7AB769-B4AD-90E6-07A1-FCD271E87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F2E7D72-8C72-B501-A89C-B68A9187B9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2BFA6-13FF-17A5-40F6-2678A44A6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9B61FEF-F3BC-E11F-05CF-FD1F8091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EC70598-14C9-B180-8985-17C117694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7253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A75AA1-4E81-A74C-98DD-78FE992DC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A01DBB-AA39-B344-1188-263FC2A47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F2CC939-FB49-957F-0184-559396411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9B09BA-133F-C5BF-EAE6-A420034D6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AA6F895-A5C7-72DC-7111-AD46BB3B6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9F4DD94-6321-7844-28B5-02DBE730B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6987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19CD9-3F46-CFC2-9ED8-1FE351040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B4CB8A-E2AB-C24A-AA1B-FF2CEDF02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13A9B0-51EF-B264-3899-E4FB03120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4B5030B-A109-13AC-82B6-75BF864725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50EE58C-1E4A-78DE-B61E-8B48886563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21E4917-6CD0-BD26-9A52-43EEB1AF5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5F413FA-9FC2-F1A7-A662-CE63757A2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1FDDF3C-2268-AD7D-4DAD-7CF69340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9051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C9684E-DC86-C8B5-765D-A4EE56D2D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9EF652F-E672-4C22-4B46-AB48003DE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A22FF9A-BD42-FFAF-DFB9-4CF9D0381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2D26FAD-4684-27A1-5644-59219F047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5451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9A55191-44BE-EAAF-04DD-DC33CD4BD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E4D33EE-B68D-0AE7-C8EE-B39A0EA21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626DCB-B2BA-F081-4A2D-5A37875D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874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5D323A-C2AA-097C-647C-5B4C998B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4E824B-1E39-3D6A-289A-C581BF2649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7749F16-00D8-48CE-7A83-5B6908AD23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44F5CAE-151E-B9D0-EDC0-827160248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B008CE-9BC6-45D8-692F-D429C5CF7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AE1F5C-FE90-14E6-D6E4-4C0FB9618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6995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EFE78-31CD-B963-7A52-9E2B3E11E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0B2529B-276A-C1C4-6F31-2FF87421C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496FBEB-8758-D76E-993D-40DDBEB93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9B8323A-8882-3E8E-379F-064BA753F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2344C40-513A-EB01-44A4-AB71F5F8B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141A224-EF1D-1D36-905B-653E0B29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2623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736F8-8A3C-9079-D686-CCBA7EC5C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D849A7C-7730-0AA0-9334-5FB08BCCA0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CEEAD9-F458-2D17-3394-AFB25411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694067-EF67-91BD-F2A0-05F8D7F3F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B351FF-6149-9062-CEBC-80D95B8A7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4040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9EBDEB4-231B-C6C4-EA7E-D4965BF0E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20B69E-5955-2CB0-C1FF-91851997AE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B9E0F6-5C2F-865F-EC24-478E8B6FE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E13B91-E3A1-265A-C433-1D57BD6AB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65FAB9-45A8-A746-DDD1-5DCF03182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4211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CAD88B6-24DE-A2EE-C7E5-25B076AAA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DF2E3C-472E-F633-76A9-0FF1728C3E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145302-DC40-93F7-C38D-0D6F246D8A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A321C6-34C9-468A-BA2C-A274B4C2D06F}" type="datetimeFigureOut">
              <a:rPr lang="es-ES" smtClean="0"/>
              <a:t>31/08/2026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C8463C-CAE7-2036-9B01-918EE941DB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56A3FD2-B2E9-262A-32AA-89A7BECEE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291F37-E9CF-4DA3-B181-C3E117B3506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7989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field">
            <a:extLst>
              <a:ext uri="{FF2B5EF4-FFF2-40B4-BE49-F238E27FC236}">
                <a16:creationId xmlns:a16="http://schemas.microsoft.com/office/drawing/2014/main" id="{5BF2640F-172B-2D00-1C5A-ABDC5629E8F8}"/>
              </a:ext>
            </a:extLst>
          </p:cNvPr>
          <p:cNvSpPr/>
          <p:nvPr/>
        </p:nvSpPr>
        <p:spPr>
          <a:xfrm>
            <a:off x="9245600" y="0"/>
            <a:ext cx="2946400" cy="68580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3" name="Cover accent">
            <a:extLst>
              <a:ext uri="{FF2B5EF4-FFF2-40B4-BE49-F238E27FC236}">
                <a16:creationId xmlns:a16="http://schemas.microsoft.com/office/drawing/2014/main" id="{B49F7BC1-3069-B672-CDE3-55BF9E7864F9}"/>
              </a:ext>
            </a:extLst>
          </p:cNvPr>
          <p:cNvCxnSpPr/>
          <p:nvPr/>
        </p:nvCxnSpPr>
        <p:spPr>
          <a:xfrm>
            <a:off x="9652000" y="1193800"/>
            <a:ext cx="1778000" cy="0"/>
          </a:xfrm>
          <a:prstGeom prst="line">
            <a:avLst/>
          </a:prstGeom>
          <a:ln w="635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ver secondary accent">
            <a:extLst>
              <a:ext uri="{FF2B5EF4-FFF2-40B4-BE49-F238E27FC236}">
                <a16:creationId xmlns:a16="http://schemas.microsoft.com/office/drawing/2014/main" id="{0FBB6233-898A-BA1A-6DD1-28C95C00482B}"/>
              </a:ext>
            </a:extLst>
          </p:cNvPr>
          <p:cNvCxnSpPr/>
          <p:nvPr/>
        </p:nvCxnSpPr>
        <p:spPr>
          <a:xfrm>
            <a:off x="9652000" y="1498600"/>
            <a:ext cx="13970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Eyebrow">
            <a:extLst>
              <a:ext uri="{FF2B5EF4-FFF2-40B4-BE49-F238E27FC236}">
                <a16:creationId xmlns:a16="http://schemas.microsoft.com/office/drawing/2014/main" id="{52B92CB4-31D0-BABB-222F-B0D22431AEF8}"/>
              </a:ext>
            </a:extLst>
          </p:cNvPr>
          <p:cNvSpPr txBox="1"/>
          <p:nvPr/>
        </p:nvSpPr>
        <p:spPr>
          <a:xfrm>
            <a:off x="736600" y="6350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TRABAJO FIN DE GRADO · 2026</a:t>
            </a:r>
          </a:p>
        </p:txBody>
      </p:sp>
      <p:sp>
        <p:nvSpPr>
          <p:cNvPr id="6" name="Deck title">
            <a:extLst>
              <a:ext uri="{FF2B5EF4-FFF2-40B4-BE49-F238E27FC236}">
                <a16:creationId xmlns:a16="http://schemas.microsoft.com/office/drawing/2014/main" id="{4212A658-33EC-F01A-9601-2C84B9859DEE}"/>
              </a:ext>
            </a:extLst>
          </p:cNvPr>
          <p:cNvSpPr txBox="1"/>
          <p:nvPr/>
        </p:nvSpPr>
        <p:spPr>
          <a:xfrm>
            <a:off x="736600" y="17526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5000" b="1">
                <a:solidFill>
                  <a:srgbClr val="FFFFFF"/>
                </a:solidFill>
                <a:latin typeface="Arial" panose="020B0604020202020204" pitchFamily="34" charset="0"/>
              </a:rPr>
              <a:t>Detección de phishing
en correos electrónicos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3C5F2114-CA07-CCDE-A240-86FDFEF948DA}"/>
              </a:ext>
            </a:extLst>
          </p:cNvPr>
          <p:cNvSpPr txBox="1"/>
          <p:nvPr/>
        </p:nvSpPr>
        <p:spPr>
          <a:xfrm>
            <a:off x="736600" y="3860800"/>
            <a:ext cx="749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>
                <a:solidFill>
                  <a:srgbClr val="C9D7E0"/>
                </a:solidFill>
                <a:latin typeface="Arial" panose="020B0604020202020204" pitchFamily="34" charset="0"/>
              </a:rPr>
              <a:t>Sistema cliente-servidor con análisis explicable y modelos centralizados</a:t>
            </a: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40FE3776-5485-33E9-95ED-50A9671FEEFC}"/>
              </a:ext>
            </a:extLst>
          </p:cNvPr>
          <p:cNvSpPr txBox="1"/>
          <p:nvPr/>
        </p:nvSpPr>
        <p:spPr>
          <a:xfrm>
            <a:off x="736600" y="5461000"/>
            <a:ext cx="482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 b="1">
                <a:solidFill>
                  <a:srgbClr val="FFFFFF"/>
                </a:solidFill>
                <a:latin typeface="Arial" panose="020B0604020202020204" pitchFamily="34" charset="0"/>
              </a:rPr>
              <a:t>Alejandro Villarrubia García</a:t>
            </a:r>
          </a:p>
        </p:txBody>
      </p:sp>
      <p:sp>
        <p:nvSpPr>
          <p:cNvPr id="9" name="Tutor">
            <a:extLst>
              <a:ext uri="{FF2B5EF4-FFF2-40B4-BE49-F238E27FC236}">
                <a16:creationId xmlns:a16="http://schemas.microsoft.com/office/drawing/2014/main" id="{3A78F284-8678-F1A9-8073-F128DC56E88F}"/>
              </a:ext>
            </a:extLst>
          </p:cNvPr>
          <p:cNvSpPr txBox="1"/>
          <p:nvPr/>
        </p:nvSpPr>
        <p:spPr>
          <a:xfrm>
            <a:off x="736600" y="5842000"/>
            <a:ext cx="533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A9BBC8"/>
                </a:solidFill>
                <a:latin typeface="Arial" panose="020B0604020202020204" pitchFamily="34" charset="0"/>
              </a:rPr>
              <a:t>Tutor: Carmelo González García · UEMC</a:t>
            </a:r>
          </a:p>
        </p:txBody>
      </p:sp>
      <p:sp>
        <p:nvSpPr>
          <p:cNvPr id="10" name="Cover mark">
            <a:extLst>
              <a:ext uri="{FF2B5EF4-FFF2-40B4-BE49-F238E27FC236}">
                <a16:creationId xmlns:a16="http://schemas.microsoft.com/office/drawing/2014/main" id="{191648A7-3C1E-D06C-204F-5065ACDEB318}"/>
              </a:ext>
            </a:extLst>
          </p:cNvPr>
          <p:cNvSpPr txBox="1"/>
          <p:nvPr/>
        </p:nvSpPr>
        <p:spPr>
          <a:xfrm>
            <a:off x="9753600" y="5080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3800" b="1">
                <a:solidFill>
                  <a:srgbClr val="FFFFFF"/>
                </a:solidFill>
                <a:latin typeface="Arial" panose="020B0604020202020204" pitchFamily="34" charset="0"/>
              </a:rPr>
              <a:t>TFG</a:t>
            </a:r>
          </a:p>
        </p:txBody>
      </p:sp>
    </p:spTree>
    <p:extLst>
      <p:ext uri="{BB962C8B-B14F-4D97-AF65-F5344CB8AC3E}">
        <p14:creationId xmlns:p14="http://schemas.microsoft.com/office/powerpoint/2010/main" val="1503223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E5A50822-C913-7E42-1E1A-DE9C81C2B61B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MOTIVACIÓN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16164423-AE1A-3751-926D-E69836C4301A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El problema exige una decisión explicable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166845B6-C41E-3650-46FF-01056C51AEEE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05335EEB-FCE2-A792-ACA2-DC8974E4C461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868C48B2-440F-8875-AF4F-94B5E923779F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Question field">
            <a:extLst>
              <a:ext uri="{FF2B5EF4-FFF2-40B4-BE49-F238E27FC236}">
                <a16:creationId xmlns:a16="http://schemas.microsoft.com/office/drawing/2014/main" id="{76F3B65F-6243-FAA6-AA62-8269E0356EA2}"/>
              </a:ext>
            </a:extLst>
          </p:cNvPr>
          <p:cNvSpPr/>
          <p:nvPr/>
        </p:nvSpPr>
        <p:spPr>
          <a:xfrm>
            <a:off x="711200" y="1676400"/>
            <a:ext cx="3835400" cy="4089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Question">
            <a:extLst>
              <a:ext uri="{FF2B5EF4-FFF2-40B4-BE49-F238E27FC236}">
                <a16:creationId xmlns:a16="http://schemas.microsoft.com/office/drawing/2014/main" id="{8BE1E035-47D0-6902-B56C-1BFBCD4F0621}"/>
              </a:ext>
            </a:extLst>
          </p:cNvPr>
          <p:cNvSpPr txBox="1"/>
          <p:nvPr/>
        </p:nvSpPr>
        <p:spPr>
          <a:xfrm>
            <a:off x="1041400" y="21590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200" b="1">
                <a:solidFill>
                  <a:srgbClr val="FFFFFF"/>
                </a:solidFill>
                <a:latin typeface="Arial" panose="020B0604020202020204" pitchFamily="34" charset="0"/>
              </a:rPr>
              <a:t>¿Cómo detectar phishing sin perder la explicación?</a:t>
            </a:r>
          </a:p>
        </p:txBody>
      </p:sp>
      <p:sp>
        <p:nvSpPr>
          <p:cNvPr id="9" name="Question support">
            <a:extLst>
              <a:ext uri="{FF2B5EF4-FFF2-40B4-BE49-F238E27FC236}">
                <a16:creationId xmlns:a16="http://schemas.microsoft.com/office/drawing/2014/main" id="{E3034625-D9B2-1025-C486-8CE22923B26B}"/>
              </a:ext>
            </a:extLst>
          </p:cNvPr>
          <p:cNvSpPr txBox="1"/>
          <p:nvPr/>
        </p:nvSpPr>
        <p:spPr>
          <a:xfrm>
            <a:off x="1041400" y="46355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C9D7E0"/>
                </a:solidFill>
                <a:latin typeface="Arial" panose="020B0604020202020204" pitchFamily="34" charset="0"/>
              </a:rPr>
              <a:t>Una etiqueta aislada no basta para revisar un correo sospechoso.</a:t>
            </a:r>
          </a:p>
        </p:txBody>
      </p:sp>
      <p:sp>
        <p:nvSpPr>
          <p:cNvPr id="10" name="Index 01">
            <a:extLst>
              <a:ext uri="{FF2B5EF4-FFF2-40B4-BE49-F238E27FC236}">
                <a16:creationId xmlns:a16="http://schemas.microsoft.com/office/drawing/2014/main" id="{23C32ABA-CD84-1DCA-E8B5-3D384D1AE7C1}"/>
              </a:ext>
            </a:extLst>
          </p:cNvPr>
          <p:cNvSpPr txBox="1"/>
          <p:nvPr/>
        </p:nvSpPr>
        <p:spPr>
          <a:xfrm>
            <a:off x="5207000" y="18034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1" name="Problem 01">
            <a:extLst>
              <a:ext uri="{FF2B5EF4-FFF2-40B4-BE49-F238E27FC236}">
                <a16:creationId xmlns:a16="http://schemas.microsoft.com/office/drawing/2014/main" id="{A486CF7F-8CEF-F232-53EC-401E9292490B}"/>
              </a:ext>
            </a:extLst>
          </p:cNvPr>
          <p:cNvSpPr txBox="1"/>
          <p:nvPr/>
        </p:nvSpPr>
        <p:spPr>
          <a:xfrm>
            <a:off x="5943600" y="18034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Señales técnicas</a:t>
            </a:r>
          </a:p>
        </p:txBody>
      </p:sp>
      <p:sp>
        <p:nvSpPr>
          <p:cNvPr id="12" name="Problem detail 01">
            <a:extLst>
              <a:ext uri="{FF2B5EF4-FFF2-40B4-BE49-F238E27FC236}">
                <a16:creationId xmlns:a16="http://schemas.microsoft.com/office/drawing/2014/main" id="{CF5AB035-5565-0353-559D-C9086353C008}"/>
              </a:ext>
            </a:extLst>
          </p:cNvPr>
          <p:cNvSpPr txBox="1"/>
          <p:nvPr/>
        </p:nvSpPr>
        <p:spPr>
          <a:xfrm>
            <a:off x="5943600" y="22352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Resultados SPF, DKIM y DMARC presentes en cabeceras, dominios, URLs, HTML y adjuntos.</a:t>
            </a:r>
          </a:p>
        </p:txBody>
      </p:sp>
      <p:cxnSp>
        <p:nvCxnSpPr>
          <p:cNvPr id="13" name="Problem divider">
            <a:extLst>
              <a:ext uri="{FF2B5EF4-FFF2-40B4-BE49-F238E27FC236}">
                <a16:creationId xmlns:a16="http://schemas.microsoft.com/office/drawing/2014/main" id="{5054E791-32BA-F15F-BBDB-84DCFC20DD24}"/>
              </a:ext>
            </a:extLst>
          </p:cNvPr>
          <p:cNvCxnSpPr/>
          <p:nvPr/>
        </p:nvCxnSpPr>
        <p:spPr>
          <a:xfrm>
            <a:off x="5207000" y="2959100"/>
            <a:ext cx="58420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ndex 02">
            <a:extLst>
              <a:ext uri="{FF2B5EF4-FFF2-40B4-BE49-F238E27FC236}">
                <a16:creationId xmlns:a16="http://schemas.microsoft.com/office/drawing/2014/main" id="{14B70B25-50C4-504D-74BF-E503ECA7E99E}"/>
              </a:ext>
            </a:extLst>
          </p:cNvPr>
          <p:cNvSpPr txBox="1"/>
          <p:nvPr/>
        </p:nvSpPr>
        <p:spPr>
          <a:xfrm>
            <a:off x="5207000" y="31750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5" name="Problem 02">
            <a:extLst>
              <a:ext uri="{FF2B5EF4-FFF2-40B4-BE49-F238E27FC236}">
                <a16:creationId xmlns:a16="http://schemas.microsoft.com/office/drawing/2014/main" id="{F80345DD-750C-0897-049F-064E09A00671}"/>
              </a:ext>
            </a:extLst>
          </p:cNvPr>
          <p:cNvSpPr txBox="1"/>
          <p:nvPr/>
        </p:nvSpPr>
        <p:spPr>
          <a:xfrm>
            <a:off x="5943600" y="31750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Ingeniería social</a:t>
            </a:r>
          </a:p>
        </p:txBody>
      </p:sp>
      <p:sp>
        <p:nvSpPr>
          <p:cNvPr id="16" name="Problem detail 02">
            <a:extLst>
              <a:ext uri="{FF2B5EF4-FFF2-40B4-BE49-F238E27FC236}">
                <a16:creationId xmlns:a16="http://schemas.microsoft.com/office/drawing/2014/main" id="{E1D6364A-3ED0-C37A-FFE6-1FB392FB3712}"/>
              </a:ext>
            </a:extLst>
          </p:cNvPr>
          <p:cNvSpPr txBox="1"/>
          <p:nvPr/>
        </p:nvSpPr>
        <p:spPr>
          <a:xfrm>
            <a:off x="5943600" y="36068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Urgencia, autoridad, credenciales y patrones BEC.</a:t>
            </a:r>
          </a:p>
        </p:txBody>
      </p:sp>
      <p:cxnSp>
        <p:nvCxnSpPr>
          <p:cNvPr id="17" name="Problem divider">
            <a:extLst>
              <a:ext uri="{FF2B5EF4-FFF2-40B4-BE49-F238E27FC236}">
                <a16:creationId xmlns:a16="http://schemas.microsoft.com/office/drawing/2014/main" id="{5B8AB0C6-114C-DEB3-3FA2-4840B0A5ADBC}"/>
              </a:ext>
            </a:extLst>
          </p:cNvPr>
          <p:cNvCxnSpPr/>
          <p:nvPr/>
        </p:nvCxnSpPr>
        <p:spPr>
          <a:xfrm>
            <a:off x="5207000" y="4330700"/>
            <a:ext cx="58420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ndex 03">
            <a:extLst>
              <a:ext uri="{FF2B5EF4-FFF2-40B4-BE49-F238E27FC236}">
                <a16:creationId xmlns:a16="http://schemas.microsoft.com/office/drawing/2014/main" id="{3160A884-A5FD-21A8-4222-38A607F169DF}"/>
              </a:ext>
            </a:extLst>
          </p:cNvPr>
          <p:cNvSpPr txBox="1"/>
          <p:nvPr/>
        </p:nvSpPr>
        <p:spPr>
          <a:xfrm>
            <a:off x="5207000" y="4546600"/>
            <a:ext cx="533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9" name="Problem 03">
            <a:extLst>
              <a:ext uri="{FF2B5EF4-FFF2-40B4-BE49-F238E27FC236}">
                <a16:creationId xmlns:a16="http://schemas.microsoft.com/office/drawing/2014/main" id="{E50C2E6A-A2B5-8E11-9B8D-E14125C9CC06}"/>
              </a:ext>
            </a:extLst>
          </p:cNvPr>
          <p:cNvSpPr txBox="1"/>
          <p:nvPr/>
        </p:nvSpPr>
        <p:spPr>
          <a:xfrm>
            <a:off x="5943600" y="4546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Decisión trazable</a:t>
            </a:r>
          </a:p>
        </p:txBody>
      </p:sp>
      <p:sp>
        <p:nvSpPr>
          <p:cNvPr id="20" name="Problem detail 03">
            <a:extLst>
              <a:ext uri="{FF2B5EF4-FFF2-40B4-BE49-F238E27FC236}">
                <a16:creationId xmlns:a16="http://schemas.microsoft.com/office/drawing/2014/main" id="{4EFD7A93-989B-DBAA-937F-FCE477CCC4E8}"/>
              </a:ext>
            </a:extLst>
          </p:cNvPr>
          <p:cNvSpPr txBox="1"/>
          <p:nvPr/>
        </p:nvSpPr>
        <p:spPr>
          <a:xfrm>
            <a:off x="5943600" y="4978400"/>
            <a:ext cx="495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>
                <a:solidFill>
                  <a:srgbClr val="49657A"/>
                </a:solidFill>
                <a:latin typeface="Arial" panose="020B0604020202020204" pitchFamily="34" charset="0"/>
              </a:rPr>
              <a:t>Riesgo, señales activadas y explicación para el usuario.</a:t>
            </a:r>
          </a:p>
        </p:txBody>
      </p:sp>
    </p:spTree>
    <p:extLst>
      <p:ext uri="{BB962C8B-B14F-4D97-AF65-F5344CB8AC3E}">
        <p14:creationId xmlns:p14="http://schemas.microsoft.com/office/powerpoint/2010/main" val="3135857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994778DE-4628-9BFA-BF95-9AE8DBE33C60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OBJETIVOS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D2265BE0-3C2A-0C8A-93EA-8A130AC8DA5F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Un backend central cumple cuatro objetivos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9D09B167-0AC1-5640-9801-D67C61AC921B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8F68A7EC-AFA0-3A96-A9B5-C99FE5DC6447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22B1342-E9C8-4E1D-5F5A-C4060C061AE5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7" name="Thesis">
            <a:extLst>
              <a:ext uri="{FF2B5EF4-FFF2-40B4-BE49-F238E27FC236}">
                <a16:creationId xmlns:a16="http://schemas.microsoft.com/office/drawing/2014/main" id="{97788861-510F-62BF-1E33-6AFACDE714A6}"/>
              </a:ext>
            </a:extLst>
          </p:cNvPr>
          <p:cNvSpPr txBox="1"/>
          <p:nvPr/>
        </p:nvSpPr>
        <p:spPr>
          <a:xfrm>
            <a:off x="711200" y="16256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500" b="1">
                <a:solidFill>
                  <a:srgbClr val="12304A"/>
                </a:solidFill>
                <a:latin typeface="Arial" panose="020B0604020202020204" pitchFamily="34" charset="0"/>
              </a:rPr>
              <a:t>Una única lógica de análisis; varias formas de usarla.</a:t>
            </a:r>
          </a:p>
        </p:txBody>
      </p:sp>
      <p:sp>
        <p:nvSpPr>
          <p:cNvPr id="8" name="Thesis detail">
            <a:extLst>
              <a:ext uri="{FF2B5EF4-FFF2-40B4-BE49-F238E27FC236}">
                <a16:creationId xmlns:a16="http://schemas.microsoft.com/office/drawing/2014/main" id="{C200A70E-C629-B06D-5780-E85B2BAE4A7F}"/>
              </a:ext>
            </a:extLst>
          </p:cNvPr>
          <p:cNvSpPr txBox="1"/>
          <p:nvPr/>
        </p:nvSpPr>
        <p:spPr>
          <a:xfrm>
            <a:off x="711200" y="22987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49657A"/>
                </a:solidFill>
                <a:latin typeface="Arial" panose="020B0604020202020204" pitchFamily="34" charset="0"/>
              </a:rPr>
              <a:t>El cliente recoge datos y presenta resultados. El servidor concentra parser, detectores, entrenamiento y versiones.</a:t>
            </a:r>
          </a:p>
        </p:txBody>
      </p:sp>
      <p:sp>
        <p:nvSpPr>
          <p:cNvPr id="9" name="Objective index">
            <a:extLst>
              <a:ext uri="{FF2B5EF4-FFF2-40B4-BE49-F238E27FC236}">
                <a16:creationId xmlns:a16="http://schemas.microsoft.com/office/drawing/2014/main" id="{9CA95D51-B1FB-597B-CF60-54F6A043F98B}"/>
              </a:ext>
            </a:extLst>
          </p:cNvPr>
          <p:cNvSpPr txBox="1"/>
          <p:nvPr/>
        </p:nvSpPr>
        <p:spPr>
          <a:xfrm>
            <a:off x="7874000" y="1574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0" name="Objective">
            <a:extLst>
              <a:ext uri="{FF2B5EF4-FFF2-40B4-BE49-F238E27FC236}">
                <a16:creationId xmlns:a16="http://schemas.microsoft.com/office/drawing/2014/main" id="{8CECE450-D262-A0F3-B5B2-981DF0D517B0}"/>
              </a:ext>
            </a:extLst>
          </p:cNvPr>
          <p:cNvSpPr txBox="1"/>
          <p:nvPr/>
        </p:nvSpPr>
        <p:spPr>
          <a:xfrm>
            <a:off x="8686800" y="1574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Aceptar varias entradas</a:t>
            </a:r>
          </a:p>
        </p:txBody>
      </p:sp>
      <p:sp>
        <p:nvSpPr>
          <p:cNvPr id="11" name="Objective detail">
            <a:extLst>
              <a:ext uri="{FF2B5EF4-FFF2-40B4-BE49-F238E27FC236}">
                <a16:creationId xmlns:a16="http://schemas.microsoft.com/office/drawing/2014/main" id="{BA3B1B63-3F1E-3B6E-92B0-45830A816822}"/>
              </a:ext>
            </a:extLst>
          </p:cNvPr>
          <p:cNvSpPr txBox="1"/>
          <p:nvPr/>
        </p:nvSpPr>
        <p:spPr>
          <a:xfrm>
            <a:off x="8686800" y="1955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Texto, EML, Gmail, extensión y monitor.</a:t>
            </a:r>
          </a:p>
        </p:txBody>
      </p:sp>
      <p:cxnSp>
        <p:nvCxnSpPr>
          <p:cNvPr id="12" name="Objective divider">
            <a:extLst>
              <a:ext uri="{FF2B5EF4-FFF2-40B4-BE49-F238E27FC236}">
                <a16:creationId xmlns:a16="http://schemas.microsoft.com/office/drawing/2014/main" id="{256E3121-DBA2-6A8A-D4E9-8E89D22C5324}"/>
              </a:ext>
            </a:extLst>
          </p:cNvPr>
          <p:cNvCxnSpPr/>
          <p:nvPr/>
        </p:nvCxnSpPr>
        <p:spPr>
          <a:xfrm>
            <a:off x="7874000" y="26162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bjective index">
            <a:extLst>
              <a:ext uri="{FF2B5EF4-FFF2-40B4-BE49-F238E27FC236}">
                <a16:creationId xmlns:a16="http://schemas.microsoft.com/office/drawing/2014/main" id="{FAF4BBD9-B569-E4EA-C41A-0096382E1E84}"/>
              </a:ext>
            </a:extLst>
          </p:cNvPr>
          <p:cNvSpPr txBox="1"/>
          <p:nvPr/>
        </p:nvSpPr>
        <p:spPr>
          <a:xfrm>
            <a:off x="7874000" y="27432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4" name="Objective">
            <a:extLst>
              <a:ext uri="{FF2B5EF4-FFF2-40B4-BE49-F238E27FC236}">
                <a16:creationId xmlns:a16="http://schemas.microsoft.com/office/drawing/2014/main" id="{1ACA25D6-E120-AE8F-10D9-95044E3F1F00}"/>
              </a:ext>
            </a:extLst>
          </p:cNvPr>
          <p:cNvSpPr txBox="1"/>
          <p:nvPr/>
        </p:nvSpPr>
        <p:spPr>
          <a:xfrm>
            <a:off x="8686800" y="27432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Combinar dos enfoques</a:t>
            </a:r>
          </a:p>
        </p:txBody>
      </p:sp>
      <p:sp>
        <p:nvSpPr>
          <p:cNvPr id="15" name="Objective detail">
            <a:extLst>
              <a:ext uri="{FF2B5EF4-FFF2-40B4-BE49-F238E27FC236}">
                <a16:creationId xmlns:a16="http://schemas.microsoft.com/office/drawing/2014/main" id="{95F04695-8FEC-1123-3D6E-AB2EA1E36B2C}"/>
              </a:ext>
            </a:extLst>
          </p:cNvPr>
          <p:cNvSpPr txBox="1"/>
          <p:nvPr/>
        </p:nvSpPr>
        <p:spPr>
          <a:xfrm>
            <a:off x="8686800" y="31242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Heurística explicable + TF-IDF y MLP bilingüe.</a:t>
            </a:r>
          </a:p>
        </p:txBody>
      </p:sp>
      <p:cxnSp>
        <p:nvCxnSpPr>
          <p:cNvPr id="16" name="Objective divider">
            <a:extLst>
              <a:ext uri="{FF2B5EF4-FFF2-40B4-BE49-F238E27FC236}">
                <a16:creationId xmlns:a16="http://schemas.microsoft.com/office/drawing/2014/main" id="{1E810FB2-7DFE-9A08-5152-7450B38206D5}"/>
              </a:ext>
            </a:extLst>
          </p:cNvPr>
          <p:cNvCxnSpPr/>
          <p:nvPr/>
        </p:nvCxnSpPr>
        <p:spPr>
          <a:xfrm>
            <a:off x="7874000" y="37846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bjective index">
            <a:extLst>
              <a:ext uri="{FF2B5EF4-FFF2-40B4-BE49-F238E27FC236}">
                <a16:creationId xmlns:a16="http://schemas.microsoft.com/office/drawing/2014/main" id="{C05FF35F-96F4-DC12-DCC8-40E55A877E99}"/>
              </a:ext>
            </a:extLst>
          </p:cNvPr>
          <p:cNvSpPr txBox="1"/>
          <p:nvPr/>
        </p:nvSpPr>
        <p:spPr>
          <a:xfrm>
            <a:off x="7874000" y="39116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8" name="Objective">
            <a:extLst>
              <a:ext uri="{FF2B5EF4-FFF2-40B4-BE49-F238E27FC236}">
                <a16:creationId xmlns:a16="http://schemas.microsoft.com/office/drawing/2014/main" id="{A37CD911-0613-F4F9-678B-E839FB1D5CCF}"/>
              </a:ext>
            </a:extLst>
          </p:cNvPr>
          <p:cNvSpPr txBox="1"/>
          <p:nvPr/>
        </p:nvSpPr>
        <p:spPr>
          <a:xfrm>
            <a:off x="8686800" y="3911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Compartir los modelos</a:t>
            </a:r>
          </a:p>
        </p:txBody>
      </p:sp>
      <p:sp>
        <p:nvSpPr>
          <p:cNvPr id="19" name="Objective detail">
            <a:extLst>
              <a:ext uri="{FF2B5EF4-FFF2-40B4-BE49-F238E27FC236}">
                <a16:creationId xmlns:a16="http://schemas.microsoft.com/office/drawing/2014/main" id="{0B6867A9-AE65-E754-8DA0-95E573939CA5}"/>
              </a:ext>
            </a:extLst>
          </p:cNvPr>
          <p:cNvSpPr txBox="1"/>
          <p:nvPr/>
        </p:nvSpPr>
        <p:spPr>
          <a:xfrm>
            <a:off x="8686800" y="42926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Una versión activa ES/EN para todos los clientes.</a:t>
            </a:r>
          </a:p>
        </p:txBody>
      </p:sp>
      <p:cxnSp>
        <p:nvCxnSpPr>
          <p:cNvPr id="20" name="Objective divider">
            <a:extLst>
              <a:ext uri="{FF2B5EF4-FFF2-40B4-BE49-F238E27FC236}">
                <a16:creationId xmlns:a16="http://schemas.microsoft.com/office/drawing/2014/main" id="{9D7833C7-7210-8C49-CDB2-E77DB16E2B8A}"/>
              </a:ext>
            </a:extLst>
          </p:cNvPr>
          <p:cNvCxnSpPr/>
          <p:nvPr/>
        </p:nvCxnSpPr>
        <p:spPr>
          <a:xfrm>
            <a:off x="7874000" y="4953000"/>
            <a:ext cx="36068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bjective index">
            <a:extLst>
              <a:ext uri="{FF2B5EF4-FFF2-40B4-BE49-F238E27FC236}">
                <a16:creationId xmlns:a16="http://schemas.microsoft.com/office/drawing/2014/main" id="{7749B6C9-B6B7-5811-3D45-80D563E30546}"/>
              </a:ext>
            </a:extLst>
          </p:cNvPr>
          <p:cNvSpPr txBox="1"/>
          <p:nvPr/>
        </p:nvSpPr>
        <p:spPr>
          <a:xfrm>
            <a:off x="7874000" y="50800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 b="1">
                <a:solidFill>
                  <a:srgbClr val="0F766E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2" name="Objective">
            <a:extLst>
              <a:ext uri="{FF2B5EF4-FFF2-40B4-BE49-F238E27FC236}">
                <a16:creationId xmlns:a16="http://schemas.microsoft.com/office/drawing/2014/main" id="{1C7E7831-8CBA-BA28-ED7A-376B4F5E9E7E}"/>
              </a:ext>
            </a:extLst>
          </p:cNvPr>
          <p:cNvSpPr txBox="1"/>
          <p:nvPr/>
        </p:nvSpPr>
        <p:spPr>
          <a:xfrm>
            <a:off x="8686800" y="5080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Evaluar con trazabilidad</a:t>
            </a:r>
          </a:p>
        </p:txBody>
      </p:sp>
      <p:sp>
        <p:nvSpPr>
          <p:cNvPr id="23" name="Objective detail">
            <a:extLst>
              <a:ext uri="{FF2B5EF4-FFF2-40B4-BE49-F238E27FC236}">
                <a16:creationId xmlns:a16="http://schemas.microsoft.com/office/drawing/2014/main" id="{70D60633-8CEF-3B0F-13F2-85D837DE65C2}"/>
              </a:ext>
            </a:extLst>
          </p:cNvPr>
          <p:cNvSpPr txBox="1"/>
          <p:nvPr/>
        </p:nvSpPr>
        <p:spPr>
          <a:xfrm>
            <a:off x="8686800" y="5461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Calibración separada, EML reservados y pruebas reproducibles.</a:t>
            </a:r>
          </a:p>
        </p:txBody>
      </p:sp>
    </p:spTree>
    <p:extLst>
      <p:ext uri="{BB962C8B-B14F-4D97-AF65-F5344CB8AC3E}">
        <p14:creationId xmlns:p14="http://schemas.microsoft.com/office/powerpoint/2010/main" val="268839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51A8367E-9CA0-D8B4-5D17-8DF400C347BE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ARQUITECTURA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E8D53F63-733D-DF29-86B6-B6F41C159EE9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Sí: es una arquitectura cliente-servidor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F70EE7D6-2697-1EA0-2974-26E52FC752F6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CEEB1F32-0B85-2374-4986-9FA9F11F39DA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E7FF1D0F-721A-8F53-0672-4BCD126C8560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4</a:t>
            </a:r>
          </a:p>
        </p:txBody>
      </p:sp>
      <p:cxnSp>
        <p:nvCxnSpPr>
          <p:cNvPr id="7" name="Browser to web">
            <a:extLst>
              <a:ext uri="{FF2B5EF4-FFF2-40B4-BE49-F238E27FC236}">
                <a16:creationId xmlns:a16="http://schemas.microsoft.com/office/drawing/2014/main" id="{1A540282-7B2F-B37E-CD44-7029E975397F}"/>
              </a:ext>
            </a:extLst>
          </p:cNvPr>
          <p:cNvCxnSpPr/>
          <p:nvPr/>
        </p:nvCxnSpPr>
        <p:spPr>
          <a:xfrm>
            <a:off x="2476500" y="2489200"/>
            <a:ext cx="0" cy="139700"/>
          </a:xfrm>
          <a:prstGeom prst="line">
            <a:avLst/>
          </a:prstGeom>
          <a:ln w="19050">
            <a:solidFill>
              <a:srgbClr val="49657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Web to backend">
            <a:extLst>
              <a:ext uri="{FF2B5EF4-FFF2-40B4-BE49-F238E27FC236}">
                <a16:creationId xmlns:a16="http://schemas.microsoft.com/office/drawing/2014/main" id="{F383CFDA-42D4-BEB2-FC3C-9F8C9B74390E}"/>
              </a:ext>
            </a:extLst>
          </p:cNvPr>
          <p:cNvCxnSpPr/>
          <p:nvPr/>
        </p:nvCxnSpPr>
        <p:spPr>
          <a:xfrm>
            <a:off x="3632200" y="3187700"/>
            <a:ext cx="2971800" cy="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Extension to backend">
            <a:extLst>
              <a:ext uri="{FF2B5EF4-FFF2-40B4-BE49-F238E27FC236}">
                <a16:creationId xmlns:a16="http://schemas.microsoft.com/office/drawing/2014/main" id="{818BF757-A2B9-34B5-C9F0-3F55FC6CF6D7}"/>
              </a:ext>
            </a:extLst>
          </p:cNvPr>
          <p:cNvCxnSpPr/>
          <p:nvPr/>
        </p:nvCxnSpPr>
        <p:spPr>
          <a:xfrm flipV="1">
            <a:off x="3632200" y="3848100"/>
            <a:ext cx="2971800" cy="44450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Monitor to backend">
            <a:extLst>
              <a:ext uri="{FF2B5EF4-FFF2-40B4-BE49-F238E27FC236}">
                <a16:creationId xmlns:a16="http://schemas.microsoft.com/office/drawing/2014/main" id="{0ED2C284-4C1E-F269-68E9-DB44ED95ECEA}"/>
              </a:ext>
            </a:extLst>
          </p:cNvPr>
          <p:cNvCxnSpPr/>
          <p:nvPr/>
        </p:nvCxnSpPr>
        <p:spPr>
          <a:xfrm flipV="1">
            <a:off x="3632200" y="4508500"/>
            <a:ext cx="2971800" cy="889000"/>
          </a:xfrm>
          <a:prstGeom prst="line">
            <a:avLst/>
          </a:prstGeom>
          <a:ln w="29210">
            <a:solidFill>
              <a:srgbClr val="0F766E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rowser">
            <a:extLst>
              <a:ext uri="{FF2B5EF4-FFF2-40B4-BE49-F238E27FC236}">
                <a16:creationId xmlns:a16="http://schemas.microsoft.com/office/drawing/2014/main" id="{1E3C6589-311D-BDA1-CB32-815C7B636CA0}"/>
              </a:ext>
            </a:extLst>
          </p:cNvPr>
          <p:cNvSpPr/>
          <p:nvPr/>
        </p:nvSpPr>
        <p:spPr>
          <a:xfrm>
            <a:off x="1371600" y="1676400"/>
            <a:ext cx="2209800" cy="812800"/>
          </a:xfrm>
          <a:prstGeom prst="roundRect">
            <a:avLst/>
          </a:prstGeom>
          <a:solidFill>
            <a:srgbClr val="EAF0F3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Browser title">
            <a:extLst>
              <a:ext uri="{FF2B5EF4-FFF2-40B4-BE49-F238E27FC236}">
                <a16:creationId xmlns:a16="http://schemas.microsoft.com/office/drawing/2014/main" id="{3E000DDA-4F20-A8E2-F883-EDB72123C6F0}"/>
              </a:ext>
            </a:extLst>
          </p:cNvPr>
          <p:cNvSpPr txBox="1"/>
          <p:nvPr/>
        </p:nvSpPr>
        <p:spPr>
          <a:xfrm>
            <a:off x="1549400" y="1828800"/>
            <a:ext cx="185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Navegador</a:t>
            </a:r>
          </a:p>
        </p:txBody>
      </p:sp>
      <p:sp>
        <p:nvSpPr>
          <p:cNvPr id="13" name="Browser body">
            <a:extLst>
              <a:ext uri="{FF2B5EF4-FFF2-40B4-BE49-F238E27FC236}">
                <a16:creationId xmlns:a16="http://schemas.microsoft.com/office/drawing/2014/main" id="{E9C3C1B0-2FC2-4C28-6510-393C5EE27811}"/>
              </a:ext>
            </a:extLst>
          </p:cNvPr>
          <p:cNvSpPr txBox="1"/>
          <p:nvPr/>
        </p:nvSpPr>
        <p:spPr>
          <a:xfrm>
            <a:off x="1549400" y="2171700"/>
            <a:ext cx="185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Interfaz visible</a:t>
            </a:r>
          </a:p>
        </p:txBody>
      </p:sp>
      <p:sp>
        <p:nvSpPr>
          <p:cNvPr id="14" name="Streamlit">
            <a:extLst>
              <a:ext uri="{FF2B5EF4-FFF2-40B4-BE49-F238E27FC236}">
                <a16:creationId xmlns:a16="http://schemas.microsoft.com/office/drawing/2014/main" id="{01B397DE-E8D7-F838-5097-F751A3CDDA72}"/>
              </a:ext>
            </a:extLst>
          </p:cNvPr>
          <p:cNvSpPr/>
          <p:nvPr/>
        </p:nvSpPr>
        <p:spPr>
          <a:xfrm>
            <a:off x="1219200" y="26289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Streamlit title">
            <a:extLst>
              <a:ext uri="{FF2B5EF4-FFF2-40B4-BE49-F238E27FC236}">
                <a16:creationId xmlns:a16="http://schemas.microsoft.com/office/drawing/2014/main" id="{E9002A5D-703B-0C50-4C58-283F8F2125BE}"/>
              </a:ext>
            </a:extLst>
          </p:cNvPr>
          <p:cNvSpPr txBox="1"/>
          <p:nvPr/>
        </p:nvSpPr>
        <p:spPr>
          <a:xfrm>
            <a:off x="1397000" y="27813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Streamlit</a:t>
            </a:r>
          </a:p>
        </p:txBody>
      </p:sp>
      <p:sp>
        <p:nvSpPr>
          <p:cNvPr id="16" name="Streamlit body">
            <a:extLst>
              <a:ext uri="{FF2B5EF4-FFF2-40B4-BE49-F238E27FC236}">
                <a16:creationId xmlns:a16="http://schemas.microsoft.com/office/drawing/2014/main" id="{9316563F-6F3A-370D-10E7-5330730763F5}"/>
              </a:ext>
            </a:extLst>
          </p:cNvPr>
          <p:cNvSpPr txBox="1"/>
          <p:nvPr/>
        </p:nvSpPr>
        <p:spPr>
          <a:xfrm>
            <a:off x="1397000" y="31242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Presentación y cliente HTTP</a:t>
            </a:r>
          </a:p>
        </p:txBody>
      </p:sp>
      <p:sp>
        <p:nvSpPr>
          <p:cNvPr id="17" name="Extension">
            <a:extLst>
              <a:ext uri="{FF2B5EF4-FFF2-40B4-BE49-F238E27FC236}">
                <a16:creationId xmlns:a16="http://schemas.microsoft.com/office/drawing/2014/main" id="{B667610A-8AE3-D82D-D408-32C6A57EF428}"/>
              </a:ext>
            </a:extLst>
          </p:cNvPr>
          <p:cNvSpPr/>
          <p:nvPr/>
        </p:nvSpPr>
        <p:spPr>
          <a:xfrm>
            <a:off x="1219200" y="38354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Extension title">
            <a:extLst>
              <a:ext uri="{FF2B5EF4-FFF2-40B4-BE49-F238E27FC236}">
                <a16:creationId xmlns:a16="http://schemas.microsoft.com/office/drawing/2014/main" id="{10457163-AEFE-E794-D296-BD3E15D297A9}"/>
              </a:ext>
            </a:extLst>
          </p:cNvPr>
          <p:cNvSpPr txBox="1"/>
          <p:nvPr/>
        </p:nvSpPr>
        <p:spPr>
          <a:xfrm>
            <a:off x="1397000" y="39878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Extensión Gmail</a:t>
            </a:r>
          </a:p>
        </p:txBody>
      </p:sp>
      <p:sp>
        <p:nvSpPr>
          <p:cNvPr id="19" name="Extension body">
            <a:extLst>
              <a:ext uri="{FF2B5EF4-FFF2-40B4-BE49-F238E27FC236}">
                <a16:creationId xmlns:a16="http://schemas.microsoft.com/office/drawing/2014/main" id="{2F67C120-252E-1946-6343-62900C2BD200}"/>
              </a:ext>
            </a:extLst>
          </p:cNvPr>
          <p:cNvSpPr txBox="1"/>
          <p:nvPr/>
        </p:nvSpPr>
        <p:spPr>
          <a:xfrm>
            <a:off x="1397000" y="43307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Correo visible → /analyze</a:t>
            </a:r>
          </a:p>
        </p:txBody>
      </p:sp>
      <p:sp>
        <p:nvSpPr>
          <p:cNvPr id="20" name="Monitor">
            <a:extLst>
              <a:ext uri="{FF2B5EF4-FFF2-40B4-BE49-F238E27FC236}">
                <a16:creationId xmlns:a16="http://schemas.microsoft.com/office/drawing/2014/main" id="{09A8E00F-BA70-30B5-522E-0BCE7239ED75}"/>
              </a:ext>
            </a:extLst>
          </p:cNvPr>
          <p:cNvSpPr/>
          <p:nvPr/>
        </p:nvSpPr>
        <p:spPr>
          <a:xfrm>
            <a:off x="1219200" y="5041900"/>
            <a:ext cx="241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Monitor title">
            <a:extLst>
              <a:ext uri="{FF2B5EF4-FFF2-40B4-BE49-F238E27FC236}">
                <a16:creationId xmlns:a16="http://schemas.microsoft.com/office/drawing/2014/main" id="{EEA3923F-7294-284A-9355-8C4DD1514EC1}"/>
              </a:ext>
            </a:extLst>
          </p:cNvPr>
          <p:cNvSpPr txBox="1"/>
          <p:nvPr/>
        </p:nvSpPr>
        <p:spPr>
          <a:xfrm>
            <a:off x="1397000" y="51943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Monitor Gmail</a:t>
            </a:r>
          </a:p>
        </p:txBody>
      </p:sp>
      <p:sp>
        <p:nvSpPr>
          <p:cNvPr id="22" name="Monitor body">
            <a:extLst>
              <a:ext uri="{FF2B5EF4-FFF2-40B4-BE49-F238E27FC236}">
                <a16:creationId xmlns:a16="http://schemas.microsoft.com/office/drawing/2014/main" id="{BC3CD883-4DDE-991E-99DB-E461D57F90D1}"/>
              </a:ext>
            </a:extLst>
          </p:cNvPr>
          <p:cNvSpPr txBox="1"/>
          <p:nvPr/>
        </p:nvSpPr>
        <p:spPr>
          <a:xfrm>
            <a:off x="1397000" y="5537200"/>
            <a:ext cx="205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07131F"/>
                </a:solidFill>
                <a:latin typeface="Arial" panose="020B0604020202020204" pitchFamily="34" charset="0"/>
              </a:rPr>
              <a:t>Lote + alerta Telegram</a:t>
            </a:r>
          </a:p>
        </p:txBody>
      </p:sp>
      <p:sp>
        <p:nvSpPr>
          <p:cNvPr id="23" name="Backend central">
            <a:extLst>
              <a:ext uri="{FF2B5EF4-FFF2-40B4-BE49-F238E27FC236}">
                <a16:creationId xmlns:a16="http://schemas.microsoft.com/office/drawing/2014/main" id="{12258A1A-2968-D97F-408E-D2A3C03C1923}"/>
              </a:ext>
            </a:extLst>
          </p:cNvPr>
          <p:cNvSpPr/>
          <p:nvPr/>
        </p:nvSpPr>
        <p:spPr>
          <a:xfrm>
            <a:off x="6604000" y="2006600"/>
            <a:ext cx="4394200" cy="3708400"/>
          </a:xfrm>
          <a:prstGeom prst="round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Backend title">
            <a:extLst>
              <a:ext uri="{FF2B5EF4-FFF2-40B4-BE49-F238E27FC236}">
                <a16:creationId xmlns:a16="http://schemas.microsoft.com/office/drawing/2014/main" id="{3799389B-76A5-EB90-22AB-460D6B558664}"/>
              </a:ext>
            </a:extLst>
          </p:cNvPr>
          <p:cNvSpPr txBox="1"/>
          <p:nvPr/>
        </p:nvSpPr>
        <p:spPr>
          <a:xfrm>
            <a:off x="6959600" y="2298700"/>
            <a:ext cx="3581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000" b="1">
                <a:solidFill>
                  <a:srgbClr val="CCFBF1"/>
                </a:solidFill>
                <a:latin typeface="Arial" panose="020B0604020202020204" pitchFamily="34" charset="0"/>
              </a:rPr>
              <a:t>BACKEND CENTRAL · :8766</a:t>
            </a:r>
          </a:p>
        </p:txBody>
      </p:sp>
      <p:sp>
        <p:nvSpPr>
          <p:cNvPr id="25" name="Backend contents">
            <a:extLst>
              <a:ext uri="{FF2B5EF4-FFF2-40B4-BE49-F238E27FC236}">
                <a16:creationId xmlns:a16="http://schemas.microsoft.com/office/drawing/2014/main" id="{ACFCCD39-889F-BC37-B344-D133BBC2706A}"/>
              </a:ext>
            </a:extLst>
          </p:cNvPr>
          <p:cNvSpPr txBox="1"/>
          <p:nvPr/>
        </p:nvSpPr>
        <p:spPr>
          <a:xfrm>
            <a:off x="6959600" y="29083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FFFFFF"/>
                </a:solidFill>
                <a:latin typeface="Arial" panose="020B0604020202020204" pitchFamily="34" charset="0"/>
              </a:rPr>
              <a:t>• Parser MIME / EML
• Señales heurísticas
• Modelo neuronal ES activo
• Modelo neuronal EN activo
• Entrenamiento y versionado</a:t>
            </a:r>
          </a:p>
        </p:txBody>
      </p:sp>
      <p:sp>
        <p:nvSpPr>
          <p:cNvPr id="26" name="Protocol">
            <a:extLst>
              <a:ext uri="{FF2B5EF4-FFF2-40B4-BE49-F238E27FC236}">
                <a16:creationId xmlns:a16="http://schemas.microsoft.com/office/drawing/2014/main" id="{A1670CEB-59CA-01E2-DA51-583CB85DC86B}"/>
              </a:ext>
            </a:extLst>
          </p:cNvPr>
          <p:cNvSpPr txBox="1"/>
          <p:nvPr/>
        </p:nvSpPr>
        <p:spPr>
          <a:xfrm>
            <a:off x="4927600" y="28194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HTTP / JSON</a:t>
            </a:r>
          </a:p>
        </p:txBody>
      </p:sp>
      <p:sp>
        <p:nvSpPr>
          <p:cNvPr id="27" name="Architecture note">
            <a:extLst>
              <a:ext uri="{FF2B5EF4-FFF2-40B4-BE49-F238E27FC236}">
                <a16:creationId xmlns:a16="http://schemas.microsoft.com/office/drawing/2014/main" id="{40DEF03D-5B1F-1625-D0B0-BC2345390C34}"/>
              </a:ext>
            </a:extLst>
          </p:cNvPr>
          <p:cNvSpPr txBox="1"/>
          <p:nvPr/>
        </p:nvSpPr>
        <p:spPr>
          <a:xfrm>
            <a:off x="6604000" y="5867400"/>
            <a:ext cx="4394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En la defensa ambos procesos pueden estar en el mismo equipo; siguen separados por un contrato HTTP.</a:t>
            </a:r>
          </a:p>
        </p:txBody>
      </p:sp>
    </p:spTree>
    <p:extLst>
      <p:ext uri="{BB962C8B-B14F-4D97-AF65-F5344CB8AC3E}">
        <p14:creationId xmlns:p14="http://schemas.microsoft.com/office/powerpoint/2010/main" val="198740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5A712C40-86E9-D114-2B98-CA90D3E2001A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FUNCIONAMIENTO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4FB56157-B932-7230-8163-9B1F890DCB5F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Cada correo sigue un flujo único y trazable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6AC5241E-894E-DFF9-B98F-D5148510E152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4A373FE-23AE-A61B-BE6A-C5670359A0A5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733CC3A-7F85-5BED-11A9-8A28CD58A745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5</a:t>
            </a:r>
          </a:p>
        </p:txBody>
      </p:sp>
      <p:cxnSp>
        <p:nvCxnSpPr>
          <p:cNvPr id="7" name="Flow arrow 0">
            <a:extLst>
              <a:ext uri="{FF2B5EF4-FFF2-40B4-BE49-F238E27FC236}">
                <a16:creationId xmlns:a16="http://schemas.microsoft.com/office/drawing/2014/main" id="{93679BA5-57F6-CAEF-AB7D-602C67AD10F1}"/>
              </a:ext>
            </a:extLst>
          </p:cNvPr>
          <p:cNvCxnSpPr/>
          <p:nvPr/>
        </p:nvCxnSpPr>
        <p:spPr>
          <a:xfrm>
            <a:off x="2540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Flow arrow 1">
            <a:extLst>
              <a:ext uri="{FF2B5EF4-FFF2-40B4-BE49-F238E27FC236}">
                <a16:creationId xmlns:a16="http://schemas.microsoft.com/office/drawing/2014/main" id="{5F76CFB4-0D34-2FAF-5CF0-B1EB13ECCA75}"/>
              </a:ext>
            </a:extLst>
          </p:cNvPr>
          <p:cNvCxnSpPr/>
          <p:nvPr/>
        </p:nvCxnSpPr>
        <p:spPr>
          <a:xfrm>
            <a:off x="4699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Flow arrow 2">
            <a:extLst>
              <a:ext uri="{FF2B5EF4-FFF2-40B4-BE49-F238E27FC236}">
                <a16:creationId xmlns:a16="http://schemas.microsoft.com/office/drawing/2014/main" id="{9083F959-3B35-A1A7-35E2-614D28DD2F36}"/>
              </a:ext>
            </a:extLst>
          </p:cNvPr>
          <p:cNvCxnSpPr/>
          <p:nvPr/>
        </p:nvCxnSpPr>
        <p:spPr>
          <a:xfrm>
            <a:off x="6858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Flow arrow 3">
            <a:extLst>
              <a:ext uri="{FF2B5EF4-FFF2-40B4-BE49-F238E27FC236}">
                <a16:creationId xmlns:a16="http://schemas.microsoft.com/office/drawing/2014/main" id="{0A543358-3CCE-43F9-48A7-EC230D480E83}"/>
              </a:ext>
            </a:extLst>
          </p:cNvPr>
          <p:cNvCxnSpPr/>
          <p:nvPr/>
        </p:nvCxnSpPr>
        <p:spPr>
          <a:xfrm>
            <a:off x="9017000" y="3416300"/>
            <a:ext cx="4318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node 0">
            <a:extLst>
              <a:ext uri="{FF2B5EF4-FFF2-40B4-BE49-F238E27FC236}">
                <a16:creationId xmlns:a16="http://schemas.microsoft.com/office/drawing/2014/main" id="{D2C4E712-71CF-85BE-A982-6F1F692DF59D}"/>
              </a:ext>
            </a:extLst>
          </p:cNvPr>
          <p:cNvSpPr/>
          <p:nvPr/>
        </p:nvSpPr>
        <p:spPr>
          <a:xfrm>
            <a:off x="939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Flow number">
            <a:extLst>
              <a:ext uri="{FF2B5EF4-FFF2-40B4-BE49-F238E27FC236}">
                <a16:creationId xmlns:a16="http://schemas.microsoft.com/office/drawing/2014/main" id="{A000FC34-55B3-E2D2-21E7-2785A69AFD0E}"/>
              </a:ext>
            </a:extLst>
          </p:cNvPr>
          <p:cNvSpPr txBox="1"/>
          <p:nvPr/>
        </p:nvSpPr>
        <p:spPr>
          <a:xfrm>
            <a:off x="1028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3" name="Flow title">
            <a:extLst>
              <a:ext uri="{FF2B5EF4-FFF2-40B4-BE49-F238E27FC236}">
                <a16:creationId xmlns:a16="http://schemas.microsoft.com/office/drawing/2014/main" id="{29415BCF-0DCE-449D-1F0A-5BBCF04543FD}"/>
              </a:ext>
            </a:extLst>
          </p:cNvPr>
          <p:cNvSpPr txBox="1"/>
          <p:nvPr/>
        </p:nvSpPr>
        <p:spPr>
          <a:xfrm>
            <a:off x="812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Entrada</a:t>
            </a:r>
          </a:p>
        </p:txBody>
      </p:sp>
      <p:sp>
        <p:nvSpPr>
          <p:cNvPr id="14" name="Flow detail">
            <a:extLst>
              <a:ext uri="{FF2B5EF4-FFF2-40B4-BE49-F238E27FC236}">
                <a16:creationId xmlns:a16="http://schemas.microsoft.com/office/drawing/2014/main" id="{2F191B5C-1737-1957-C541-E55378163C74}"/>
              </a:ext>
            </a:extLst>
          </p:cNvPr>
          <p:cNvSpPr txBox="1"/>
          <p:nvPr/>
        </p:nvSpPr>
        <p:spPr>
          <a:xfrm>
            <a:off x="736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pt-BR" sz="1200">
                <a:solidFill>
                  <a:srgbClr val="49657A"/>
                </a:solidFill>
                <a:latin typeface="Arial" panose="020B0604020202020204" pitchFamily="34" charset="0"/>
              </a:rPr>
              <a:t>Texto, EML o campos JSON</a:t>
            </a:r>
            <a:endParaRPr lang="es-ES" sz="1200">
              <a:solidFill>
                <a:srgbClr val="49657A"/>
              </a:solidFill>
              <a:latin typeface="Arial" panose="020B0604020202020204" pitchFamily="34" charset="0"/>
            </a:endParaRPr>
          </a:p>
        </p:txBody>
      </p:sp>
      <p:sp>
        <p:nvSpPr>
          <p:cNvPr id="15" name="Flow node 1">
            <a:extLst>
              <a:ext uri="{FF2B5EF4-FFF2-40B4-BE49-F238E27FC236}">
                <a16:creationId xmlns:a16="http://schemas.microsoft.com/office/drawing/2014/main" id="{AEE7C1BB-66C1-B329-9FAA-E3CAAF8D3AFE}"/>
              </a:ext>
            </a:extLst>
          </p:cNvPr>
          <p:cNvSpPr/>
          <p:nvPr/>
        </p:nvSpPr>
        <p:spPr>
          <a:xfrm>
            <a:off x="3098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Flow number">
            <a:extLst>
              <a:ext uri="{FF2B5EF4-FFF2-40B4-BE49-F238E27FC236}">
                <a16:creationId xmlns:a16="http://schemas.microsoft.com/office/drawing/2014/main" id="{74EF575F-AEA0-8B31-7802-C48C12A533DB}"/>
              </a:ext>
            </a:extLst>
          </p:cNvPr>
          <p:cNvSpPr txBox="1"/>
          <p:nvPr/>
        </p:nvSpPr>
        <p:spPr>
          <a:xfrm>
            <a:off x="3187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7" name="Flow title">
            <a:extLst>
              <a:ext uri="{FF2B5EF4-FFF2-40B4-BE49-F238E27FC236}">
                <a16:creationId xmlns:a16="http://schemas.microsoft.com/office/drawing/2014/main" id="{285DFFD1-FC31-3122-351E-6A6AE7FB6768}"/>
              </a:ext>
            </a:extLst>
          </p:cNvPr>
          <p:cNvSpPr txBox="1"/>
          <p:nvPr/>
        </p:nvSpPr>
        <p:spPr>
          <a:xfrm>
            <a:off x="2971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Normalización</a:t>
            </a:r>
          </a:p>
        </p:txBody>
      </p:sp>
      <p:sp>
        <p:nvSpPr>
          <p:cNvPr id="18" name="Flow detail">
            <a:extLst>
              <a:ext uri="{FF2B5EF4-FFF2-40B4-BE49-F238E27FC236}">
                <a16:creationId xmlns:a16="http://schemas.microsoft.com/office/drawing/2014/main" id="{BD7D7455-8A85-A4B1-760D-9309D5F38354}"/>
              </a:ext>
            </a:extLst>
          </p:cNvPr>
          <p:cNvSpPr txBox="1"/>
          <p:nvPr/>
        </p:nvSpPr>
        <p:spPr>
          <a:xfrm>
            <a:off x="2895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Cabeceras, HTML, enlaces y adjuntos</a:t>
            </a:r>
          </a:p>
        </p:txBody>
      </p:sp>
      <p:sp>
        <p:nvSpPr>
          <p:cNvPr id="19" name="Flow node 2">
            <a:extLst>
              <a:ext uri="{FF2B5EF4-FFF2-40B4-BE49-F238E27FC236}">
                <a16:creationId xmlns:a16="http://schemas.microsoft.com/office/drawing/2014/main" id="{B13BB637-1404-B666-94B0-9FB27837B263}"/>
              </a:ext>
            </a:extLst>
          </p:cNvPr>
          <p:cNvSpPr/>
          <p:nvPr/>
        </p:nvSpPr>
        <p:spPr>
          <a:xfrm>
            <a:off x="5257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ow number">
            <a:extLst>
              <a:ext uri="{FF2B5EF4-FFF2-40B4-BE49-F238E27FC236}">
                <a16:creationId xmlns:a16="http://schemas.microsoft.com/office/drawing/2014/main" id="{9AA4108E-A142-CEDB-8ED0-7BF6851C9BF3}"/>
              </a:ext>
            </a:extLst>
          </p:cNvPr>
          <p:cNvSpPr txBox="1"/>
          <p:nvPr/>
        </p:nvSpPr>
        <p:spPr>
          <a:xfrm>
            <a:off x="5346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21" name="Flow title">
            <a:extLst>
              <a:ext uri="{FF2B5EF4-FFF2-40B4-BE49-F238E27FC236}">
                <a16:creationId xmlns:a16="http://schemas.microsoft.com/office/drawing/2014/main" id="{95EA672B-357A-97A9-A780-020CA6BC96D6}"/>
              </a:ext>
            </a:extLst>
          </p:cNvPr>
          <p:cNvSpPr txBox="1"/>
          <p:nvPr/>
        </p:nvSpPr>
        <p:spPr>
          <a:xfrm>
            <a:off x="5130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Detección</a:t>
            </a:r>
          </a:p>
        </p:txBody>
      </p:sp>
      <p:sp>
        <p:nvSpPr>
          <p:cNvPr id="22" name="Flow detail">
            <a:extLst>
              <a:ext uri="{FF2B5EF4-FFF2-40B4-BE49-F238E27FC236}">
                <a16:creationId xmlns:a16="http://schemas.microsoft.com/office/drawing/2014/main" id="{2D8369D8-1CEC-2258-9528-6846B6A1F8E0}"/>
              </a:ext>
            </a:extLst>
          </p:cNvPr>
          <p:cNvSpPr txBox="1"/>
          <p:nvPr/>
        </p:nvSpPr>
        <p:spPr>
          <a:xfrm>
            <a:off x="5054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Heurística + modelo por idioma</a:t>
            </a:r>
          </a:p>
        </p:txBody>
      </p:sp>
      <p:sp>
        <p:nvSpPr>
          <p:cNvPr id="23" name="Flow node 3">
            <a:extLst>
              <a:ext uri="{FF2B5EF4-FFF2-40B4-BE49-F238E27FC236}">
                <a16:creationId xmlns:a16="http://schemas.microsoft.com/office/drawing/2014/main" id="{80A00E61-3CB9-232A-03F8-D975EF2B3401}"/>
              </a:ext>
            </a:extLst>
          </p:cNvPr>
          <p:cNvSpPr/>
          <p:nvPr/>
        </p:nvSpPr>
        <p:spPr>
          <a:xfrm>
            <a:off x="7416800" y="31496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ow number">
            <a:extLst>
              <a:ext uri="{FF2B5EF4-FFF2-40B4-BE49-F238E27FC236}">
                <a16:creationId xmlns:a16="http://schemas.microsoft.com/office/drawing/2014/main" id="{EA2EE377-A6BD-4810-5067-F37DCE510FC0}"/>
              </a:ext>
            </a:extLst>
          </p:cNvPr>
          <p:cNvSpPr txBox="1"/>
          <p:nvPr/>
        </p:nvSpPr>
        <p:spPr>
          <a:xfrm>
            <a:off x="7505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5" name="Flow title">
            <a:extLst>
              <a:ext uri="{FF2B5EF4-FFF2-40B4-BE49-F238E27FC236}">
                <a16:creationId xmlns:a16="http://schemas.microsoft.com/office/drawing/2014/main" id="{8C2906ED-F6A2-6EAE-F614-EC43103425DD}"/>
              </a:ext>
            </a:extLst>
          </p:cNvPr>
          <p:cNvSpPr txBox="1"/>
          <p:nvPr/>
        </p:nvSpPr>
        <p:spPr>
          <a:xfrm>
            <a:off x="7289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Fusión</a:t>
            </a:r>
          </a:p>
        </p:txBody>
      </p:sp>
      <p:sp>
        <p:nvSpPr>
          <p:cNvPr id="26" name="Flow detail">
            <a:extLst>
              <a:ext uri="{FF2B5EF4-FFF2-40B4-BE49-F238E27FC236}">
                <a16:creationId xmlns:a16="http://schemas.microsoft.com/office/drawing/2014/main" id="{5A6729D5-1819-58C4-E5BD-13B40BED802B}"/>
              </a:ext>
            </a:extLst>
          </p:cNvPr>
          <p:cNvSpPr txBox="1"/>
          <p:nvPr/>
        </p:nvSpPr>
        <p:spPr>
          <a:xfrm>
            <a:off x="7213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Pesos, umbral y alta confianza</a:t>
            </a:r>
          </a:p>
        </p:txBody>
      </p:sp>
      <p:sp>
        <p:nvSpPr>
          <p:cNvPr id="27" name="Flow node 4">
            <a:extLst>
              <a:ext uri="{FF2B5EF4-FFF2-40B4-BE49-F238E27FC236}">
                <a16:creationId xmlns:a16="http://schemas.microsoft.com/office/drawing/2014/main" id="{3D8E91B6-C474-0F9F-7F78-C561E397E4E1}"/>
              </a:ext>
            </a:extLst>
          </p:cNvPr>
          <p:cNvSpPr/>
          <p:nvPr/>
        </p:nvSpPr>
        <p:spPr>
          <a:xfrm>
            <a:off x="9575800" y="3149600"/>
            <a:ext cx="533400" cy="5334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ow number">
            <a:extLst>
              <a:ext uri="{FF2B5EF4-FFF2-40B4-BE49-F238E27FC236}">
                <a16:creationId xmlns:a16="http://schemas.microsoft.com/office/drawing/2014/main" id="{D03A1C0D-0371-8DB5-E348-56FA0B66E7B5}"/>
              </a:ext>
            </a:extLst>
          </p:cNvPr>
          <p:cNvSpPr txBox="1"/>
          <p:nvPr/>
        </p:nvSpPr>
        <p:spPr>
          <a:xfrm>
            <a:off x="9664700" y="32893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FFFFFF"/>
                </a:solidFill>
                <a:latin typeface="Arial" panose="020B0604020202020204" pitchFamily="34" charset="0"/>
              </a:rPr>
              <a:t>05</a:t>
            </a:r>
          </a:p>
        </p:txBody>
      </p:sp>
      <p:sp>
        <p:nvSpPr>
          <p:cNvPr id="29" name="Flow title">
            <a:extLst>
              <a:ext uri="{FF2B5EF4-FFF2-40B4-BE49-F238E27FC236}">
                <a16:creationId xmlns:a16="http://schemas.microsoft.com/office/drawing/2014/main" id="{E6175013-000C-0F06-5109-2602BC1AB539}"/>
              </a:ext>
            </a:extLst>
          </p:cNvPr>
          <p:cNvSpPr txBox="1"/>
          <p:nvPr/>
        </p:nvSpPr>
        <p:spPr>
          <a:xfrm>
            <a:off x="9448800" y="3987800"/>
            <a:ext cx="1676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Respuesta</a:t>
            </a:r>
          </a:p>
        </p:txBody>
      </p:sp>
      <p:sp>
        <p:nvSpPr>
          <p:cNvPr id="30" name="Flow detail">
            <a:extLst>
              <a:ext uri="{FF2B5EF4-FFF2-40B4-BE49-F238E27FC236}">
                <a16:creationId xmlns:a16="http://schemas.microsoft.com/office/drawing/2014/main" id="{C51D10CB-4CE5-3539-9F75-508638F4BCD2}"/>
              </a:ext>
            </a:extLst>
          </p:cNvPr>
          <p:cNvSpPr txBox="1"/>
          <p:nvPr/>
        </p:nvSpPr>
        <p:spPr>
          <a:xfrm>
            <a:off x="9372600" y="4445000"/>
            <a:ext cx="1828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Riesgo, señales y explicación</a:t>
            </a:r>
          </a:p>
        </p:txBody>
      </p:sp>
      <p:sp>
        <p:nvSpPr>
          <p:cNvPr id="31" name="Flow takeaway">
            <a:extLst>
              <a:ext uri="{FF2B5EF4-FFF2-40B4-BE49-F238E27FC236}">
                <a16:creationId xmlns:a16="http://schemas.microsoft.com/office/drawing/2014/main" id="{7D364921-0AEE-74DC-BD5C-46E540AD58A1}"/>
              </a:ext>
            </a:extLst>
          </p:cNvPr>
          <p:cNvSpPr txBox="1"/>
          <p:nvPr/>
        </p:nvSpPr>
        <p:spPr>
          <a:xfrm>
            <a:off x="1778000" y="5588000"/>
            <a:ext cx="863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500" b="1">
                <a:solidFill>
                  <a:srgbClr val="12304A"/>
                </a:solidFill>
                <a:latin typeface="Arial" panose="020B0604020202020204" pitchFamily="34" charset="0"/>
              </a:rPr>
              <a:t>El contrato /analyze limita la entrada, devuelve una respuesta común y mantiene la lógica fuera de los clientes.</a:t>
            </a:r>
          </a:p>
        </p:txBody>
      </p:sp>
    </p:spTree>
    <p:extLst>
      <p:ext uri="{BB962C8B-B14F-4D97-AF65-F5344CB8AC3E}">
        <p14:creationId xmlns:p14="http://schemas.microsoft.com/office/powerpoint/2010/main" val="1604779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9AE3A140-F621-69A4-0211-43171108A8A7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MÉTODO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79CC7945-2F98-CEAC-CBD3-EB74797649F5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Dos detectores aportan señales complementarias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4E6ADDDF-9661-F99C-9554-F92558CACFFA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DC2435D4-22BE-F9AE-C35B-2071E441C41E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770E28B-A575-8104-3429-62E36697D142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7" name="Heuristic label">
            <a:extLst>
              <a:ext uri="{FF2B5EF4-FFF2-40B4-BE49-F238E27FC236}">
                <a16:creationId xmlns:a16="http://schemas.microsoft.com/office/drawing/2014/main" id="{1DF298F4-357F-8B35-7254-F13E8B7DDFE1}"/>
              </a:ext>
            </a:extLst>
          </p:cNvPr>
          <p:cNvSpPr txBox="1"/>
          <p:nvPr/>
        </p:nvSpPr>
        <p:spPr>
          <a:xfrm>
            <a:off x="914400" y="17399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HEURÍSTICA EXPLICABLE</a:t>
            </a:r>
          </a:p>
        </p:txBody>
      </p:sp>
      <p:sp>
        <p:nvSpPr>
          <p:cNvPr id="8" name="Heuristic title">
            <a:extLst>
              <a:ext uri="{FF2B5EF4-FFF2-40B4-BE49-F238E27FC236}">
                <a16:creationId xmlns:a16="http://schemas.microsoft.com/office/drawing/2014/main" id="{C1412AC8-461E-CE4F-A37B-1284FDDA6997}"/>
              </a:ext>
            </a:extLst>
          </p:cNvPr>
          <p:cNvSpPr txBox="1"/>
          <p:nvPr/>
        </p:nvSpPr>
        <p:spPr>
          <a:xfrm>
            <a:off x="914400" y="215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400" b="1">
                <a:solidFill>
                  <a:srgbClr val="07131F"/>
                </a:solidFill>
                <a:latin typeface="Arial" panose="020B0604020202020204" pitchFamily="34" charset="0"/>
              </a:rPr>
              <a:t>Inspecciona indicios concretos</a:t>
            </a:r>
          </a:p>
        </p:txBody>
      </p:sp>
      <p:sp>
        <p:nvSpPr>
          <p:cNvPr id="9" name="Heuristic list">
            <a:extLst>
              <a:ext uri="{FF2B5EF4-FFF2-40B4-BE49-F238E27FC236}">
                <a16:creationId xmlns:a16="http://schemas.microsoft.com/office/drawing/2014/main" id="{5B59371A-7313-65FB-79FD-7F274E7CBD96}"/>
              </a:ext>
            </a:extLst>
          </p:cNvPr>
          <p:cNvSpPr txBox="1"/>
          <p:nvPr/>
        </p:nvSpPr>
        <p:spPr>
          <a:xfrm>
            <a:off x="914400" y="2857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49657A"/>
                </a:solidFill>
                <a:latin typeface="Arial" panose="020B0604020202020204" pitchFamily="34" charset="0"/>
              </a:rPr>
              <a:t>Lectura pasiva de SPF/DKIM/DMARC en cabeceras
Remitente, dominio y URLs
HTML, adjuntos y redirecciones
Urgencia, credenciales y BEC</a:t>
            </a:r>
          </a:p>
        </p:txBody>
      </p:sp>
      <p:cxnSp>
        <p:nvCxnSpPr>
          <p:cNvPr id="10" name="Detector divider">
            <a:extLst>
              <a:ext uri="{FF2B5EF4-FFF2-40B4-BE49-F238E27FC236}">
                <a16:creationId xmlns:a16="http://schemas.microsoft.com/office/drawing/2014/main" id="{B4189029-5ED0-D301-C71A-224D3BB45A8F}"/>
              </a:ext>
            </a:extLst>
          </p:cNvPr>
          <p:cNvCxnSpPr/>
          <p:nvPr/>
        </p:nvCxnSpPr>
        <p:spPr>
          <a:xfrm>
            <a:off x="6096000" y="1727200"/>
            <a:ext cx="0" cy="3225800"/>
          </a:xfrm>
          <a:prstGeom prst="line">
            <a:avLst/>
          </a:prstGeom>
          <a:ln w="1778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Neural label">
            <a:extLst>
              <a:ext uri="{FF2B5EF4-FFF2-40B4-BE49-F238E27FC236}">
                <a16:creationId xmlns:a16="http://schemas.microsoft.com/office/drawing/2014/main" id="{AE42FDB3-61E4-228C-DFE7-EF49004D9CCA}"/>
              </a:ext>
            </a:extLst>
          </p:cNvPr>
          <p:cNvSpPr txBox="1"/>
          <p:nvPr/>
        </p:nvSpPr>
        <p:spPr>
          <a:xfrm>
            <a:off x="6705600" y="17399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3D8DFF"/>
                </a:solidFill>
                <a:latin typeface="Arial" panose="020B0604020202020204" pitchFamily="34" charset="0"/>
              </a:rPr>
              <a:t>CLASIFICADOR NEURONAL</a:t>
            </a:r>
          </a:p>
        </p:txBody>
      </p:sp>
      <p:sp>
        <p:nvSpPr>
          <p:cNvPr id="12" name="Neural title">
            <a:extLst>
              <a:ext uri="{FF2B5EF4-FFF2-40B4-BE49-F238E27FC236}">
                <a16:creationId xmlns:a16="http://schemas.microsoft.com/office/drawing/2014/main" id="{3A0422B7-4DD6-0854-DE39-E3B07060E8D4}"/>
              </a:ext>
            </a:extLst>
          </p:cNvPr>
          <p:cNvSpPr txBox="1"/>
          <p:nvPr/>
        </p:nvSpPr>
        <p:spPr>
          <a:xfrm>
            <a:off x="6705600" y="2159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400" b="1">
                <a:solidFill>
                  <a:srgbClr val="07131F"/>
                </a:solidFill>
                <a:latin typeface="Arial" panose="020B0604020202020204" pitchFamily="34" charset="0"/>
              </a:rPr>
              <a:t>Aprende patrones del lenguaje</a:t>
            </a:r>
          </a:p>
        </p:txBody>
      </p:sp>
      <p:sp>
        <p:nvSpPr>
          <p:cNvPr id="13" name="Neural list">
            <a:extLst>
              <a:ext uri="{FF2B5EF4-FFF2-40B4-BE49-F238E27FC236}">
                <a16:creationId xmlns:a16="http://schemas.microsoft.com/office/drawing/2014/main" id="{8E49224F-AB60-F0CE-948A-740EEB71B9B5}"/>
              </a:ext>
            </a:extLst>
          </p:cNvPr>
          <p:cNvSpPr txBox="1"/>
          <p:nvPr/>
        </p:nvSpPr>
        <p:spPr>
          <a:xfrm>
            <a:off x="6705600" y="28575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49657A"/>
                </a:solidFill>
                <a:latin typeface="Arial" panose="020B0604020202020204" pitchFamily="34" charset="0"/>
              </a:rPr>
              <a:t>TF-IDF con n-gramas
Perceptrón multicapa (MLP)
Modelos separados ES / EN
Probabilidad de phishing</a:t>
            </a:r>
          </a:p>
        </p:txBody>
      </p:sp>
      <p:sp>
        <p:nvSpPr>
          <p:cNvPr id="14" name="Combined band">
            <a:extLst>
              <a:ext uri="{FF2B5EF4-FFF2-40B4-BE49-F238E27FC236}">
                <a16:creationId xmlns:a16="http://schemas.microsoft.com/office/drawing/2014/main" id="{02F8C5F7-7C70-8A37-FCA0-06FF21600E21}"/>
              </a:ext>
            </a:extLst>
          </p:cNvPr>
          <p:cNvSpPr/>
          <p:nvPr/>
        </p:nvSpPr>
        <p:spPr>
          <a:xfrm>
            <a:off x="1574800" y="5207000"/>
            <a:ext cx="9042400" cy="787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ombined label">
            <a:extLst>
              <a:ext uri="{FF2B5EF4-FFF2-40B4-BE49-F238E27FC236}">
                <a16:creationId xmlns:a16="http://schemas.microsoft.com/office/drawing/2014/main" id="{7475925F-4E11-AAF5-BEFA-E86FFDD0AE4F}"/>
              </a:ext>
            </a:extLst>
          </p:cNvPr>
          <p:cNvSpPr txBox="1"/>
          <p:nvPr/>
        </p:nvSpPr>
        <p:spPr>
          <a:xfrm>
            <a:off x="1879600" y="5461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MODO COMBINADO</a:t>
            </a:r>
          </a:p>
        </p:txBody>
      </p:sp>
      <p:sp>
        <p:nvSpPr>
          <p:cNvPr id="16" name="Combined formula">
            <a:extLst>
              <a:ext uri="{FF2B5EF4-FFF2-40B4-BE49-F238E27FC236}">
                <a16:creationId xmlns:a16="http://schemas.microsoft.com/office/drawing/2014/main" id="{D56C00D4-61DB-E618-1647-4FC2B8800DDA}"/>
              </a:ext>
            </a:extLst>
          </p:cNvPr>
          <p:cNvSpPr txBox="1"/>
          <p:nvPr/>
        </p:nvSpPr>
        <p:spPr>
          <a:xfrm>
            <a:off x="4038600" y="5397500"/>
            <a:ext cx="622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FFFFFF"/>
                </a:solidFill>
                <a:latin typeface="Arial" panose="020B0604020202020204" pitchFamily="34" charset="0"/>
              </a:rPr>
              <a:t>45/55 · umbral 21 · alta confianza ≥ 70</a:t>
            </a:r>
          </a:p>
        </p:txBody>
      </p:sp>
    </p:spTree>
    <p:extLst>
      <p:ext uri="{BB962C8B-B14F-4D97-AF65-F5344CB8AC3E}">
        <p14:creationId xmlns:p14="http://schemas.microsoft.com/office/powerpoint/2010/main" val="2954790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BBB3D50A-2361-877B-9061-11DBF938E9E8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CENTRALIZACIÓN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A1EDF4BB-4504-E49A-ED47-B5F567DFE105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Una versión activa sirve a todos los clientes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49FAFAC8-709D-34C7-F2FC-85182511DADD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C76C30EA-38F0-22EC-2393-764C1035E0E1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663EC40-E874-A440-CFD3-44F8A67370FB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7</a:t>
            </a:r>
          </a:p>
        </p:txBody>
      </p:sp>
      <p:cxnSp>
        <p:nvCxnSpPr>
          <p:cNvPr id="7" name="Model timeline">
            <a:extLst>
              <a:ext uri="{FF2B5EF4-FFF2-40B4-BE49-F238E27FC236}">
                <a16:creationId xmlns:a16="http://schemas.microsoft.com/office/drawing/2014/main" id="{D77AF56A-CE4D-0FA1-2849-97C204B12B67}"/>
              </a:ext>
            </a:extLst>
          </p:cNvPr>
          <p:cNvCxnSpPr/>
          <p:nvPr/>
        </p:nvCxnSpPr>
        <p:spPr>
          <a:xfrm>
            <a:off x="1244600" y="3454400"/>
            <a:ext cx="9702800" cy="0"/>
          </a:xfrm>
          <a:prstGeom prst="line">
            <a:avLst/>
          </a:prstGeom>
          <a:ln w="19050">
            <a:solidFill>
              <a:srgbClr val="0713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meline dot">
            <a:extLst>
              <a:ext uri="{FF2B5EF4-FFF2-40B4-BE49-F238E27FC236}">
                <a16:creationId xmlns:a16="http://schemas.microsoft.com/office/drawing/2014/main" id="{87E4BAF7-1B11-AD37-14A3-41FC8FBB91F4}"/>
              </a:ext>
            </a:extLst>
          </p:cNvPr>
          <p:cNvSpPr/>
          <p:nvPr/>
        </p:nvSpPr>
        <p:spPr>
          <a:xfrm>
            <a:off x="15367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Timeline dot">
            <a:extLst>
              <a:ext uri="{FF2B5EF4-FFF2-40B4-BE49-F238E27FC236}">
                <a16:creationId xmlns:a16="http://schemas.microsoft.com/office/drawing/2014/main" id="{A100C1B7-EEE2-4F32-BFD7-360804F2601F}"/>
              </a:ext>
            </a:extLst>
          </p:cNvPr>
          <p:cNvSpPr/>
          <p:nvPr/>
        </p:nvSpPr>
        <p:spPr>
          <a:xfrm>
            <a:off x="52451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imeline dot">
            <a:extLst>
              <a:ext uri="{FF2B5EF4-FFF2-40B4-BE49-F238E27FC236}">
                <a16:creationId xmlns:a16="http://schemas.microsoft.com/office/drawing/2014/main" id="{ACDB98C6-5C5D-C094-1A44-7C316DC0044E}"/>
              </a:ext>
            </a:extLst>
          </p:cNvPr>
          <p:cNvSpPr/>
          <p:nvPr/>
        </p:nvSpPr>
        <p:spPr>
          <a:xfrm>
            <a:off x="8953500" y="3365500"/>
            <a:ext cx="177800" cy="1778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Timeline label">
            <a:extLst>
              <a:ext uri="{FF2B5EF4-FFF2-40B4-BE49-F238E27FC236}">
                <a16:creationId xmlns:a16="http://schemas.microsoft.com/office/drawing/2014/main" id="{21802F4A-8EC2-1DC1-B7D7-895CE9B2C0AC}"/>
              </a:ext>
            </a:extLst>
          </p:cNvPr>
          <p:cNvSpPr txBox="1"/>
          <p:nvPr/>
        </p:nvSpPr>
        <p:spPr>
          <a:xfrm>
            <a:off x="10922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01 · ENTRENAR</a:t>
            </a:r>
          </a:p>
        </p:txBody>
      </p:sp>
      <p:sp>
        <p:nvSpPr>
          <p:cNvPr id="12" name="Timeline title">
            <a:extLst>
              <a:ext uri="{FF2B5EF4-FFF2-40B4-BE49-F238E27FC236}">
                <a16:creationId xmlns:a16="http://schemas.microsoft.com/office/drawing/2014/main" id="{37363456-86D8-5A53-472C-B04B7806D8D3}"/>
              </a:ext>
            </a:extLst>
          </p:cNvPr>
          <p:cNvSpPr txBox="1"/>
          <p:nvPr/>
        </p:nvSpPr>
        <p:spPr>
          <a:xfrm>
            <a:off x="10922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El cliente envía CSV e hiperparámetros</a:t>
            </a:r>
          </a:p>
        </p:txBody>
      </p:sp>
      <p:sp>
        <p:nvSpPr>
          <p:cNvPr id="13" name="Timeline detail">
            <a:extLst>
              <a:ext uri="{FF2B5EF4-FFF2-40B4-BE49-F238E27FC236}">
                <a16:creationId xmlns:a16="http://schemas.microsoft.com/office/drawing/2014/main" id="{738D6DE4-D921-E6B6-70D9-33E05FCF8674}"/>
              </a:ext>
            </a:extLst>
          </p:cNvPr>
          <p:cNvSpPr txBox="1"/>
          <p:nvPr/>
        </p:nvSpPr>
        <p:spPr>
          <a:xfrm>
            <a:off x="10922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El backend crea un pipeline nuevo desde cero.</a:t>
            </a:r>
          </a:p>
        </p:txBody>
      </p:sp>
      <p:sp>
        <p:nvSpPr>
          <p:cNvPr id="14" name="Timeline label">
            <a:extLst>
              <a:ext uri="{FF2B5EF4-FFF2-40B4-BE49-F238E27FC236}">
                <a16:creationId xmlns:a16="http://schemas.microsoft.com/office/drawing/2014/main" id="{FE511827-F349-9A9A-16D4-E2C7B4E238CF}"/>
              </a:ext>
            </a:extLst>
          </p:cNvPr>
          <p:cNvSpPr txBox="1"/>
          <p:nvPr/>
        </p:nvSpPr>
        <p:spPr>
          <a:xfrm>
            <a:off x="48006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02 · ACTIVAR</a:t>
            </a:r>
          </a:p>
        </p:txBody>
      </p:sp>
      <p:sp>
        <p:nvSpPr>
          <p:cNvPr id="15" name="Timeline title">
            <a:extLst>
              <a:ext uri="{FF2B5EF4-FFF2-40B4-BE49-F238E27FC236}">
                <a16:creationId xmlns:a16="http://schemas.microsoft.com/office/drawing/2014/main" id="{4548022D-EDC2-B28E-518F-31FBB575361D}"/>
              </a:ext>
            </a:extLst>
          </p:cNvPr>
          <p:cNvSpPr txBox="1"/>
          <p:nvPr/>
        </p:nvSpPr>
        <p:spPr>
          <a:xfrm>
            <a:off x="48006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Guardado atómico y caché invalidada</a:t>
            </a:r>
          </a:p>
        </p:txBody>
      </p:sp>
      <p:sp>
        <p:nvSpPr>
          <p:cNvPr id="16" name="Timeline detail">
            <a:extLst>
              <a:ext uri="{FF2B5EF4-FFF2-40B4-BE49-F238E27FC236}">
                <a16:creationId xmlns:a16="http://schemas.microsoft.com/office/drawing/2014/main" id="{C8D49877-414B-0F67-85AA-307D12EEB0BA}"/>
              </a:ext>
            </a:extLst>
          </p:cNvPr>
          <p:cNvSpPr txBox="1"/>
          <p:nvPr/>
        </p:nvSpPr>
        <p:spPr>
          <a:xfrm>
            <a:off x="48006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Una versión activa por idioma: ES y EN.</a:t>
            </a:r>
          </a:p>
        </p:txBody>
      </p:sp>
      <p:sp>
        <p:nvSpPr>
          <p:cNvPr id="17" name="Timeline label">
            <a:extLst>
              <a:ext uri="{FF2B5EF4-FFF2-40B4-BE49-F238E27FC236}">
                <a16:creationId xmlns:a16="http://schemas.microsoft.com/office/drawing/2014/main" id="{28C5A64D-BB3F-941B-8A19-2DEF4F54386C}"/>
              </a:ext>
            </a:extLst>
          </p:cNvPr>
          <p:cNvSpPr txBox="1"/>
          <p:nvPr/>
        </p:nvSpPr>
        <p:spPr>
          <a:xfrm>
            <a:off x="8509000" y="25908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0F766E"/>
                </a:solidFill>
                <a:latin typeface="Arial" panose="020B0604020202020204" pitchFamily="34" charset="0"/>
              </a:rPr>
              <a:t>03 · COMPARTIR</a:t>
            </a:r>
          </a:p>
        </p:txBody>
      </p:sp>
      <p:sp>
        <p:nvSpPr>
          <p:cNvPr id="18" name="Timeline title">
            <a:extLst>
              <a:ext uri="{FF2B5EF4-FFF2-40B4-BE49-F238E27FC236}">
                <a16:creationId xmlns:a16="http://schemas.microsoft.com/office/drawing/2014/main" id="{3CD8513F-27F8-DB30-8B28-038D34CDCD64}"/>
              </a:ext>
            </a:extLst>
          </p:cNvPr>
          <p:cNvSpPr txBox="1"/>
          <p:nvPr/>
        </p:nvSpPr>
        <p:spPr>
          <a:xfrm>
            <a:off x="85090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Web, extensión y monitor</a:t>
            </a:r>
          </a:p>
        </p:txBody>
      </p:sp>
      <p:sp>
        <p:nvSpPr>
          <p:cNvPr id="19" name="Timeline detail">
            <a:extLst>
              <a:ext uri="{FF2B5EF4-FFF2-40B4-BE49-F238E27FC236}">
                <a16:creationId xmlns:a16="http://schemas.microsoft.com/office/drawing/2014/main" id="{B5948467-2869-E89E-46A2-A6F64F2B9795}"/>
              </a:ext>
            </a:extLst>
          </p:cNvPr>
          <p:cNvSpPr txBox="1"/>
          <p:nvPr/>
        </p:nvSpPr>
        <p:spPr>
          <a:xfrm>
            <a:off x="8509000" y="47498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La siguiente petición usa la versión nueva.</a:t>
            </a:r>
          </a:p>
        </p:txBody>
      </p:sp>
      <p:sp>
        <p:nvSpPr>
          <p:cNvPr id="20" name="Central takeaway">
            <a:extLst>
              <a:ext uri="{FF2B5EF4-FFF2-40B4-BE49-F238E27FC236}">
                <a16:creationId xmlns:a16="http://schemas.microsoft.com/office/drawing/2014/main" id="{2DFCE61F-CD1A-7C07-82F3-EC3077D1FB4A}"/>
              </a:ext>
            </a:extLst>
          </p:cNvPr>
          <p:cNvSpPr txBox="1"/>
          <p:nvPr/>
        </p:nvSpPr>
        <p:spPr>
          <a:xfrm>
            <a:off x="1981200" y="5727700"/>
            <a:ext cx="822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b="1">
                <a:solidFill>
                  <a:srgbClr val="12304A"/>
                </a:solidFill>
                <a:latin typeface="Arial" panose="020B0604020202020204" pitchFamily="34" charset="0"/>
              </a:rPr>
              <a:t>Resultado: cambiar el modelo en el servidor actualiza a todos sin reinstalar clientes.</a:t>
            </a:r>
          </a:p>
        </p:txBody>
      </p:sp>
    </p:spTree>
    <p:extLst>
      <p:ext uri="{BB962C8B-B14F-4D97-AF65-F5344CB8AC3E}">
        <p14:creationId xmlns:p14="http://schemas.microsoft.com/office/powerpoint/2010/main" val="2824587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BD8431CD-F86B-6447-2077-83190DA9D7AE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IMPLEMENTACIÓN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CE66A05E-8FD2-84F0-033E-A394B5A04DF5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tecnología prioriza claridad y control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A324981E-8C21-1089-5DA2-2E3A4AFBCCE8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E2DF812-C902-0EE7-C9A1-5828B9C9AF32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44871D2-C418-30EC-8FA3-A7CFD617EF30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7" name="Tech label">
            <a:extLst>
              <a:ext uri="{FF2B5EF4-FFF2-40B4-BE49-F238E27FC236}">
                <a16:creationId xmlns:a16="http://schemas.microsoft.com/office/drawing/2014/main" id="{CA0333AC-10F0-BC2D-7B11-20C7DC8F3B0F}"/>
              </a:ext>
            </a:extLst>
          </p:cNvPr>
          <p:cNvSpPr txBox="1"/>
          <p:nvPr/>
        </p:nvSpPr>
        <p:spPr>
          <a:xfrm>
            <a:off x="863600" y="16764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DECISIONES</a:t>
            </a:r>
          </a:p>
        </p:txBody>
      </p:sp>
      <p:sp>
        <p:nvSpPr>
          <p:cNvPr id="8" name="Python">
            <a:extLst>
              <a:ext uri="{FF2B5EF4-FFF2-40B4-BE49-F238E27FC236}">
                <a16:creationId xmlns:a16="http://schemas.microsoft.com/office/drawing/2014/main" id="{F5503B8C-BCCA-13AF-6D7A-3008F1F68B69}"/>
              </a:ext>
            </a:extLst>
          </p:cNvPr>
          <p:cNvSpPr txBox="1"/>
          <p:nvPr/>
        </p:nvSpPr>
        <p:spPr>
          <a:xfrm>
            <a:off x="863600" y="21590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Python</a:t>
            </a:r>
          </a:p>
        </p:txBody>
      </p:sp>
      <p:sp>
        <p:nvSpPr>
          <p:cNvPr id="9" name="Python reason">
            <a:extLst>
              <a:ext uri="{FF2B5EF4-FFF2-40B4-BE49-F238E27FC236}">
                <a16:creationId xmlns:a16="http://schemas.microsoft.com/office/drawing/2014/main" id="{1D4A8934-D7A7-D454-494F-92CB936BBF34}"/>
              </a:ext>
            </a:extLst>
          </p:cNvPr>
          <p:cNvSpPr txBox="1"/>
          <p:nvPr/>
        </p:nvSpPr>
        <p:spPr>
          <a:xfrm>
            <a:off x="3175000" y="21844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Núcleo, API, pruebas y automatización.</a:t>
            </a:r>
          </a:p>
        </p:txBody>
      </p:sp>
      <p:cxnSp>
        <p:nvCxnSpPr>
          <p:cNvPr id="10" name="Tech line">
            <a:extLst>
              <a:ext uri="{FF2B5EF4-FFF2-40B4-BE49-F238E27FC236}">
                <a16:creationId xmlns:a16="http://schemas.microsoft.com/office/drawing/2014/main" id="{1C682C96-51A3-E09A-EEFC-DC1C58BA44AC}"/>
              </a:ext>
            </a:extLst>
          </p:cNvPr>
          <p:cNvCxnSpPr/>
          <p:nvPr/>
        </p:nvCxnSpPr>
        <p:spPr>
          <a:xfrm>
            <a:off x="863600" y="28448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treamlit tech">
            <a:extLst>
              <a:ext uri="{FF2B5EF4-FFF2-40B4-BE49-F238E27FC236}">
                <a16:creationId xmlns:a16="http://schemas.microsoft.com/office/drawing/2014/main" id="{6AC7EADE-8AC2-9F79-B769-BB89C3A3A933}"/>
              </a:ext>
            </a:extLst>
          </p:cNvPr>
          <p:cNvSpPr txBox="1"/>
          <p:nvPr/>
        </p:nvSpPr>
        <p:spPr>
          <a:xfrm>
            <a:off x="863600" y="31242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Streamlit</a:t>
            </a:r>
          </a:p>
        </p:txBody>
      </p:sp>
      <p:sp>
        <p:nvSpPr>
          <p:cNvPr id="12" name="Streamlit reason">
            <a:extLst>
              <a:ext uri="{FF2B5EF4-FFF2-40B4-BE49-F238E27FC236}">
                <a16:creationId xmlns:a16="http://schemas.microsoft.com/office/drawing/2014/main" id="{3A11AF3B-6208-7269-378D-66A0A2680BF4}"/>
              </a:ext>
            </a:extLst>
          </p:cNvPr>
          <p:cNvSpPr txBox="1"/>
          <p:nvPr/>
        </p:nvSpPr>
        <p:spPr>
          <a:xfrm>
            <a:off x="3175000" y="31496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Cliente web rápido y adaptable.</a:t>
            </a:r>
          </a:p>
        </p:txBody>
      </p:sp>
      <p:cxnSp>
        <p:nvCxnSpPr>
          <p:cNvPr id="13" name="Tech line">
            <a:extLst>
              <a:ext uri="{FF2B5EF4-FFF2-40B4-BE49-F238E27FC236}">
                <a16:creationId xmlns:a16="http://schemas.microsoft.com/office/drawing/2014/main" id="{0E281BF2-30AA-5839-1106-0811ED666102}"/>
              </a:ext>
            </a:extLst>
          </p:cNvPr>
          <p:cNvCxnSpPr/>
          <p:nvPr/>
        </p:nvCxnSpPr>
        <p:spPr>
          <a:xfrm>
            <a:off x="863600" y="38100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klearn">
            <a:extLst>
              <a:ext uri="{FF2B5EF4-FFF2-40B4-BE49-F238E27FC236}">
                <a16:creationId xmlns:a16="http://schemas.microsoft.com/office/drawing/2014/main" id="{0AF15E3A-B23B-3A6B-1AA2-63392C9683C3}"/>
              </a:ext>
            </a:extLst>
          </p:cNvPr>
          <p:cNvSpPr txBox="1"/>
          <p:nvPr/>
        </p:nvSpPr>
        <p:spPr>
          <a:xfrm>
            <a:off x="863600" y="40894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100" b="1">
                <a:solidFill>
                  <a:srgbClr val="07131F"/>
                </a:solidFill>
                <a:latin typeface="Arial" panose="020B0604020202020204" pitchFamily="34" charset="0"/>
              </a:rPr>
              <a:t>scikit-learn</a:t>
            </a:r>
          </a:p>
        </p:txBody>
      </p:sp>
      <p:sp>
        <p:nvSpPr>
          <p:cNvPr id="15" name="Sklearn reason">
            <a:extLst>
              <a:ext uri="{FF2B5EF4-FFF2-40B4-BE49-F238E27FC236}">
                <a16:creationId xmlns:a16="http://schemas.microsoft.com/office/drawing/2014/main" id="{7C5753A7-9CCB-F345-033F-DB5CECFB728E}"/>
              </a:ext>
            </a:extLst>
          </p:cNvPr>
          <p:cNvSpPr txBox="1"/>
          <p:nvPr/>
        </p:nvSpPr>
        <p:spPr>
          <a:xfrm>
            <a:off x="3175000" y="41148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Pipeline reproducible TF-IDF + MLP.</a:t>
            </a:r>
          </a:p>
        </p:txBody>
      </p:sp>
      <p:cxnSp>
        <p:nvCxnSpPr>
          <p:cNvPr id="16" name="Tech line">
            <a:extLst>
              <a:ext uri="{FF2B5EF4-FFF2-40B4-BE49-F238E27FC236}">
                <a16:creationId xmlns:a16="http://schemas.microsoft.com/office/drawing/2014/main" id="{C42883B3-F450-4ABA-1685-8CA7C707433C}"/>
              </a:ext>
            </a:extLst>
          </p:cNvPr>
          <p:cNvCxnSpPr/>
          <p:nvPr/>
        </p:nvCxnSpPr>
        <p:spPr>
          <a:xfrm>
            <a:off x="863600" y="4775200"/>
            <a:ext cx="4724400" cy="0"/>
          </a:xfrm>
          <a:prstGeom prst="line">
            <a:avLst/>
          </a:prstGeom>
          <a:ln w="1270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ntegrations">
            <a:extLst>
              <a:ext uri="{FF2B5EF4-FFF2-40B4-BE49-F238E27FC236}">
                <a16:creationId xmlns:a16="http://schemas.microsoft.com/office/drawing/2014/main" id="{1AEC99C8-54EB-5AB4-87B6-5FF0222AB094}"/>
              </a:ext>
            </a:extLst>
          </p:cNvPr>
          <p:cNvSpPr txBox="1"/>
          <p:nvPr/>
        </p:nvSpPr>
        <p:spPr>
          <a:xfrm>
            <a:off x="863600" y="50546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Gmail + Telegram</a:t>
            </a:r>
          </a:p>
        </p:txBody>
      </p:sp>
      <p:sp>
        <p:nvSpPr>
          <p:cNvPr id="18" name="Integrations reason">
            <a:extLst>
              <a:ext uri="{FF2B5EF4-FFF2-40B4-BE49-F238E27FC236}">
                <a16:creationId xmlns:a16="http://schemas.microsoft.com/office/drawing/2014/main" id="{E2B812B3-A1E9-A265-8927-4C8BB6FB0153}"/>
              </a:ext>
            </a:extLst>
          </p:cNvPr>
          <p:cNvSpPr txBox="1"/>
          <p:nvPr/>
        </p:nvSpPr>
        <p:spPr>
          <a:xfrm>
            <a:off x="3175000" y="5080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Entrada OAuth y alertas opcionales.</a:t>
            </a:r>
          </a:p>
        </p:txBody>
      </p:sp>
      <p:sp>
        <p:nvSpPr>
          <p:cNvPr id="19" name="Security field">
            <a:extLst>
              <a:ext uri="{FF2B5EF4-FFF2-40B4-BE49-F238E27FC236}">
                <a16:creationId xmlns:a16="http://schemas.microsoft.com/office/drawing/2014/main" id="{3671883D-2D6C-8F47-55C7-B73525D5F3C1}"/>
              </a:ext>
            </a:extLst>
          </p:cNvPr>
          <p:cNvSpPr/>
          <p:nvPr/>
        </p:nvSpPr>
        <p:spPr>
          <a:xfrm>
            <a:off x="6553200" y="1676400"/>
            <a:ext cx="4724400" cy="4089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Security label">
            <a:extLst>
              <a:ext uri="{FF2B5EF4-FFF2-40B4-BE49-F238E27FC236}">
                <a16:creationId xmlns:a16="http://schemas.microsoft.com/office/drawing/2014/main" id="{EE424743-E803-ABA2-839E-52301B4157A2}"/>
              </a:ext>
            </a:extLst>
          </p:cNvPr>
          <p:cNvSpPr txBox="1"/>
          <p:nvPr/>
        </p:nvSpPr>
        <p:spPr>
          <a:xfrm>
            <a:off x="6908800" y="2032000"/>
            <a:ext cx="393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CCFBF1"/>
                </a:solidFill>
                <a:latin typeface="Arial" panose="020B0604020202020204" pitchFamily="34" charset="0"/>
              </a:rPr>
              <a:t>CONTROLES DEL PROTOTIPO</a:t>
            </a:r>
          </a:p>
        </p:txBody>
      </p:sp>
      <p:sp>
        <p:nvSpPr>
          <p:cNvPr id="21" name="Security list">
            <a:extLst>
              <a:ext uri="{FF2B5EF4-FFF2-40B4-BE49-F238E27FC236}">
                <a16:creationId xmlns:a16="http://schemas.microsoft.com/office/drawing/2014/main" id="{29D4BCE9-DDB2-6B0F-6B6A-A77CE1BBE2C1}"/>
              </a:ext>
            </a:extLst>
          </p:cNvPr>
          <p:cNvSpPr txBox="1"/>
          <p:nvPr/>
        </p:nvSpPr>
        <p:spPr>
          <a:xfrm>
            <a:off x="6908800" y="2565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>
                <a:solidFill>
                  <a:srgbClr val="FFFFFF"/>
                </a:solidFill>
                <a:latin typeface="Arial" panose="020B0604020202020204" pitchFamily="34" charset="0"/>
              </a:rPr>
              <a:t>• Backend en loopback por defecto
• Límites de petición y rutas seguras
• Orígenes CORS restringidos
• Credenciales fuera de Git
• Escrituras y activación atómicas
• Sin ejecución de adjuntos</a:t>
            </a:r>
          </a:p>
        </p:txBody>
      </p:sp>
      <p:sp>
        <p:nvSpPr>
          <p:cNvPr id="22" name="Security caveat">
            <a:extLst>
              <a:ext uri="{FF2B5EF4-FFF2-40B4-BE49-F238E27FC236}">
                <a16:creationId xmlns:a16="http://schemas.microsoft.com/office/drawing/2014/main" id="{436BD864-833B-9BEC-FDD0-C00BD3B92BFE}"/>
              </a:ext>
            </a:extLst>
          </p:cNvPr>
          <p:cNvSpPr txBox="1"/>
          <p:nvPr/>
        </p:nvSpPr>
        <p:spPr>
          <a:xfrm>
            <a:off x="6908800" y="4953000"/>
            <a:ext cx="370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C9D7E0"/>
                </a:solidFill>
                <a:latin typeface="Arial" panose="020B0604020202020204" pitchFamily="34" charset="0"/>
              </a:rPr>
              <a:t>Un despliegue público requeriría TLS, autenticación y aislamiento multiusuario.</a:t>
            </a:r>
          </a:p>
        </p:txBody>
      </p:sp>
    </p:spTree>
    <p:extLst>
      <p:ext uri="{BB962C8B-B14F-4D97-AF65-F5344CB8AC3E}">
        <p14:creationId xmlns:p14="http://schemas.microsoft.com/office/powerpoint/2010/main" val="3475064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7B3E4D2E-1894-F228-9880-E4715829810C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EVALUACIÓN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2751B266-5C00-8145-E63C-B2367509B9F1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evaluación separa ajuste y comprobación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3176E519-7FC8-7BC0-CA6A-3A57F9879662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7E321A63-508A-5D2D-D5CF-6D1261A8A9EC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EC3BF54-7720-E738-C1CA-D7903F620253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9</a:t>
            </a:r>
          </a:p>
        </p:txBody>
      </p:sp>
      <p:cxnSp>
        <p:nvCxnSpPr>
          <p:cNvPr id="7" name="Evaluation timeline">
            <a:extLst>
              <a:ext uri="{FF2B5EF4-FFF2-40B4-BE49-F238E27FC236}">
                <a16:creationId xmlns:a16="http://schemas.microsoft.com/office/drawing/2014/main" id="{06205B3C-A5D7-6F3E-DE97-0C3DAF84DEFD}"/>
              </a:ext>
            </a:extLst>
          </p:cNvPr>
          <p:cNvCxnSpPr/>
          <p:nvPr/>
        </p:nvCxnSpPr>
        <p:spPr>
          <a:xfrm>
            <a:off x="1244600" y="3429000"/>
            <a:ext cx="9702800" cy="0"/>
          </a:xfrm>
          <a:prstGeom prst="line">
            <a:avLst/>
          </a:prstGeom>
          <a:ln w="19050">
            <a:solidFill>
              <a:srgbClr val="0713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valuation dot">
            <a:extLst>
              <a:ext uri="{FF2B5EF4-FFF2-40B4-BE49-F238E27FC236}">
                <a16:creationId xmlns:a16="http://schemas.microsoft.com/office/drawing/2014/main" id="{7BEB0CBF-6FA1-7AEA-6230-BE532A0098AE}"/>
              </a:ext>
            </a:extLst>
          </p:cNvPr>
          <p:cNvSpPr/>
          <p:nvPr/>
        </p:nvSpPr>
        <p:spPr>
          <a:xfrm>
            <a:off x="15240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Evaluation dot">
            <a:extLst>
              <a:ext uri="{FF2B5EF4-FFF2-40B4-BE49-F238E27FC236}">
                <a16:creationId xmlns:a16="http://schemas.microsoft.com/office/drawing/2014/main" id="{9AF19158-5B10-E7C2-2F35-1FAAC7F6D2DA}"/>
              </a:ext>
            </a:extLst>
          </p:cNvPr>
          <p:cNvSpPr/>
          <p:nvPr/>
        </p:nvSpPr>
        <p:spPr>
          <a:xfrm>
            <a:off x="52324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Evaluation dot">
            <a:extLst>
              <a:ext uri="{FF2B5EF4-FFF2-40B4-BE49-F238E27FC236}">
                <a16:creationId xmlns:a16="http://schemas.microsoft.com/office/drawing/2014/main" id="{A9A9E146-90E1-9E73-EEE2-A1C507E81A00}"/>
              </a:ext>
            </a:extLst>
          </p:cNvPr>
          <p:cNvSpPr/>
          <p:nvPr/>
        </p:nvSpPr>
        <p:spPr>
          <a:xfrm>
            <a:off x="8940800" y="3327400"/>
            <a:ext cx="203200" cy="203200"/>
          </a:xfrm>
          <a:prstGeom prst="ellipse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valuation metric">
            <a:extLst>
              <a:ext uri="{FF2B5EF4-FFF2-40B4-BE49-F238E27FC236}">
                <a16:creationId xmlns:a16="http://schemas.microsoft.com/office/drawing/2014/main" id="{6E0013BF-4D43-9DF7-C7CE-A8B5B716A11E}"/>
              </a:ext>
            </a:extLst>
          </p:cNvPr>
          <p:cNvSpPr txBox="1"/>
          <p:nvPr/>
        </p:nvSpPr>
        <p:spPr>
          <a:xfrm>
            <a:off x="10922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1.148 + 209</a:t>
            </a:r>
          </a:p>
        </p:txBody>
      </p:sp>
      <p:sp>
        <p:nvSpPr>
          <p:cNvPr id="12" name="Evaluation title">
            <a:extLst>
              <a:ext uri="{FF2B5EF4-FFF2-40B4-BE49-F238E27FC236}">
                <a16:creationId xmlns:a16="http://schemas.microsoft.com/office/drawing/2014/main" id="{53A58565-F70B-12CD-6A95-C7691E9DBE51}"/>
              </a:ext>
            </a:extLst>
          </p:cNvPr>
          <p:cNvSpPr txBox="1"/>
          <p:nvPr/>
        </p:nvSpPr>
        <p:spPr>
          <a:xfrm>
            <a:off x="10922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Corpus español</a:t>
            </a:r>
          </a:p>
        </p:txBody>
      </p:sp>
      <p:sp>
        <p:nvSpPr>
          <p:cNvPr id="13" name="Evaluation detail">
            <a:extLst>
              <a:ext uri="{FF2B5EF4-FFF2-40B4-BE49-F238E27FC236}">
                <a16:creationId xmlns:a16="http://schemas.microsoft.com/office/drawing/2014/main" id="{9A1923C4-4AE8-ED7A-805F-6D238F1A1F80}"/>
              </a:ext>
            </a:extLst>
          </p:cNvPr>
          <p:cNvSpPr txBox="1"/>
          <p:nvPr/>
        </p:nvSpPr>
        <p:spPr>
          <a:xfrm>
            <a:off x="10922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Entrenamiento limpio y split oficial de prueba sin solapamientos.</a:t>
            </a:r>
          </a:p>
        </p:txBody>
      </p:sp>
      <p:sp>
        <p:nvSpPr>
          <p:cNvPr id="14" name="Evaluation metric">
            <a:extLst>
              <a:ext uri="{FF2B5EF4-FFF2-40B4-BE49-F238E27FC236}">
                <a16:creationId xmlns:a16="http://schemas.microsoft.com/office/drawing/2014/main" id="{C6C1CCFF-4EAD-8E0E-140D-BE8C6E5B8091}"/>
              </a:ext>
            </a:extLst>
          </p:cNvPr>
          <p:cNvSpPr txBox="1"/>
          <p:nvPr/>
        </p:nvSpPr>
        <p:spPr>
          <a:xfrm>
            <a:off x="48006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65.661 + 16.416</a:t>
            </a:r>
          </a:p>
        </p:txBody>
      </p:sp>
      <p:sp>
        <p:nvSpPr>
          <p:cNvPr id="15" name="Evaluation title">
            <a:extLst>
              <a:ext uri="{FF2B5EF4-FFF2-40B4-BE49-F238E27FC236}">
                <a16:creationId xmlns:a16="http://schemas.microsoft.com/office/drawing/2014/main" id="{1D25C58E-4E8B-9471-F2E7-17CF91BBBECE}"/>
              </a:ext>
            </a:extLst>
          </p:cNvPr>
          <p:cNvSpPr txBox="1"/>
          <p:nvPr/>
        </p:nvSpPr>
        <p:spPr>
          <a:xfrm>
            <a:off x="48006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Corpus inglés</a:t>
            </a:r>
          </a:p>
        </p:txBody>
      </p:sp>
      <p:sp>
        <p:nvSpPr>
          <p:cNvPr id="16" name="Evaluation detail">
            <a:extLst>
              <a:ext uri="{FF2B5EF4-FFF2-40B4-BE49-F238E27FC236}">
                <a16:creationId xmlns:a16="http://schemas.microsoft.com/office/drawing/2014/main" id="{0131F974-AF2C-86F1-B1AC-C2ECDB952C29}"/>
              </a:ext>
            </a:extLst>
          </p:cNvPr>
          <p:cNvSpPr txBox="1"/>
          <p:nvPr/>
        </p:nvSpPr>
        <p:spPr>
          <a:xfrm>
            <a:off x="48006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División 80/20 estratificada tras deduplicar el CSV agregado.</a:t>
            </a:r>
          </a:p>
        </p:txBody>
      </p:sp>
      <p:sp>
        <p:nvSpPr>
          <p:cNvPr id="17" name="Evaluation metric">
            <a:extLst>
              <a:ext uri="{FF2B5EF4-FFF2-40B4-BE49-F238E27FC236}">
                <a16:creationId xmlns:a16="http://schemas.microsoft.com/office/drawing/2014/main" id="{EA78AB91-1416-D00C-2E46-3D97DBE45F26}"/>
              </a:ext>
            </a:extLst>
          </p:cNvPr>
          <p:cNvSpPr txBox="1"/>
          <p:nvPr/>
        </p:nvSpPr>
        <p:spPr>
          <a:xfrm>
            <a:off x="8509000" y="233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300" b="1">
                <a:solidFill>
                  <a:srgbClr val="07131F"/>
                </a:solidFill>
                <a:latin typeface="Arial" panose="020B0604020202020204" pitchFamily="34" charset="0"/>
              </a:rPr>
              <a:t>40 + 16 EML</a:t>
            </a:r>
          </a:p>
        </p:txBody>
      </p:sp>
      <p:sp>
        <p:nvSpPr>
          <p:cNvPr id="18" name="Evaluation title">
            <a:extLst>
              <a:ext uri="{FF2B5EF4-FFF2-40B4-BE49-F238E27FC236}">
                <a16:creationId xmlns:a16="http://schemas.microsoft.com/office/drawing/2014/main" id="{24D919EC-E5FD-F251-6837-F8595F9D1325}"/>
              </a:ext>
            </a:extLst>
          </p:cNvPr>
          <p:cNvSpPr txBox="1"/>
          <p:nvPr/>
        </p:nvSpPr>
        <p:spPr>
          <a:xfrm>
            <a:off x="8509000" y="3962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Sistema completo</a:t>
            </a:r>
          </a:p>
        </p:txBody>
      </p:sp>
      <p:sp>
        <p:nvSpPr>
          <p:cNvPr id="19" name="Evaluation detail">
            <a:extLst>
              <a:ext uri="{FF2B5EF4-FFF2-40B4-BE49-F238E27FC236}">
                <a16:creationId xmlns:a16="http://schemas.microsoft.com/office/drawing/2014/main" id="{45135867-B344-AE86-993C-F321D4E15B41}"/>
              </a:ext>
            </a:extLst>
          </p:cNvPr>
          <p:cNvSpPr txBox="1"/>
          <p:nvPr/>
        </p:nvSpPr>
        <p:spPr>
          <a:xfrm>
            <a:off x="8509000" y="44577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Calibración separada y comprobación bilingüe con MIME y cabeceras.</a:t>
            </a:r>
          </a:p>
        </p:txBody>
      </p:sp>
      <p:sp>
        <p:nvSpPr>
          <p:cNvPr id="20" name="Evaluation caveat">
            <a:extLst>
              <a:ext uri="{FF2B5EF4-FFF2-40B4-BE49-F238E27FC236}">
                <a16:creationId xmlns:a16="http://schemas.microsoft.com/office/drawing/2014/main" id="{FAEF2F3A-E7D9-441A-1280-0A08B7E7886A}"/>
              </a:ext>
            </a:extLst>
          </p:cNvPr>
          <p:cNvSpPr txBox="1"/>
          <p:nvPr/>
        </p:nvSpPr>
        <p:spPr>
          <a:xfrm>
            <a:off x="1676400" y="5778500"/>
            <a:ext cx="883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700" b="1">
                <a:solidFill>
                  <a:srgbClr val="B42318"/>
                </a:solidFill>
                <a:latin typeface="Arial" panose="020B0604020202020204" pitchFamily="34" charset="0"/>
              </a:rPr>
              <a:t>Principio metodológico: ninguna muestra se presenta como estimación de producción.</a:t>
            </a:r>
          </a:p>
        </p:txBody>
      </p:sp>
    </p:spTree>
    <p:extLst>
      <p:ext uri="{BB962C8B-B14F-4D97-AF65-F5344CB8AC3E}">
        <p14:creationId xmlns:p14="http://schemas.microsoft.com/office/powerpoint/2010/main" val="2361985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BF86F60E-D99A-81C9-2AA6-825D3906012F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RESULTADOS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3B65D5C4-D22B-51A7-59D9-1DB2786A4B34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El modo combinado evita falsos negativos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BEE996D4-187C-1998-FBC6-DDC08D1FC8CC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0685FB68-2E7A-E53E-4953-4E278CEB9503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957D524-B617-2858-CFCF-ADCC274E72FE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10</a:t>
            </a:r>
          </a:p>
        </p:txBody>
      </p:sp>
      <p:sp>
        <p:nvSpPr>
          <p:cNvPr id="7" name="Chart subtitle">
            <a:extLst>
              <a:ext uri="{FF2B5EF4-FFF2-40B4-BE49-F238E27FC236}">
                <a16:creationId xmlns:a16="http://schemas.microsoft.com/office/drawing/2014/main" id="{09A4AFD2-BB71-D63A-2349-6337D95C5439}"/>
              </a:ext>
            </a:extLst>
          </p:cNvPr>
          <p:cNvSpPr txBox="1"/>
          <p:nvPr/>
        </p:nvSpPr>
        <p:spPr>
          <a:xfrm>
            <a:off x="863600" y="1435100"/>
            <a:ext cx="520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6A8192"/>
                </a:solidFill>
                <a:latin typeface="Arial" panose="020B0604020202020204" pitchFamily="34" charset="0"/>
              </a:rPr>
              <a:t>Evaluación final · 16 EML reservados</a:t>
            </a:r>
          </a:p>
        </p:txBody>
      </p:sp>
      <p:cxnSp>
        <p:nvCxnSpPr>
          <p:cNvPr id="8" name="Chart axis">
            <a:extLst>
              <a:ext uri="{FF2B5EF4-FFF2-40B4-BE49-F238E27FC236}">
                <a16:creationId xmlns:a16="http://schemas.microsoft.com/office/drawing/2014/main" id="{6C206354-37C7-1330-FE27-A29A36E942F8}"/>
              </a:ext>
            </a:extLst>
          </p:cNvPr>
          <p:cNvCxnSpPr/>
          <p:nvPr/>
        </p:nvCxnSpPr>
        <p:spPr>
          <a:xfrm>
            <a:off x="2565400" y="5816600"/>
            <a:ext cx="4826000" cy="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rid 0">
            <a:extLst>
              <a:ext uri="{FF2B5EF4-FFF2-40B4-BE49-F238E27FC236}">
                <a16:creationId xmlns:a16="http://schemas.microsoft.com/office/drawing/2014/main" id="{44D97308-6955-D283-55E1-84554294C388}"/>
              </a:ext>
            </a:extLst>
          </p:cNvPr>
          <p:cNvCxnSpPr/>
          <p:nvPr/>
        </p:nvCxnSpPr>
        <p:spPr>
          <a:xfrm>
            <a:off x="2565400" y="2235200"/>
            <a:ext cx="0" cy="35814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ck 0">
            <a:extLst>
              <a:ext uri="{FF2B5EF4-FFF2-40B4-BE49-F238E27FC236}">
                <a16:creationId xmlns:a16="http://schemas.microsoft.com/office/drawing/2014/main" id="{8ECE95AB-0836-F23F-2896-A123B0242865}"/>
              </a:ext>
            </a:extLst>
          </p:cNvPr>
          <p:cNvSpPr txBox="1"/>
          <p:nvPr/>
        </p:nvSpPr>
        <p:spPr>
          <a:xfrm>
            <a:off x="2387600" y="59309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0</a:t>
            </a:r>
          </a:p>
        </p:txBody>
      </p:sp>
      <p:cxnSp>
        <p:nvCxnSpPr>
          <p:cNvPr id="11" name="Grid 25">
            <a:extLst>
              <a:ext uri="{FF2B5EF4-FFF2-40B4-BE49-F238E27FC236}">
                <a16:creationId xmlns:a16="http://schemas.microsoft.com/office/drawing/2014/main" id="{32735625-DE36-4622-AD9B-44BA2E88B7F5}"/>
              </a:ext>
            </a:extLst>
          </p:cNvPr>
          <p:cNvCxnSpPr/>
          <p:nvPr/>
        </p:nvCxnSpPr>
        <p:spPr>
          <a:xfrm>
            <a:off x="3771900" y="2235200"/>
            <a:ext cx="0" cy="35814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ck 25">
            <a:extLst>
              <a:ext uri="{FF2B5EF4-FFF2-40B4-BE49-F238E27FC236}">
                <a16:creationId xmlns:a16="http://schemas.microsoft.com/office/drawing/2014/main" id="{FAF0B68E-1754-7BCA-4DB1-22F40EAFA254}"/>
              </a:ext>
            </a:extLst>
          </p:cNvPr>
          <p:cNvSpPr txBox="1"/>
          <p:nvPr/>
        </p:nvSpPr>
        <p:spPr>
          <a:xfrm>
            <a:off x="3594100" y="59309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25</a:t>
            </a:r>
          </a:p>
        </p:txBody>
      </p:sp>
      <p:cxnSp>
        <p:nvCxnSpPr>
          <p:cNvPr id="13" name="Grid 50">
            <a:extLst>
              <a:ext uri="{FF2B5EF4-FFF2-40B4-BE49-F238E27FC236}">
                <a16:creationId xmlns:a16="http://schemas.microsoft.com/office/drawing/2014/main" id="{9A7C08D4-7017-87E6-F17B-A673D5FBC5B0}"/>
              </a:ext>
            </a:extLst>
          </p:cNvPr>
          <p:cNvCxnSpPr/>
          <p:nvPr/>
        </p:nvCxnSpPr>
        <p:spPr>
          <a:xfrm>
            <a:off x="4978400" y="2235200"/>
            <a:ext cx="0" cy="35814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ck 50">
            <a:extLst>
              <a:ext uri="{FF2B5EF4-FFF2-40B4-BE49-F238E27FC236}">
                <a16:creationId xmlns:a16="http://schemas.microsoft.com/office/drawing/2014/main" id="{95EF9C77-D69C-F424-C63A-41CF740FBA77}"/>
              </a:ext>
            </a:extLst>
          </p:cNvPr>
          <p:cNvSpPr txBox="1"/>
          <p:nvPr/>
        </p:nvSpPr>
        <p:spPr>
          <a:xfrm>
            <a:off x="4800600" y="59309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50</a:t>
            </a:r>
          </a:p>
        </p:txBody>
      </p:sp>
      <p:cxnSp>
        <p:nvCxnSpPr>
          <p:cNvPr id="15" name="Grid 75">
            <a:extLst>
              <a:ext uri="{FF2B5EF4-FFF2-40B4-BE49-F238E27FC236}">
                <a16:creationId xmlns:a16="http://schemas.microsoft.com/office/drawing/2014/main" id="{BF4CEC79-A9A6-840D-2026-BC7BED969772}"/>
              </a:ext>
            </a:extLst>
          </p:cNvPr>
          <p:cNvCxnSpPr/>
          <p:nvPr/>
        </p:nvCxnSpPr>
        <p:spPr>
          <a:xfrm>
            <a:off x="6184900" y="2235200"/>
            <a:ext cx="0" cy="35814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ick 75">
            <a:extLst>
              <a:ext uri="{FF2B5EF4-FFF2-40B4-BE49-F238E27FC236}">
                <a16:creationId xmlns:a16="http://schemas.microsoft.com/office/drawing/2014/main" id="{A7037740-3B07-5BEE-2A3D-6E6126C4B5E5}"/>
              </a:ext>
            </a:extLst>
          </p:cNvPr>
          <p:cNvSpPr txBox="1"/>
          <p:nvPr/>
        </p:nvSpPr>
        <p:spPr>
          <a:xfrm>
            <a:off x="6007100" y="59309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75</a:t>
            </a:r>
          </a:p>
        </p:txBody>
      </p:sp>
      <p:cxnSp>
        <p:nvCxnSpPr>
          <p:cNvPr id="17" name="Grid 100">
            <a:extLst>
              <a:ext uri="{FF2B5EF4-FFF2-40B4-BE49-F238E27FC236}">
                <a16:creationId xmlns:a16="http://schemas.microsoft.com/office/drawing/2014/main" id="{085C963E-8C34-4390-3D23-0A524FB192DD}"/>
              </a:ext>
            </a:extLst>
          </p:cNvPr>
          <p:cNvCxnSpPr/>
          <p:nvPr/>
        </p:nvCxnSpPr>
        <p:spPr>
          <a:xfrm>
            <a:off x="7391400" y="2235200"/>
            <a:ext cx="0" cy="3581400"/>
          </a:xfrm>
          <a:prstGeom prst="line">
            <a:avLst/>
          </a:prstGeom>
          <a:ln w="889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ick 100">
            <a:extLst>
              <a:ext uri="{FF2B5EF4-FFF2-40B4-BE49-F238E27FC236}">
                <a16:creationId xmlns:a16="http://schemas.microsoft.com/office/drawing/2014/main" id="{4E300757-10C4-965F-74A3-D3B809770347}"/>
              </a:ext>
            </a:extLst>
          </p:cNvPr>
          <p:cNvSpPr txBox="1"/>
          <p:nvPr/>
        </p:nvSpPr>
        <p:spPr>
          <a:xfrm>
            <a:off x="7213600" y="59309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19" name="Legend swatch">
            <a:extLst>
              <a:ext uri="{FF2B5EF4-FFF2-40B4-BE49-F238E27FC236}">
                <a16:creationId xmlns:a16="http://schemas.microsoft.com/office/drawing/2014/main" id="{AFE2A7E5-9D51-8B0C-78F3-8DB0BCB48F4B}"/>
              </a:ext>
            </a:extLst>
          </p:cNvPr>
          <p:cNvSpPr/>
          <p:nvPr/>
        </p:nvSpPr>
        <p:spPr>
          <a:xfrm>
            <a:off x="2667000" y="1905000"/>
            <a:ext cx="139700" cy="1397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Legend">
            <a:extLst>
              <a:ext uri="{FF2B5EF4-FFF2-40B4-BE49-F238E27FC236}">
                <a16:creationId xmlns:a16="http://schemas.microsoft.com/office/drawing/2014/main" id="{D08BF4B8-83E9-FCB6-C33E-95D94EE8F246}"/>
              </a:ext>
            </a:extLst>
          </p:cNvPr>
          <p:cNvSpPr txBox="1"/>
          <p:nvPr/>
        </p:nvSpPr>
        <p:spPr>
          <a:xfrm>
            <a:off x="2882900" y="18542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Accuracy</a:t>
            </a:r>
          </a:p>
        </p:txBody>
      </p:sp>
      <p:sp>
        <p:nvSpPr>
          <p:cNvPr id="21" name="Legend swatch">
            <a:extLst>
              <a:ext uri="{FF2B5EF4-FFF2-40B4-BE49-F238E27FC236}">
                <a16:creationId xmlns:a16="http://schemas.microsoft.com/office/drawing/2014/main" id="{9D8315AB-AF06-3FFC-D9C8-7D15D82A606B}"/>
              </a:ext>
            </a:extLst>
          </p:cNvPr>
          <p:cNvSpPr/>
          <p:nvPr/>
        </p:nvSpPr>
        <p:spPr>
          <a:xfrm>
            <a:off x="3937000" y="1905000"/>
            <a:ext cx="139700" cy="1397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Legend">
            <a:extLst>
              <a:ext uri="{FF2B5EF4-FFF2-40B4-BE49-F238E27FC236}">
                <a16:creationId xmlns:a16="http://schemas.microsoft.com/office/drawing/2014/main" id="{9FFFBCDF-34A8-0C86-973B-C9F5DECA33B7}"/>
              </a:ext>
            </a:extLst>
          </p:cNvPr>
          <p:cNvSpPr txBox="1"/>
          <p:nvPr/>
        </p:nvSpPr>
        <p:spPr>
          <a:xfrm>
            <a:off x="4152900" y="18542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Recall</a:t>
            </a:r>
          </a:p>
        </p:txBody>
      </p:sp>
      <p:sp>
        <p:nvSpPr>
          <p:cNvPr id="23" name="Legend swatch">
            <a:extLst>
              <a:ext uri="{FF2B5EF4-FFF2-40B4-BE49-F238E27FC236}">
                <a16:creationId xmlns:a16="http://schemas.microsoft.com/office/drawing/2014/main" id="{4C67968C-A41E-9D84-4CD7-D9F5EDBE6AD0}"/>
              </a:ext>
            </a:extLst>
          </p:cNvPr>
          <p:cNvSpPr/>
          <p:nvPr/>
        </p:nvSpPr>
        <p:spPr>
          <a:xfrm>
            <a:off x="5207000" y="1905000"/>
            <a:ext cx="139700" cy="1397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Legend">
            <a:extLst>
              <a:ext uri="{FF2B5EF4-FFF2-40B4-BE49-F238E27FC236}">
                <a16:creationId xmlns:a16="http://schemas.microsoft.com/office/drawing/2014/main" id="{6A7BE21E-50F2-5C0D-4D49-3533C03FE570}"/>
              </a:ext>
            </a:extLst>
          </p:cNvPr>
          <p:cNvSpPr txBox="1"/>
          <p:nvPr/>
        </p:nvSpPr>
        <p:spPr>
          <a:xfrm>
            <a:off x="5422900" y="1854200"/>
            <a:ext cx="914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>
                <a:solidFill>
                  <a:srgbClr val="49657A"/>
                </a:solidFill>
                <a:latin typeface="Arial" panose="020B0604020202020204" pitchFamily="34" charset="0"/>
              </a:rPr>
              <a:t>F1</a:t>
            </a:r>
          </a:p>
        </p:txBody>
      </p:sp>
      <p:sp>
        <p:nvSpPr>
          <p:cNvPr id="25" name="Mode label">
            <a:extLst>
              <a:ext uri="{FF2B5EF4-FFF2-40B4-BE49-F238E27FC236}">
                <a16:creationId xmlns:a16="http://schemas.microsoft.com/office/drawing/2014/main" id="{911A69E7-4A36-43E7-9880-0F8B1D8A5AF2}"/>
              </a:ext>
            </a:extLst>
          </p:cNvPr>
          <p:cNvSpPr txBox="1"/>
          <p:nvPr/>
        </p:nvSpPr>
        <p:spPr>
          <a:xfrm>
            <a:off x="863600" y="26797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Heurístico</a:t>
            </a:r>
          </a:p>
        </p:txBody>
      </p:sp>
      <p:sp>
        <p:nvSpPr>
          <p:cNvPr id="26" name="Result bar">
            <a:extLst>
              <a:ext uri="{FF2B5EF4-FFF2-40B4-BE49-F238E27FC236}">
                <a16:creationId xmlns:a16="http://schemas.microsoft.com/office/drawing/2014/main" id="{09ECC826-4802-ED66-78A6-FDD506A6D87D}"/>
              </a:ext>
            </a:extLst>
          </p:cNvPr>
          <p:cNvSpPr/>
          <p:nvPr/>
        </p:nvSpPr>
        <p:spPr>
          <a:xfrm>
            <a:off x="2565400" y="2514600"/>
            <a:ext cx="4826000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sult value">
            <a:extLst>
              <a:ext uri="{FF2B5EF4-FFF2-40B4-BE49-F238E27FC236}">
                <a16:creationId xmlns:a16="http://schemas.microsoft.com/office/drawing/2014/main" id="{7BB9BCAD-231B-C6AB-814B-288535B1A27D}"/>
              </a:ext>
            </a:extLst>
          </p:cNvPr>
          <p:cNvSpPr txBox="1"/>
          <p:nvPr/>
        </p:nvSpPr>
        <p:spPr>
          <a:xfrm>
            <a:off x="7467600" y="25019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28" name="Result bar">
            <a:extLst>
              <a:ext uri="{FF2B5EF4-FFF2-40B4-BE49-F238E27FC236}">
                <a16:creationId xmlns:a16="http://schemas.microsoft.com/office/drawing/2014/main" id="{06C53BF8-6C55-3394-1EF5-ACAE47613164}"/>
              </a:ext>
            </a:extLst>
          </p:cNvPr>
          <p:cNvSpPr/>
          <p:nvPr/>
        </p:nvSpPr>
        <p:spPr>
          <a:xfrm>
            <a:off x="2565400" y="2781300"/>
            <a:ext cx="48260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sult value">
            <a:extLst>
              <a:ext uri="{FF2B5EF4-FFF2-40B4-BE49-F238E27FC236}">
                <a16:creationId xmlns:a16="http://schemas.microsoft.com/office/drawing/2014/main" id="{E030619D-4BD0-93BB-AB13-99D14F14CFF3}"/>
              </a:ext>
            </a:extLst>
          </p:cNvPr>
          <p:cNvSpPr txBox="1"/>
          <p:nvPr/>
        </p:nvSpPr>
        <p:spPr>
          <a:xfrm>
            <a:off x="7467600" y="27686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30" name="Result bar">
            <a:extLst>
              <a:ext uri="{FF2B5EF4-FFF2-40B4-BE49-F238E27FC236}">
                <a16:creationId xmlns:a16="http://schemas.microsoft.com/office/drawing/2014/main" id="{155756F1-4DC5-AC81-1A0F-475A35E7A958}"/>
              </a:ext>
            </a:extLst>
          </p:cNvPr>
          <p:cNvSpPr/>
          <p:nvPr/>
        </p:nvSpPr>
        <p:spPr>
          <a:xfrm>
            <a:off x="2565400" y="3048000"/>
            <a:ext cx="4826000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sult value">
            <a:extLst>
              <a:ext uri="{FF2B5EF4-FFF2-40B4-BE49-F238E27FC236}">
                <a16:creationId xmlns:a16="http://schemas.microsoft.com/office/drawing/2014/main" id="{FE527660-5C73-BCFA-6AFA-CD9E9085EF1C}"/>
              </a:ext>
            </a:extLst>
          </p:cNvPr>
          <p:cNvSpPr txBox="1"/>
          <p:nvPr/>
        </p:nvSpPr>
        <p:spPr>
          <a:xfrm>
            <a:off x="7467600" y="30353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32" name="Mode label">
            <a:extLst>
              <a:ext uri="{FF2B5EF4-FFF2-40B4-BE49-F238E27FC236}">
                <a16:creationId xmlns:a16="http://schemas.microsoft.com/office/drawing/2014/main" id="{6850A37A-5D92-407B-0BA3-9B2773241444}"/>
              </a:ext>
            </a:extLst>
          </p:cNvPr>
          <p:cNvSpPr txBox="1"/>
          <p:nvPr/>
        </p:nvSpPr>
        <p:spPr>
          <a:xfrm>
            <a:off x="863600" y="38735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Neuronal</a:t>
            </a:r>
          </a:p>
        </p:txBody>
      </p:sp>
      <p:sp>
        <p:nvSpPr>
          <p:cNvPr id="33" name="Result bar">
            <a:extLst>
              <a:ext uri="{FF2B5EF4-FFF2-40B4-BE49-F238E27FC236}">
                <a16:creationId xmlns:a16="http://schemas.microsoft.com/office/drawing/2014/main" id="{7B506F11-B677-0E37-0C6A-920A10DB68A2}"/>
              </a:ext>
            </a:extLst>
          </p:cNvPr>
          <p:cNvSpPr/>
          <p:nvPr/>
        </p:nvSpPr>
        <p:spPr>
          <a:xfrm>
            <a:off x="2565400" y="3708400"/>
            <a:ext cx="3918712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sult value">
            <a:extLst>
              <a:ext uri="{FF2B5EF4-FFF2-40B4-BE49-F238E27FC236}">
                <a16:creationId xmlns:a16="http://schemas.microsoft.com/office/drawing/2014/main" id="{E8D3B060-6CDC-C36E-7294-6B49F49FCA2F}"/>
              </a:ext>
            </a:extLst>
          </p:cNvPr>
          <p:cNvSpPr txBox="1"/>
          <p:nvPr/>
        </p:nvSpPr>
        <p:spPr>
          <a:xfrm>
            <a:off x="6560312" y="36957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81,2 %</a:t>
            </a:r>
          </a:p>
        </p:txBody>
      </p:sp>
      <p:sp>
        <p:nvSpPr>
          <p:cNvPr id="35" name="Result bar">
            <a:extLst>
              <a:ext uri="{FF2B5EF4-FFF2-40B4-BE49-F238E27FC236}">
                <a16:creationId xmlns:a16="http://schemas.microsoft.com/office/drawing/2014/main" id="{03AA179D-0482-7B61-2451-9D28CCE10030}"/>
              </a:ext>
            </a:extLst>
          </p:cNvPr>
          <p:cNvSpPr/>
          <p:nvPr/>
        </p:nvSpPr>
        <p:spPr>
          <a:xfrm>
            <a:off x="2565400" y="3975100"/>
            <a:ext cx="422275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sult value">
            <a:extLst>
              <a:ext uri="{FF2B5EF4-FFF2-40B4-BE49-F238E27FC236}">
                <a16:creationId xmlns:a16="http://schemas.microsoft.com/office/drawing/2014/main" id="{77ACF68C-4FEB-84C5-2648-0A87B5FD78E3}"/>
              </a:ext>
            </a:extLst>
          </p:cNvPr>
          <p:cNvSpPr txBox="1"/>
          <p:nvPr/>
        </p:nvSpPr>
        <p:spPr>
          <a:xfrm>
            <a:off x="6864350" y="39624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87,5 %</a:t>
            </a:r>
          </a:p>
        </p:txBody>
      </p:sp>
      <p:sp>
        <p:nvSpPr>
          <p:cNvPr id="37" name="Result bar">
            <a:extLst>
              <a:ext uri="{FF2B5EF4-FFF2-40B4-BE49-F238E27FC236}">
                <a16:creationId xmlns:a16="http://schemas.microsoft.com/office/drawing/2014/main" id="{37B670BE-468E-D7B7-F99A-79BD246078D4}"/>
              </a:ext>
            </a:extLst>
          </p:cNvPr>
          <p:cNvSpPr/>
          <p:nvPr/>
        </p:nvSpPr>
        <p:spPr>
          <a:xfrm>
            <a:off x="2565400" y="4241800"/>
            <a:ext cx="3971798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Result value">
            <a:extLst>
              <a:ext uri="{FF2B5EF4-FFF2-40B4-BE49-F238E27FC236}">
                <a16:creationId xmlns:a16="http://schemas.microsoft.com/office/drawing/2014/main" id="{DE02C2BB-306C-A6D4-8642-BBD2C6D9AA4B}"/>
              </a:ext>
            </a:extLst>
          </p:cNvPr>
          <p:cNvSpPr txBox="1"/>
          <p:nvPr/>
        </p:nvSpPr>
        <p:spPr>
          <a:xfrm>
            <a:off x="6613398" y="42291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82,3 %</a:t>
            </a:r>
          </a:p>
        </p:txBody>
      </p:sp>
      <p:sp>
        <p:nvSpPr>
          <p:cNvPr id="39" name="Mode label">
            <a:extLst>
              <a:ext uri="{FF2B5EF4-FFF2-40B4-BE49-F238E27FC236}">
                <a16:creationId xmlns:a16="http://schemas.microsoft.com/office/drawing/2014/main" id="{B164208C-96C8-1934-ABBF-085B75A15397}"/>
              </a:ext>
            </a:extLst>
          </p:cNvPr>
          <p:cNvSpPr txBox="1"/>
          <p:nvPr/>
        </p:nvSpPr>
        <p:spPr>
          <a:xfrm>
            <a:off x="863600" y="5067300"/>
            <a:ext cx="1473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 b="1">
                <a:solidFill>
                  <a:srgbClr val="07131F"/>
                </a:solidFill>
                <a:latin typeface="Arial" panose="020B0604020202020204" pitchFamily="34" charset="0"/>
              </a:rPr>
              <a:t>Combinado</a:t>
            </a:r>
          </a:p>
        </p:txBody>
      </p:sp>
      <p:sp>
        <p:nvSpPr>
          <p:cNvPr id="40" name="Result bar">
            <a:extLst>
              <a:ext uri="{FF2B5EF4-FFF2-40B4-BE49-F238E27FC236}">
                <a16:creationId xmlns:a16="http://schemas.microsoft.com/office/drawing/2014/main" id="{868FE782-5404-0F97-1ECE-0A480BFE2417}"/>
              </a:ext>
            </a:extLst>
          </p:cNvPr>
          <p:cNvSpPr/>
          <p:nvPr/>
        </p:nvSpPr>
        <p:spPr>
          <a:xfrm>
            <a:off x="2565400" y="4902200"/>
            <a:ext cx="4222750" cy="165100"/>
          </a:xfrm>
          <a:prstGeom prst="rect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sult value">
            <a:extLst>
              <a:ext uri="{FF2B5EF4-FFF2-40B4-BE49-F238E27FC236}">
                <a16:creationId xmlns:a16="http://schemas.microsoft.com/office/drawing/2014/main" id="{D93F89AC-6EC3-0944-6B01-700F6EE2951A}"/>
              </a:ext>
            </a:extLst>
          </p:cNvPr>
          <p:cNvSpPr txBox="1"/>
          <p:nvPr/>
        </p:nvSpPr>
        <p:spPr>
          <a:xfrm>
            <a:off x="6864350" y="48895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87,5 %</a:t>
            </a:r>
          </a:p>
        </p:txBody>
      </p:sp>
      <p:sp>
        <p:nvSpPr>
          <p:cNvPr id="42" name="Result bar">
            <a:extLst>
              <a:ext uri="{FF2B5EF4-FFF2-40B4-BE49-F238E27FC236}">
                <a16:creationId xmlns:a16="http://schemas.microsoft.com/office/drawing/2014/main" id="{B4FDD4D0-21A7-A12E-4C6B-0706FFF9D3F0}"/>
              </a:ext>
            </a:extLst>
          </p:cNvPr>
          <p:cNvSpPr/>
          <p:nvPr/>
        </p:nvSpPr>
        <p:spPr>
          <a:xfrm>
            <a:off x="2565400" y="5168900"/>
            <a:ext cx="4826000" cy="165100"/>
          </a:xfrm>
          <a:prstGeom prst="rect">
            <a:avLst/>
          </a:prstGeom>
          <a:solidFill>
            <a:srgbClr val="3D8D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3" name="Result value">
            <a:extLst>
              <a:ext uri="{FF2B5EF4-FFF2-40B4-BE49-F238E27FC236}">
                <a16:creationId xmlns:a16="http://schemas.microsoft.com/office/drawing/2014/main" id="{0167BFE6-C071-6BB3-C968-AE693E6ECC5A}"/>
              </a:ext>
            </a:extLst>
          </p:cNvPr>
          <p:cNvSpPr txBox="1"/>
          <p:nvPr/>
        </p:nvSpPr>
        <p:spPr>
          <a:xfrm>
            <a:off x="7467600" y="51562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100,0 %</a:t>
            </a:r>
          </a:p>
        </p:txBody>
      </p:sp>
      <p:sp>
        <p:nvSpPr>
          <p:cNvPr id="44" name="Result bar">
            <a:extLst>
              <a:ext uri="{FF2B5EF4-FFF2-40B4-BE49-F238E27FC236}">
                <a16:creationId xmlns:a16="http://schemas.microsoft.com/office/drawing/2014/main" id="{971546D0-C307-A18A-56AF-ED8671725403}"/>
              </a:ext>
            </a:extLst>
          </p:cNvPr>
          <p:cNvSpPr/>
          <p:nvPr/>
        </p:nvSpPr>
        <p:spPr>
          <a:xfrm>
            <a:off x="2565400" y="5435600"/>
            <a:ext cx="4290314" cy="165100"/>
          </a:xfrm>
          <a:prstGeom prst="rect">
            <a:avLst/>
          </a:prstGeom>
          <a:solidFill>
            <a:srgbClr val="1230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Result value">
            <a:extLst>
              <a:ext uri="{FF2B5EF4-FFF2-40B4-BE49-F238E27FC236}">
                <a16:creationId xmlns:a16="http://schemas.microsoft.com/office/drawing/2014/main" id="{206755A5-F015-387B-7362-073256ADCEC3}"/>
              </a:ext>
            </a:extLst>
          </p:cNvPr>
          <p:cNvSpPr txBox="1"/>
          <p:nvPr/>
        </p:nvSpPr>
        <p:spPr>
          <a:xfrm>
            <a:off x="6931914" y="54229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 b="1">
                <a:solidFill>
                  <a:srgbClr val="49657A"/>
                </a:solidFill>
                <a:latin typeface="Arial" panose="020B0604020202020204" pitchFamily="34" charset="0"/>
              </a:rPr>
              <a:t>88,9 %</a:t>
            </a:r>
          </a:p>
        </p:txBody>
      </p:sp>
      <p:sp>
        <p:nvSpPr>
          <p:cNvPr id="46" name="Result callout">
            <a:extLst>
              <a:ext uri="{FF2B5EF4-FFF2-40B4-BE49-F238E27FC236}">
                <a16:creationId xmlns:a16="http://schemas.microsoft.com/office/drawing/2014/main" id="{6250CB7C-05C8-2BCE-2379-D9D7C448EB3B}"/>
              </a:ext>
            </a:extLst>
          </p:cNvPr>
          <p:cNvSpPr/>
          <p:nvPr/>
        </p:nvSpPr>
        <p:spPr>
          <a:xfrm>
            <a:off x="8229600" y="1955800"/>
            <a:ext cx="3048000" cy="14224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Recall result">
            <a:extLst>
              <a:ext uri="{FF2B5EF4-FFF2-40B4-BE49-F238E27FC236}">
                <a16:creationId xmlns:a16="http://schemas.microsoft.com/office/drawing/2014/main" id="{DE5D03EF-4D99-903C-F564-D8C42067854D}"/>
              </a:ext>
            </a:extLst>
          </p:cNvPr>
          <p:cNvSpPr txBox="1"/>
          <p:nvPr/>
        </p:nvSpPr>
        <p:spPr>
          <a:xfrm>
            <a:off x="8534400" y="2286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500" b="1">
                <a:solidFill>
                  <a:srgbClr val="FFFFFF"/>
                </a:solidFill>
                <a:latin typeface="Arial" panose="020B0604020202020204" pitchFamily="34" charset="0"/>
              </a:rPr>
              <a:t>100 % recall</a:t>
            </a:r>
          </a:p>
        </p:txBody>
      </p:sp>
      <p:sp>
        <p:nvSpPr>
          <p:cNvPr id="48" name="Recall detail">
            <a:extLst>
              <a:ext uri="{FF2B5EF4-FFF2-40B4-BE49-F238E27FC236}">
                <a16:creationId xmlns:a16="http://schemas.microsoft.com/office/drawing/2014/main" id="{3C2137DE-E75B-DCBE-D0EB-C73DD26540D4}"/>
              </a:ext>
            </a:extLst>
          </p:cNvPr>
          <p:cNvSpPr txBox="1"/>
          <p:nvPr/>
        </p:nvSpPr>
        <p:spPr>
          <a:xfrm>
            <a:off x="8534400" y="28067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C9D7E0"/>
                </a:solidFill>
                <a:latin typeface="Arial" panose="020B0604020202020204" pitchFamily="34" charset="0"/>
              </a:rPr>
              <a:t>8/8 phishing detectados
0 falsos negativos · 2 falsos positivos</a:t>
            </a:r>
          </a:p>
        </p:txBody>
      </p:sp>
      <p:sp>
        <p:nvSpPr>
          <p:cNvPr id="49" name="External title">
            <a:extLst>
              <a:ext uri="{FF2B5EF4-FFF2-40B4-BE49-F238E27FC236}">
                <a16:creationId xmlns:a16="http://schemas.microsoft.com/office/drawing/2014/main" id="{D341971E-E04B-DA49-51BB-7D13FE2706A1}"/>
              </a:ext>
            </a:extLst>
          </p:cNvPr>
          <p:cNvSpPr txBox="1"/>
          <p:nvPr/>
        </p:nvSpPr>
        <p:spPr>
          <a:xfrm>
            <a:off x="8229600" y="383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 b="1">
                <a:solidFill>
                  <a:srgbClr val="07131F"/>
                </a:solidFill>
                <a:latin typeface="Arial" panose="020B0604020202020204" pitchFamily="34" charset="0"/>
              </a:rPr>
              <a:t>Diagnóstico DIFrauD</a:t>
            </a:r>
          </a:p>
        </p:txBody>
      </p:sp>
      <p:sp>
        <p:nvSpPr>
          <p:cNvPr id="50" name="External metrics">
            <a:extLst>
              <a:ext uri="{FF2B5EF4-FFF2-40B4-BE49-F238E27FC236}">
                <a16:creationId xmlns:a16="http://schemas.microsoft.com/office/drawing/2014/main" id="{BF4F9DB0-24F5-FCA8-9236-5D09D13D0197}"/>
              </a:ext>
            </a:extLst>
          </p:cNvPr>
          <p:cNvSpPr txBox="1"/>
          <p:nvPr/>
        </p:nvSpPr>
        <p:spPr>
          <a:xfrm>
            <a:off x="8229600" y="43053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2200" b="1">
                <a:solidFill>
                  <a:srgbClr val="0F766E"/>
                </a:solidFill>
                <a:latin typeface="Arial" panose="020B0604020202020204" pitchFamily="34" charset="0"/>
              </a:rPr>
              <a:t>89,0 % accuracy
93,4 % recall</a:t>
            </a:r>
          </a:p>
        </p:txBody>
      </p:sp>
      <p:sp>
        <p:nvSpPr>
          <p:cNvPr id="51" name="External caveat">
            <a:extLst>
              <a:ext uri="{FF2B5EF4-FFF2-40B4-BE49-F238E27FC236}">
                <a16:creationId xmlns:a16="http://schemas.microsoft.com/office/drawing/2014/main" id="{82874F98-ED28-524C-3D25-B170BC8A6C05}"/>
              </a:ext>
            </a:extLst>
          </p:cNvPr>
          <p:cNvSpPr txBox="1"/>
          <p:nvPr/>
        </p:nvSpPr>
        <p:spPr>
          <a:xfrm>
            <a:off x="8229600" y="5168900"/>
            <a:ext cx="2870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>
                <a:solidFill>
                  <a:srgbClr val="49657A"/>
                </a:solidFill>
                <a:latin typeface="Arial" panose="020B0604020202020204" pitchFamily="34" charset="0"/>
              </a:rPr>
              <a:t>Resultado complementario; no equivale a producción.</a:t>
            </a:r>
          </a:p>
        </p:txBody>
      </p:sp>
    </p:spTree>
    <p:extLst>
      <p:ext uri="{BB962C8B-B14F-4D97-AF65-F5344CB8AC3E}">
        <p14:creationId xmlns:p14="http://schemas.microsoft.com/office/powerpoint/2010/main" val="3349345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C85A2EA7-5C37-F11F-AB94-330B8ECC73BF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VALIDACIÓN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53653746-71E8-F290-EDA0-1BB23E433702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La evidencia cubre código, web y rendimiento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222FA827-B1D5-839A-B32A-87FE4E8FF27E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9E230524-C2FE-5C5D-092E-322189614B79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53A79C2-EAE4-830C-3782-5EDFDD1F2540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11</a:t>
            </a:r>
          </a:p>
        </p:txBody>
      </p:sp>
      <p:cxnSp>
        <p:nvCxnSpPr>
          <p:cNvPr id="7" name="Metric vertical">
            <a:extLst>
              <a:ext uri="{FF2B5EF4-FFF2-40B4-BE49-F238E27FC236}">
                <a16:creationId xmlns:a16="http://schemas.microsoft.com/office/drawing/2014/main" id="{FF319EAA-635B-C879-00CE-B8355EADA3DF}"/>
              </a:ext>
            </a:extLst>
          </p:cNvPr>
          <p:cNvCxnSpPr/>
          <p:nvPr/>
        </p:nvCxnSpPr>
        <p:spPr>
          <a:xfrm>
            <a:off x="6096000" y="1803400"/>
            <a:ext cx="0" cy="382270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Metric horizontal">
            <a:extLst>
              <a:ext uri="{FF2B5EF4-FFF2-40B4-BE49-F238E27FC236}">
                <a16:creationId xmlns:a16="http://schemas.microsoft.com/office/drawing/2014/main" id="{4CF65D13-5D90-CE1B-21A3-017269944676}"/>
              </a:ext>
            </a:extLst>
          </p:cNvPr>
          <p:cNvCxnSpPr/>
          <p:nvPr/>
        </p:nvCxnSpPr>
        <p:spPr>
          <a:xfrm>
            <a:off x="1016000" y="3708400"/>
            <a:ext cx="10160000" cy="0"/>
          </a:xfrm>
          <a:prstGeom prst="line">
            <a:avLst/>
          </a:prstGeom>
          <a:ln w="1524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etric value">
            <a:extLst>
              <a:ext uri="{FF2B5EF4-FFF2-40B4-BE49-F238E27FC236}">
                <a16:creationId xmlns:a16="http://schemas.microsoft.com/office/drawing/2014/main" id="{60C8F773-6C3F-E294-79E2-B6A8224DEEC8}"/>
              </a:ext>
            </a:extLst>
          </p:cNvPr>
          <p:cNvSpPr txBox="1"/>
          <p:nvPr/>
        </p:nvSpPr>
        <p:spPr>
          <a:xfrm>
            <a:off x="1143000" y="19050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7131F"/>
                </a:solidFill>
                <a:latin typeface="Arial" panose="020B0604020202020204" pitchFamily="34" charset="0"/>
              </a:rPr>
              <a:t>89</a:t>
            </a:r>
          </a:p>
        </p:txBody>
      </p:sp>
      <p:sp>
        <p:nvSpPr>
          <p:cNvPr id="10" name="Metric title">
            <a:extLst>
              <a:ext uri="{FF2B5EF4-FFF2-40B4-BE49-F238E27FC236}">
                <a16:creationId xmlns:a16="http://schemas.microsoft.com/office/drawing/2014/main" id="{1E296D03-3FE9-BB98-91E0-F5DDFCD7C58B}"/>
              </a:ext>
            </a:extLst>
          </p:cNvPr>
          <p:cNvSpPr txBox="1"/>
          <p:nvPr/>
        </p:nvSpPr>
        <p:spPr>
          <a:xfrm>
            <a:off x="1143000" y="2641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pruebas Python</a:t>
            </a:r>
          </a:p>
        </p:txBody>
      </p:sp>
      <p:sp>
        <p:nvSpPr>
          <p:cNvPr id="11" name="Metric detail">
            <a:extLst>
              <a:ext uri="{FF2B5EF4-FFF2-40B4-BE49-F238E27FC236}">
                <a16:creationId xmlns:a16="http://schemas.microsoft.com/office/drawing/2014/main" id="{AF532DC7-0370-7B11-B677-3AD8C9B16846}"/>
              </a:ext>
            </a:extLst>
          </p:cNvPr>
          <p:cNvSpPr txBox="1"/>
          <p:nvPr/>
        </p:nvSpPr>
        <p:spPr>
          <a:xfrm>
            <a:off x="1143000" y="3048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Componentes, API, modelos e integraciones</a:t>
            </a:r>
          </a:p>
        </p:txBody>
      </p:sp>
      <p:sp>
        <p:nvSpPr>
          <p:cNvPr id="12" name="Metric value">
            <a:extLst>
              <a:ext uri="{FF2B5EF4-FFF2-40B4-BE49-F238E27FC236}">
                <a16:creationId xmlns:a16="http://schemas.microsoft.com/office/drawing/2014/main" id="{A3030102-8E20-EF46-9CDA-8BF2889D8609}"/>
              </a:ext>
            </a:extLst>
          </p:cNvPr>
          <p:cNvSpPr txBox="1"/>
          <p:nvPr/>
        </p:nvSpPr>
        <p:spPr>
          <a:xfrm>
            <a:off x="6604000" y="19050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7131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Metric title">
            <a:extLst>
              <a:ext uri="{FF2B5EF4-FFF2-40B4-BE49-F238E27FC236}">
                <a16:creationId xmlns:a16="http://schemas.microsoft.com/office/drawing/2014/main" id="{0C611822-BE5D-23B9-A19C-51FEAA720EF2}"/>
              </a:ext>
            </a:extLst>
          </p:cNvPr>
          <p:cNvSpPr txBox="1"/>
          <p:nvPr/>
        </p:nvSpPr>
        <p:spPr>
          <a:xfrm>
            <a:off x="6604000" y="26416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recorridos Chromium</a:t>
            </a:r>
          </a:p>
        </p:txBody>
      </p:sp>
      <p:sp>
        <p:nvSpPr>
          <p:cNvPr id="14" name="Metric detail">
            <a:extLst>
              <a:ext uri="{FF2B5EF4-FFF2-40B4-BE49-F238E27FC236}">
                <a16:creationId xmlns:a16="http://schemas.microsoft.com/office/drawing/2014/main" id="{EF1D1612-7F85-CC0E-71BA-85D2C8C54122}"/>
              </a:ext>
            </a:extLst>
          </p:cNvPr>
          <p:cNvSpPr txBox="1"/>
          <p:nvPr/>
        </p:nvSpPr>
        <p:spPr>
          <a:xfrm>
            <a:off x="6604000" y="3048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Incluido navegador → Streamlit → backend</a:t>
            </a:r>
          </a:p>
        </p:txBody>
      </p:sp>
      <p:sp>
        <p:nvSpPr>
          <p:cNvPr id="15" name="Metric value">
            <a:extLst>
              <a:ext uri="{FF2B5EF4-FFF2-40B4-BE49-F238E27FC236}">
                <a16:creationId xmlns:a16="http://schemas.microsoft.com/office/drawing/2014/main" id="{229A213B-191E-D8B2-6F25-CFD0E231967C}"/>
              </a:ext>
            </a:extLst>
          </p:cNvPr>
          <p:cNvSpPr txBox="1"/>
          <p:nvPr/>
        </p:nvSpPr>
        <p:spPr>
          <a:xfrm>
            <a:off x="1143000" y="4038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F766E"/>
                </a:solidFill>
                <a:latin typeface="Arial" panose="020B0604020202020204" pitchFamily="34" charset="0"/>
              </a:rPr>
              <a:t>96,6 %</a:t>
            </a:r>
          </a:p>
        </p:txBody>
      </p:sp>
      <p:sp>
        <p:nvSpPr>
          <p:cNvPr id="16" name="Metric title">
            <a:extLst>
              <a:ext uri="{FF2B5EF4-FFF2-40B4-BE49-F238E27FC236}">
                <a16:creationId xmlns:a16="http://schemas.microsoft.com/office/drawing/2014/main" id="{64A029C0-D33E-BB1B-DD5B-BAA1E611EFE9}"/>
              </a:ext>
            </a:extLst>
          </p:cNvPr>
          <p:cNvSpPr txBox="1"/>
          <p:nvPr/>
        </p:nvSpPr>
        <p:spPr>
          <a:xfrm>
            <a:off x="1143000" y="4775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menos tiempo de importación</a:t>
            </a:r>
          </a:p>
        </p:txBody>
      </p:sp>
      <p:sp>
        <p:nvSpPr>
          <p:cNvPr id="17" name="Metric detail">
            <a:extLst>
              <a:ext uri="{FF2B5EF4-FFF2-40B4-BE49-F238E27FC236}">
                <a16:creationId xmlns:a16="http://schemas.microsoft.com/office/drawing/2014/main" id="{F4D4D95E-9968-8C40-8B87-81F41132413E}"/>
              </a:ext>
            </a:extLst>
          </p:cNvPr>
          <p:cNvSpPr txBox="1"/>
          <p:nvPr/>
        </p:nvSpPr>
        <p:spPr>
          <a:xfrm>
            <a:off x="1143000" y="51816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Heurísticas tras diferir dependencias pesadas</a:t>
            </a:r>
          </a:p>
        </p:txBody>
      </p:sp>
      <p:sp>
        <p:nvSpPr>
          <p:cNvPr id="18" name="Metric value">
            <a:extLst>
              <a:ext uri="{FF2B5EF4-FFF2-40B4-BE49-F238E27FC236}">
                <a16:creationId xmlns:a16="http://schemas.microsoft.com/office/drawing/2014/main" id="{16D3ACEE-DB12-DD62-8A1B-3019114B8508}"/>
              </a:ext>
            </a:extLst>
          </p:cNvPr>
          <p:cNvSpPr txBox="1"/>
          <p:nvPr/>
        </p:nvSpPr>
        <p:spPr>
          <a:xfrm>
            <a:off x="6604000" y="40386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4200" b="1">
                <a:solidFill>
                  <a:srgbClr val="0F766E"/>
                </a:solidFill>
                <a:latin typeface="Arial" panose="020B0604020202020204" pitchFamily="34" charset="0"/>
              </a:rPr>
              <a:t>76,2 %</a:t>
            </a:r>
          </a:p>
        </p:txBody>
      </p:sp>
      <p:sp>
        <p:nvSpPr>
          <p:cNvPr id="19" name="Metric title">
            <a:extLst>
              <a:ext uri="{FF2B5EF4-FFF2-40B4-BE49-F238E27FC236}">
                <a16:creationId xmlns:a16="http://schemas.microsoft.com/office/drawing/2014/main" id="{8A945C44-2941-BA63-DB3D-7B84C0F4A955}"/>
              </a:ext>
            </a:extLst>
          </p:cNvPr>
          <p:cNvSpPr txBox="1"/>
          <p:nvPr/>
        </p:nvSpPr>
        <p:spPr>
          <a:xfrm>
            <a:off x="6604000" y="4775200"/>
            <a:ext cx="419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b="1">
                <a:solidFill>
                  <a:srgbClr val="07131F"/>
                </a:solidFill>
                <a:latin typeface="Arial" panose="020B0604020202020204" pitchFamily="34" charset="0"/>
              </a:rPr>
              <a:t>menos arranque de la web</a:t>
            </a:r>
          </a:p>
        </p:txBody>
      </p:sp>
      <p:sp>
        <p:nvSpPr>
          <p:cNvPr id="20" name="Metric detail">
            <a:extLst>
              <a:ext uri="{FF2B5EF4-FFF2-40B4-BE49-F238E27FC236}">
                <a16:creationId xmlns:a16="http://schemas.microsoft.com/office/drawing/2014/main" id="{7B366D9C-604D-1B2E-9FE6-AB9AB8306997}"/>
              </a:ext>
            </a:extLst>
          </p:cNvPr>
          <p:cNvSpPr txBox="1"/>
          <p:nvPr/>
        </p:nvSpPr>
        <p:spPr>
          <a:xfrm>
            <a:off x="6604000" y="51816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300">
                <a:solidFill>
                  <a:srgbClr val="49657A"/>
                </a:solidFill>
                <a:latin typeface="Arial" panose="020B0604020202020204" pitchFamily="34" charset="0"/>
              </a:rPr>
              <a:t>Mejora medida; inferencia estable</a:t>
            </a:r>
          </a:p>
        </p:txBody>
      </p:sp>
    </p:spTree>
    <p:extLst>
      <p:ext uri="{BB962C8B-B14F-4D97-AF65-F5344CB8AC3E}">
        <p14:creationId xmlns:p14="http://schemas.microsoft.com/office/powerpoint/2010/main" val="837227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6D7414EF-425B-E612-AC99-B801D7751EC0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DEMOSTRACIÓN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1CC9CD37-23FE-1FD6-713B-5D6890E6ED6C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Cuatro pasos sostienen la demostración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DA6B8E74-9731-6565-6E53-432781DC0901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67375D4A-7DEE-4E06-A47C-57A316588B7F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D2B20F1-785C-594E-E2B9-6F3E714BA9EF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12</a:t>
            </a:r>
          </a:p>
        </p:txBody>
      </p:sp>
      <p:cxnSp>
        <p:nvCxnSpPr>
          <p:cNvPr id="7" name="Demo arrow">
            <a:extLst>
              <a:ext uri="{FF2B5EF4-FFF2-40B4-BE49-F238E27FC236}">
                <a16:creationId xmlns:a16="http://schemas.microsoft.com/office/drawing/2014/main" id="{921EC79B-E85A-5CDA-9AE7-4E1437301D39}"/>
              </a:ext>
            </a:extLst>
          </p:cNvPr>
          <p:cNvCxnSpPr/>
          <p:nvPr/>
        </p:nvCxnSpPr>
        <p:spPr>
          <a:xfrm>
            <a:off x="24511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emo arrow">
            <a:extLst>
              <a:ext uri="{FF2B5EF4-FFF2-40B4-BE49-F238E27FC236}">
                <a16:creationId xmlns:a16="http://schemas.microsoft.com/office/drawing/2014/main" id="{F29598AC-5256-4CBC-5E71-ADA53C9ABB20}"/>
              </a:ext>
            </a:extLst>
          </p:cNvPr>
          <p:cNvCxnSpPr/>
          <p:nvPr/>
        </p:nvCxnSpPr>
        <p:spPr>
          <a:xfrm>
            <a:off x="52197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emo arrow">
            <a:extLst>
              <a:ext uri="{FF2B5EF4-FFF2-40B4-BE49-F238E27FC236}">
                <a16:creationId xmlns:a16="http://schemas.microsoft.com/office/drawing/2014/main" id="{0E16FF7C-5B0B-A72F-82C7-DEAB4098DFE5}"/>
              </a:ext>
            </a:extLst>
          </p:cNvPr>
          <p:cNvCxnSpPr/>
          <p:nvPr/>
        </p:nvCxnSpPr>
        <p:spPr>
          <a:xfrm>
            <a:off x="7988300" y="3136900"/>
            <a:ext cx="1930400" cy="0"/>
          </a:xfrm>
          <a:prstGeom prst="line">
            <a:avLst/>
          </a:prstGeom>
          <a:ln w="25400">
            <a:solidFill>
              <a:srgbClr val="0D9488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emo number">
            <a:extLst>
              <a:ext uri="{FF2B5EF4-FFF2-40B4-BE49-F238E27FC236}">
                <a16:creationId xmlns:a16="http://schemas.microsoft.com/office/drawing/2014/main" id="{D14187B2-6FA4-F546-CF3F-08C30F2D42F9}"/>
              </a:ext>
            </a:extLst>
          </p:cNvPr>
          <p:cNvSpPr txBox="1"/>
          <p:nvPr/>
        </p:nvSpPr>
        <p:spPr>
          <a:xfrm>
            <a:off x="9144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01</a:t>
            </a:r>
          </a:p>
        </p:txBody>
      </p:sp>
      <p:sp>
        <p:nvSpPr>
          <p:cNvPr id="11" name="Demo node">
            <a:extLst>
              <a:ext uri="{FF2B5EF4-FFF2-40B4-BE49-F238E27FC236}">
                <a16:creationId xmlns:a16="http://schemas.microsoft.com/office/drawing/2014/main" id="{355D45A4-9CF5-470E-84A0-7AB1BF7CE5B7}"/>
              </a:ext>
            </a:extLst>
          </p:cNvPr>
          <p:cNvSpPr/>
          <p:nvPr/>
        </p:nvSpPr>
        <p:spPr>
          <a:xfrm>
            <a:off x="17653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Demo title">
            <a:extLst>
              <a:ext uri="{FF2B5EF4-FFF2-40B4-BE49-F238E27FC236}">
                <a16:creationId xmlns:a16="http://schemas.microsoft.com/office/drawing/2014/main" id="{149C1A3E-7435-2E24-D172-AAA03C7037A6}"/>
              </a:ext>
            </a:extLst>
          </p:cNvPr>
          <p:cNvSpPr txBox="1"/>
          <p:nvPr/>
        </p:nvSpPr>
        <p:spPr>
          <a:xfrm>
            <a:off x="9144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Arrancar</a:t>
            </a:r>
          </a:p>
        </p:txBody>
      </p:sp>
      <p:sp>
        <p:nvSpPr>
          <p:cNvPr id="13" name="Demo detail">
            <a:extLst>
              <a:ext uri="{FF2B5EF4-FFF2-40B4-BE49-F238E27FC236}">
                <a16:creationId xmlns:a16="http://schemas.microsoft.com/office/drawing/2014/main" id="{8B6056C2-0C34-A384-FA76-0FD5726F40C2}"/>
              </a:ext>
            </a:extLst>
          </p:cNvPr>
          <p:cNvSpPr txBox="1"/>
          <p:nvPr/>
        </p:nvSpPr>
        <p:spPr>
          <a:xfrm>
            <a:off x="9144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Backend :8766 y /health</a:t>
            </a:r>
          </a:p>
        </p:txBody>
      </p:sp>
      <p:sp>
        <p:nvSpPr>
          <p:cNvPr id="14" name="Demo number">
            <a:extLst>
              <a:ext uri="{FF2B5EF4-FFF2-40B4-BE49-F238E27FC236}">
                <a16:creationId xmlns:a16="http://schemas.microsoft.com/office/drawing/2014/main" id="{8AC7A7CF-C0F6-6D53-A095-AE70F4968F75}"/>
              </a:ext>
            </a:extLst>
          </p:cNvPr>
          <p:cNvSpPr txBox="1"/>
          <p:nvPr/>
        </p:nvSpPr>
        <p:spPr>
          <a:xfrm>
            <a:off x="36830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02</a:t>
            </a:r>
          </a:p>
        </p:txBody>
      </p:sp>
      <p:sp>
        <p:nvSpPr>
          <p:cNvPr id="15" name="Demo node">
            <a:extLst>
              <a:ext uri="{FF2B5EF4-FFF2-40B4-BE49-F238E27FC236}">
                <a16:creationId xmlns:a16="http://schemas.microsoft.com/office/drawing/2014/main" id="{9DC36BF4-4F25-D350-DF5F-5989F62CFA97}"/>
              </a:ext>
            </a:extLst>
          </p:cNvPr>
          <p:cNvSpPr/>
          <p:nvPr/>
        </p:nvSpPr>
        <p:spPr>
          <a:xfrm>
            <a:off x="45339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Demo title">
            <a:extLst>
              <a:ext uri="{FF2B5EF4-FFF2-40B4-BE49-F238E27FC236}">
                <a16:creationId xmlns:a16="http://schemas.microsoft.com/office/drawing/2014/main" id="{E80E9DE9-0FC7-3A48-C2A0-E8454977270A}"/>
              </a:ext>
            </a:extLst>
          </p:cNvPr>
          <p:cNvSpPr txBox="1"/>
          <p:nvPr/>
        </p:nvSpPr>
        <p:spPr>
          <a:xfrm>
            <a:off x="36830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Abrir</a:t>
            </a:r>
          </a:p>
        </p:txBody>
      </p:sp>
      <p:sp>
        <p:nvSpPr>
          <p:cNvPr id="17" name="Demo detail">
            <a:extLst>
              <a:ext uri="{FF2B5EF4-FFF2-40B4-BE49-F238E27FC236}">
                <a16:creationId xmlns:a16="http://schemas.microsoft.com/office/drawing/2014/main" id="{5D6CA46C-EFF4-F695-9D9E-7E87CD0B244A}"/>
              </a:ext>
            </a:extLst>
          </p:cNvPr>
          <p:cNvSpPr txBox="1"/>
          <p:nvPr/>
        </p:nvSpPr>
        <p:spPr>
          <a:xfrm>
            <a:off x="36830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Streamlit conectado</a:t>
            </a:r>
          </a:p>
        </p:txBody>
      </p:sp>
      <p:sp>
        <p:nvSpPr>
          <p:cNvPr id="18" name="Demo number">
            <a:extLst>
              <a:ext uri="{FF2B5EF4-FFF2-40B4-BE49-F238E27FC236}">
                <a16:creationId xmlns:a16="http://schemas.microsoft.com/office/drawing/2014/main" id="{97CF7463-D240-C446-E0C9-4B7117D8E7D6}"/>
              </a:ext>
            </a:extLst>
          </p:cNvPr>
          <p:cNvSpPr txBox="1"/>
          <p:nvPr/>
        </p:nvSpPr>
        <p:spPr>
          <a:xfrm>
            <a:off x="64516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03</a:t>
            </a:r>
          </a:p>
        </p:txBody>
      </p:sp>
      <p:sp>
        <p:nvSpPr>
          <p:cNvPr id="19" name="Demo node">
            <a:extLst>
              <a:ext uri="{FF2B5EF4-FFF2-40B4-BE49-F238E27FC236}">
                <a16:creationId xmlns:a16="http://schemas.microsoft.com/office/drawing/2014/main" id="{5EF8F2F4-DE0B-7638-2CF3-5EBDE89757BF}"/>
              </a:ext>
            </a:extLst>
          </p:cNvPr>
          <p:cNvSpPr/>
          <p:nvPr/>
        </p:nvSpPr>
        <p:spPr>
          <a:xfrm>
            <a:off x="7302500" y="2870200"/>
            <a:ext cx="533400" cy="533400"/>
          </a:xfrm>
          <a:prstGeom prst="ellipse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Demo title">
            <a:extLst>
              <a:ext uri="{FF2B5EF4-FFF2-40B4-BE49-F238E27FC236}">
                <a16:creationId xmlns:a16="http://schemas.microsoft.com/office/drawing/2014/main" id="{FC354531-3980-DB64-BD9F-9632353CB16E}"/>
              </a:ext>
            </a:extLst>
          </p:cNvPr>
          <p:cNvSpPr txBox="1"/>
          <p:nvPr/>
        </p:nvSpPr>
        <p:spPr>
          <a:xfrm>
            <a:off x="64516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Analizar</a:t>
            </a:r>
          </a:p>
        </p:txBody>
      </p:sp>
      <p:sp>
        <p:nvSpPr>
          <p:cNvPr id="21" name="Demo detail">
            <a:extLst>
              <a:ext uri="{FF2B5EF4-FFF2-40B4-BE49-F238E27FC236}">
                <a16:creationId xmlns:a16="http://schemas.microsoft.com/office/drawing/2014/main" id="{0F9D597C-4632-C75F-D2DC-06BF799C0E99}"/>
              </a:ext>
            </a:extLst>
          </p:cNvPr>
          <p:cNvSpPr txBox="1"/>
          <p:nvPr/>
        </p:nvSpPr>
        <p:spPr>
          <a:xfrm>
            <a:off x="64516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EML BEC controlado</a:t>
            </a:r>
          </a:p>
        </p:txBody>
      </p:sp>
      <p:sp>
        <p:nvSpPr>
          <p:cNvPr id="22" name="Demo number">
            <a:extLst>
              <a:ext uri="{FF2B5EF4-FFF2-40B4-BE49-F238E27FC236}">
                <a16:creationId xmlns:a16="http://schemas.microsoft.com/office/drawing/2014/main" id="{8339020B-6F36-39D3-1506-BAB86D03F19B}"/>
              </a:ext>
            </a:extLst>
          </p:cNvPr>
          <p:cNvSpPr txBox="1"/>
          <p:nvPr/>
        </p:nvSpPr>
        <p:spPr>
          <a:xfrm>
            <a:off x="9220200" y="20320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300" b="1">
                <a:solidFill>
                  <a:srgbClr val="0F766E"/>
                </a:solidFill>
                <a:latin typeface="Arial" panose="020B0604020202020204" pitchFamily="34" charset="0"/>
              </a:rPr>
              <a:t>04</a:t>
            </a:r>
          </a:p>
        </p:txBody>
      </p:sp>
      <p:sp>
        <p:nvSpPr>
          <p:cNvPr id="23" name="Demo node">
            <a:extLst>
              <a:ext uri="{FF2B5EF4-FFF2-40B4-BE49-F238E27FC236}">
                <a16:creationId xmlns:a16="http://schemas.microsoft.com/office/drawing/2014/main" id="{136949D5-23D2-5A0A-8BDD-E2C832790E29}"/>
              </a:ext>
            </a:extLst>
          </p:cNvPr>
          <p:cNvSpPr/>
          <p:nvPr/>
        </p:nvSpPr>
        <p:spPr>
          <a:xfrm>
            <a:off x="10071100" y="2870200"/>
            <a:ext cx="533400" cy="533400"/>
          </a:xfrm>
          <a:prstGeom prst="ellipse">
            <a:avLst/>
          </a:prstGeom>
          <a:solidFill>
            <a:srgbClr val="0D94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Demo title">
            <a:extLst>
              <a:ext uri="{FF2B5EF4-FFF2-40B4-BE49-F238E27FC236}">
                <a16:creationId xmlns:a16="http://schemas.microsoft.com/office/drawing/2014/main" id="{1022EDCC-D734-9B17-FA90-B354703C4B88}"/>
              </a:ext>
            </a:extLst>
          </p:cNvPr>
          <p:cNvSpPr txBox="1"/>
          <p:nvPr/>
        </p:nvSpPr>
        <p:spPr>
          <a:xfrm>
            <a:off x="9220200" y="38227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900" b="1">
                <a:solidFill>
                  <a:srgbClr val="07131F"/>
                </a:solidFill>
                <a:latin typeface="Arial" panose="020B0604020202020204" pitchFamily="34" charset="0"/>
              </a:rPr>
              <a:t>Explicar</a:t>
            </a:r>
          </a:p>
        </p:txBody>
      </p:sp>
      <p:sp>
        <p:nvSpPr>
          <p:cNvPr id="25" name="Demo detail">
            <a:extLst>
              <a:ext uri="{FF2B5EF4-FFF2-40B4-BE49-F238E27FC236}">
                <a16:creationId xmlns:a16="http://schemas.microsoft.com/office/drawing/2014/main" id="{11C4521C-7DE5-6C48-1598-A6C17E88ED46}"/>
              </a:ext>
            </a:extLst>
          </p:cNvPr>
          <p:cNvSpPr txBox="1"/>
          <p:nvPr/>
        </p:nvSpPr>
        <p:spPr>
          <a:xfrm>
            <a:off x="9220200" y="4305300"/>
            <a:ext cx="223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>
                <a:solidFill>
                  <a:srgbClr val="49657A"/>
                </a:solidFill>
                <a:latin typeface="Arial" panose="020B0604020202020204" pitchFamily="34" charset="0"/>
              </a:rPr>
              <a:t>Riesgo, señales y modos</a:t>
            </a:r>
          </a:p>
        </p:txBody>
      </p:sp>
      <p:sp>
        <p:nvSpPr>
          <p:cNvPr id="26" name="Demo note">
            <a:extLst>
              <a:ext uri="{FF2B5EF4-FFF2-40B4-BE49-F238E27FC236}">
                <a16:creationId xmlns:a16="http://schemas.microsoft.com/office/drawing/2014/main" id="{61A911BD-00C3-5515-0856-3AAA25FC9987}"/>
              </a:ext>
            </a:extLst>
          </p:cNvPr>
          <p:cNvSpPr/>
          <p:nvPr/>
        </p:nvSpPr>
        <p:spPr>
          <a:xfrm>
            <a:off x="914400" y="5257800"/>
            <a:ext cx="10363200" cy="685800"/>
          </a:xfrm>
          <a:prstGeom prst="rect">
            <a:avLst/>
          </a:prstGeom>
          <a:solidFill>
            <a:srgbClr val="EAF0F3"/>
          </a:solidFill>
          <a:ln w="12700">
            <a:solidFill>
              <a:srgbClr val="DC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LAN note">
            <a:extLst>
              <a:ext uri="{FF2B5EF4-FFF2-40B4-BE49-F238E27FC236}">
                <a16:creationId xmlns:a16="http://schemas.microsoft.com/office/drawing/2014/main" id="{E9F40078-A074-1581-B3EA-BFA0B2AB148E}"/>
              </a:ext>
            </a:extLst>
          </p:cNvPr>
          <p:cNvSpPr txBox="1"/>
          <p:nvPr/>
        </p:nvSpPr>
        <p:spPr>
          <a:xfrm>
            <a:off x="1168400" y="5473700"/>
            <a:ext cx="9855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400" b="1">
                <a:solidFill>
                  <a:srgbClr val="12304A"/>
                </a:solidFill>
                <a:latin typeface="Arial" panose="020B0604020202020204" pitchFamily="34" charset="0"/>
              </a:rPr>
              <a:t>Opcional: móvil en la LAN → Streamlit 0.0.0.0:8501; el backend permanece en 127.0.0.1:8766.</a:t>
            </a:r>
          </a:p>
        </p:txBody>
      </p:sp>
    </p:spTree>
    <p:extLst>
      <p:ext uri="{BB962C8B-B14F-4D97-AF65-F5344CB8AC3E}">
        <p14:creationId xmlns:p14="http://schemas.microsoft.com/office/powerpoint/2010/main" val="1640630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>
            <a:extLst>
              <a:ext uri="{FF2B5EF4-FFF2-40B4-BE49-F238E27FC236}">
                <a16:creationId xmlns:a16="http://schemas.microsoft.com/office/drawing/2014/main" id="{797D9ABF-684B-970C-8BF9-7F1FA1016CC9}"/>
              </a:ext>
            </a:extLst>
          </p:cNvPr>
          <p:cNvSpPr txBox="1"/>
          <p:nvPr/>
        </p:nvSpPr>
        <p:spPr>
          <a:xfrm>
            <a:off x="711200" y="25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000" b="1">
                <a:solidFill>
                  <a:srgbClr val="0F766E"/>
                </a:solidFill>
                <a:latin typeface="Arial" panose="020B0604020202020204" pitchFamily="34" charset="0"/>
              </a:rPr>
              <a:t>DISCUSIÓN</a:t>
            </a:r>
          </a:p>
        </p:txBody>
      </p:sp>
      <p:sp>
        <p:nvSpPr>
          <p:cNvPr id="3" name="Slide title">
            <a:extLst>
              <a:ext uri="{FF2B5EF4-FFF2-40B4-BE49-F238E27FC236}">
                <a16:creationId xmlns:a16="http://schemas.microsoft.com/office/drawing/2014/main" id="{DBA87566-2483-0495-FAAC-8807165CEF2A}"/>
              </a:ext>
            </a:extLst>
          </p:cNvPr>
          <p:cNvSpPr txBox="1"/>
          <p:nvPr/>
        </p:nvSpPr>
        <p:spPr>
          <a:xfrm>
            <a:off x="711200" y="533400"/>
            <a:ext cx="10769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3500" b="1">
                <a:solidFill>
                  <a:srgbClr val="07131F"/>
                </a:solidFill>
                <a:latin typeface="Arial" panose="020B0604020202020204" pitchFamily="34" charset="0"/>
              </a:rPr>
              <a:t>Los límites están definidos, no ocultos</a:t>
            </a:r>
          </a:p>
        </p:txBody>
      </p:sp>
      <p:cxnSp>
        <p:nvCxnSpPr>
          <p:cNvPr id="4" name="Accent rule">
            <a:extLst>
              <a:ext uri="{FF2B5EF4-FFF2-40B4-BE49-F238E27FC236}">
                <a16:creationId xmlns:a16="http://schemas.microsoft.com/office/drawing/2014/main" id="{6EB17625-F2B1-1500-4AA8-8E9C323F3630}"/>
              </a:ext>
            </a:extLst>
          </p:cNvPr>
          <p:cNvCxnSpPr/>
          <p:nvPr/>
        </p:nvCxnSpPr>
        <p:spPr>
          <a:xfrm>
            <a:off x="711200" y="1282700"/>
            <a:ext cx="7112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author">
            <a:extLst>
              <a:ext uri="{FF2B5EF4-FFF2-40B4-BE49-F238E27FC236}">
                <a16:creationId xmlns:a16="http://schemas.microsoft.com/office/drawing/2014/main" id="{BD07C382-EA3D-658F-04ED-480730B6999B}"/>
              </a:ext>
            </a:extLst>
          </p:cNvPr>
          <p:cNvSpPr txBox="1"/>
          <p:nvPr/>
        </p:nvSpPr>
        <p:spPr>
          <a:xfrm>
            <a:off x="711200" y="65024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900">
                <a:solidFill>
                  <a:srgbClr val="6A8192"/>
                </a:solidFill>
                <a:latin typeface="Arial" panose="020B0604020202020204" pitchFamily="34" charset="0"/>
              </a:rPr>
              <a:t>Alejandro Villarrubia García · TFG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0C9B59F-9D67-0C3B-D743-626AC62EA70D}"/>
              </a:ext>
            </a:extLst>
          </p:cNvPr>
          <p:cNvSpPr txBox="1"/>
          <p:nvPr/>
        </p:nvSpPr>
        <p:spPr>
          <a:xfrm>
            <a:off x="11201400" y="64770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000" b="1">
                <a:solidFill>
                  <a:srgbClr val="6A8192"/>
                </a:solidFill>
                <a:latin typeface="Arial" panose="020B0604020202020204" pitchFamily="34" charset="0"/>
              </a:rPr>
              <a:t>13</a:t>
            </a:r>
          </a:p>
        </p:txBody>
      </p:sp>
      <p:sp>
        <p:nvSpPr>
          <p:cNvPr id="7" name="Demonstrates label">
            <a:extLst>
              <a:ext uri="{FF2B5EF4-FFF2-40B4-BE49-F238E27FC236}">
                <a16:creationId xmlns:a16="http://schemas.microsoft.com/office/drawing/2014/main" id="{FF7630B0-33B3-E0B8-33AB-BFCF5D29D80A}"/>
              </a:ext>
            </a:extLst>
          </p:cNvPr>
          <p:cNvSpPr txBox="1"/>
          <p:nvPr/>
        </p:nvSpPr>
        <p:spPr>
          <a:xfrm>
            <a:off x="889000" y="1752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0F766E"/>
                </a:solidFill>
                <a:latin typeface="Arial" panose="020B0604020202020204" pitchFamily="34" charset="0"/>
              </a:rPr>
              <a:t>LO QUE DEMUESTRA</a:t>
            </a:r>
          </a:p>
        </p:txBody>
      </p:sp>
      <p:sp>
        <p:nvSpPr>
          <p:cNvPr id="8" name="Demonstrates">
            <a:extLst>
              <a:ext uri="{FF2B5EF4-FFF2-40B4-BE49-F238E27FC236}">
                <a16:creationId xmlns:a16="http://schemas.microsoft.com/office/drawing/2014/main" id="{6F892264-12B7-4C1C-7D49-93CC1C70078E}"/>
              </a:ext>
            </a:extLst>
          </p:cNvPr>
          <p:cNvSpPr txBox="1"/>
          <p:nvPr/>
        </p:nvSpPr>
        <p:spPr>
          <a:xfrm>
            <a:off x="889000" y="22606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07131F"/>
                </a:solidFill>
                <a:latin typeface="Arial" panose="020B0604020202020204" pitchFamily="34" charset="0"/>
              </a:rPr>
              <a:t>• Arquitectura cliente-servidor funcional
• Análisis explicable y bilingüe
• Modelos centrales compartidos
• Evaluación reproducible y errores trazables</a:t>
            </a:r>
          </a:p>
        </p:txBody>
      </p:sp>
      <p:cxnSp>
        <p:nvCxnSpPr>
          <p:cNvPr id="9" name="Limit divider">
            <a:extLst>
              <a:ext uri="{FF2B5EF4-FFF2-40B4-BE49-F238E27FC236}">
                <a16:creationId xmlns:a16="http://schemas.microsoft.com/office/drawing/2014/main" id="{AA1EAA73-69D9-BD0D-EDD2-D7B38EAFCB93}"/>
              </a:ext>
            </a:extLst>
          </p:cNvPr>
          <p:cNvCxnSpPr/>
          <p:nvPr/>
        </p:nvCxnSpPr>
        <p:spPr>
          <a:xfrm>
            <a:off x="6096000" y="1714500"/>
            <a:ext cx="0" cy="3467100"/>
          </a:xfrm>
          <a:prstGeom prst="line">
            <a:avLst/>
          </a:prstGeom>
          <a:ln w="17780">
            <a:solidFill>
              <a:srgbClr val="DC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oes not label">
            <a:extLst>
              <a:ext uri="{FF2B5EF4-FFF2-40B4-BE49-F238E27FC236}">
                <a16:creationId xmlns:a16="http://schemas.microsoft.com/office/drawing/2014/main" id="{179E3B8F-9050-3EB9-B84C-EF7BFCA15CB5}"/>
              </a:ext>
            </a:extLst>
          </p:cNvPr>
          <p:cNvSpPr txBox="1"/>
          <p:nvPr/>
        </p:nvSpPr>
        <p:spPr>
          <a:xfrm>
            <a:off x="6731000" y="1752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B42318"/>
                </a:solidFill>
                <a:latin typeface="Arial" panose="020B0604020202020204" pitchFamily="34" charset="0"/>
              </a:rPr>
              <a:t>LO QUE NO AFIRMA</a:t>
            </a:r>
          </a:p>
        </p:txBody>
      </p:sp>
      <p:sp>
        <p:nvSpPr>
          <p:cNvPr id="11" name="Does not">
            <a:extLst>
              <a:ext uri="{FF2B5EF4-FFF2-40B4-BE49-F238E27FC236}">
                <a16:creationId xmlns:a16="http://schemas.microsoft.com/office/drawing/2014/main" id="{99ABC533-22B2-8152-1FC2-A9FEE88BD959}"/>
              </a:ext>
            </a:extLst>
          </p:cNvPr>
          <p:cNvSpPr txBox="1"/>
          <p:nvPr/>
        </p:nvSpPr>
        <p:spPr>
          <a:xfrm>
            <a:off x="6731000" y="22606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700">
                <a:solidFill>
                  <a:srgbClr val="07131F"/>
                </a:solidFill>
                <a:latin typeface="Arial" panose="020B0604020202020204" pitchFamily="34" charset="0"/>
              </a:rPr>
              <a:t>• Métricas garantizadas en producción
• Reputación online en tiempo real
• Análisis dinámico de las páginas
• Seguridad multiusuario para Internet</a:t>
            </a:r>
          </a:p>
        </p:txBody>
      </p:sp>
      <p:sp>
        <p:nvSpPr>
          <p:cNvPr id="12" name="Future band">
            <a:extLst>
              <a:ext uri="{FF2B5EF4-FFF2-40B4-BE49-F238E27FC236}">
                <a16:creationId xmlns:a16="http://schemas.microsoft.com/office/drawing/2014/main" id="{D85BB2DB-EB69-9DFE-9CEC-289ACD9120D3}"/>
              </a:ext>
            </a:extLst>
          </p:cNvPr>
          <p:cNvSpPr/>
          <p:nvPr/>
        </p:nvSpPr>
        <p:spPr>
          <a:xfrm>
            <a:off x="889000" y="4978400"/>
            <a:ext cx="10414000" cy="990600"/>
          </a:xfrm>
          <a:prstGeom prst="rect">
            <a:avLst/>
          </a:prstGeom>
          <a:solidFill>
            <a:srgbClr val="0713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Future label">
            <a:extLst>
              <a:ext uri="{FF2B5EF4-FFF2-40B4-BE49-F238E27FC236}">
                <a16:creationId xmlns:a16="http://schemas.microsoft.com/office/drawing/2014/main" id="{E0ACF1A0-2D5D-1852-583F-2ABFF68B7A9A}"/>
              </a:ext>
            </a:extLst>
          </p:cNvPr>
          <p:cNvSpPr txBox="1"/>
          <p:nvPr/>
        </p:nvSpPr>
        <p:spPr>
          <a:xfrm>
            <a:off x="1193800" y="52578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100" b="1">
                <a:solidFill>
                  <a:srgbClr val="CCFBF1"/>
                </a:solidFill>
                <a:latin typeface="Arial" panose="020B0604020202020204" pitchFamily="34" charset="0"/>
              </a:rPr>
              <a:t>PRIORIDAD FUTURA</a:t>
            </a:r>
          </a:p>
        </p:txBody>
      </p:sp>
      <p:sp>
        <p:nvSpPr>
          <p:cNvPr id="14" name="Future items">
            <a:extLst>
              <a:ext uri="{FF2B5EF4-FFF2-40B4-BE49-F238E27FC236}">
                <a16:creationId xmlns:a16="http://schemas.microsoft.com/office/drawing/2014/main" id="{9144D84F-B80C-016C-0404-0178E6CAFE84}"/>
              </a:ext>
            </a:extLst>
          </p:cNvPr>
          <p:cNvSpPr txBox="1"/>
          <p:nvPr/>
        </p:nvSpPr>
        <p:spPr>
          <a:xfrm>
            <a:off x="3352800" y="5181600"/>
            <a:ext cx="7569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400"/>
              </a:spcAft>
            </a:pPr>
            <a:r>
              <a:rPr lang="es-ES" sz="1500" b="1">
                <a:solidFill>
                  <a:srgbClr val="FFFFFF"/>
                </a:solidFill>
                <a:latin typeface="Arial" panose="020B0604020202020204" pitchFamily="34" charset="0"/>
              </a:rPr>
              <a:t>Corpus reciente, bilingüe, anonimizado e independiente · TLS y autenticación · reputación de dominios</a:t>
            </a:r>
          </a:p>
        </p:txBody>
      </p:sp>
    </p:spTree>
    <p:extLst>
      <p:ext uri="{BB962C8B-B14F-4D97-AF65-F5344CB8AC3E}">
        <p14:creationId xmlns:p14="http://schemas.microsoft.com/office/powerpoint/2010/main" val="226512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abel">
            <a:extLst>
              <a:ext uri="{FF2B5EF4-FFF2-40B4-BE49-F238E27FC236}">
                <a16:creationId xmlns:a16="http://schemas.microsoft.com/office/drawing/2014/main" id="{32D77C1D-EF3D-56D6-3199-32FD85F6789A}"/>
              </a:ext>
            </a:extLst>
          </p:cNvPr>
          <p:cNvSpPr txBox="1"/>
          <p:nvPr/>
        </p:nvSpPr>
        <p:spPr>
          <a:xfrm>
            <a:off x="736600" y="6350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200" b="1">
                <a:solidFill>
                  <a:srgbClr val="CCFBF1"/>
                </a:solidFill>
                <a:latin typeface="Arial" panose="020B0604020202020204" pitchFamily="34" charset="0"/>
              </a:rPr>
              <a:t>CONCLUSIÓN</a:t>
            </a:r>
          </a:p>
        </p:txBody>
      </p:sp>
      <p:sp>
        <p:nvSpPr>
          <p:cNvPr id="3" name="Closing title">
            <a:extLst>
              <a:ext uri="{FF2B5EF4-FFF2-40B4-BE49-F238E27FC236}">
                <a16:creationId xmlns:a16="http://schemas.microsoft.com/office/drawing/2014/main" id="{B2AD5089-727E-1751-866E-846D201F57DA}"/>
              </a:ext>
            </a:extLst>
          </p:cNvPr>
          <p:cNvSpPr txBox="1"/>
          <p:nvPr/>
        </p:nvSpPr>
        <p:spPr>
          <a:xfrm>
            <a:off x="736600" y="1651000"/>
            <a:ext cx="774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5000" b="1">
                <a:solidFill>
                  <a:srgbClr val="FFFFFF"/>
                </a:solidFill>
                <a:latin typeface="Arial" panose="020B0604020202020204" pitchFamily="34" charset="0"/>
              </a:rPr>
              <a:t>Una decisión central,
varias interfaces</a:t>
            </a:r>
          </a:p>
        </p:txBody>
      </p:sp>
      <p:sp>
        <p:nvSpPr>
          <p:cNvPr id="4" name="Closing thesis">
            <a:extLst>
              <a:ext uri="{FF2B5EF4-FFF2-40B4-BE49-F238E27FC236}">
                <a16:creationId xmlns:a16="http://schemas.microsoft.com/office/drawing/2014/main" id="{1078CCD8-408B-28C4-1F2D-DDDB01D1E8ED}"/>
              </a:ext>
            </a:extLst>
          </p:cNvPr>
          <p:cNvSpPr txBox="1"/>
          <p:nvPr/>
        </p:nvSpPr>
        <p:spPr>
          <a:xfrm>
            <a:off x="736600" y="3708400"/>
            <a:ext cx="825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900">
                <a:solidFill>
                  <a:srgbClr val="C9D7E0"/>
                </a:solidFill>
                <a:latin typeface="Arial" panose="020B0604020202020204" pitchFamily="34" charset="0"/>
              </a:rPr>
              <a:t>El prototipo separa presentación y análisis, combina evidencias explicables con aprendizaje supervisado y permite actualizar los modelos una sola vez para todos los clientes.</a:t>
            </a:r>
          </a:p>
        </p:txBody>
      </p:sp>
      <p:cxnSp>
        <p:nvCxnSpPr>
          <p:cNvPr id="5" name="Closing rule">
            <a:extLst>
              <a:ext uri="{FF2B5EF4-FFF2-40B4-BE49-F238E27FC236}">
                <a16:creationId xmlns:a16="http://schemas.microsoft.com/office/drawing/2014/main" id="{84696F4E-5B37-406D-13F1-8A8F2F91679C}"/>
              </a:ext>
            </a:extLst>
          </p:cNvPr>
          <p:cNvCxnSpPr/>
          <p:nvPr/>
        </p:nvCxnSpPr>
        <p:spPr>
          <a:xfrm>
            <a:off x="736600" y="5181600"/>
            <a:ext cx="8255000" cy="0"/>
          </a:xfrm>
          <a:prstGeom prst="line">
            <a:avLst/>
          </a:prstGeom>
          <a:ln w="50800">
            <a:solidFill>
              <a:srgbClr val="0D9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losing contribution">
            <a:extLst>
              <a:ext uri="{FF2B5EF4-FFF2-40B4-BE49-F238E27FC236}">
                <a16:creationId xmlns:a16="http://schemas.microsoft.com/office/drawing/2014/main" id="{76041376-5611-DADC-8955-23B97512C603}"/>
              </a:ext>
            </a:extLst>
          </p:cNvPr>
          <p:cNvSpPr txBox="1"/>
          <p:nvPr/>
        </p:nvSpPr>
        <p:spPr>
          <a:xfrm>
            <a:off x="736600" y="5473700"/>
            <a:ext cx="825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400"/>
              </a:spcAft>
            </a:pPr>
            <a:r>
              <a:rPr lang="es-ES" sz="1600" b="1">
                <a:solidFill>
                  <a:srgbClr val="FFFFFF"/>
                </a:solidFill>
                <a:latin typeface="Arial" panose="020B0604020202020204" pitchFamily="34" charset="0"/>
              </a:rPr>
              <a:t>Aportación: un detector mantenible, evaluado y preparado para evolucionar sin duplicar modelos.</a:t>
            </a:r>
          </a:p>
        </p:txBody>
      </p:sp>
      <p:sp>
        <p:nvSpPr>
          <p:cNvPr id="7" name="Questions">
            <a:extLst>
              <a:ext uri="{FF2B5EF4-FFF2-40B4-BE49-F238E27FC236}">
                <a16:creationId xmlns:a16="http://schemas.microsoft.com/office/drawing/2014/main" id="{E847B6BA-82A7-198E-5491-C18D01078E90}"/>
              </a:ext>
            </a:extLst>
          </p:cNvPr>
          <p:cNvSpPr txBox="1"/>
          <p:nvPr/>
        </p:nvSpPr>
        <p:spPr>
          <a:xfrm>
            <a:off x="9423400" y="55372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400"/>
              </a:spcAft>
            </a:pPr>
            <a:r>
              <a:rPr lang="es-ES" sz="1500" b="1">
                <a:solidFill>
                  <a:srgbClr val="CCFBF1"/>
                </a:solidFill>
                <a:latin typeface="Arial" panose="020B0604020202020204" pitchFamily="34" charset="0"/>
              </a:rPr>
              <a:t>Preguntas del tribunal</a:t>
            </a:r>
          </a:p>
        </p:txBody>
      </p:sp>
    </p:spTree>
    <p:extLst>
      <p:ext uri="{BB962C8B-B14F-4D97-AF65-F5344CB8AC3E}">
        <p14:creationId xmlns:p14="http://schemas.microsoft.com/office/powerpoint/2010/main" val="7507128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1972</Words>
  <Application>Microsoft Office PowerPoint</Application>
  <PresentationFormat>Personalizado</PresentationFormat>
  <Paragraphs>237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VILLARRUBIA</dc:creator>
  <cp:lastModifiedBy>ALEJANDRO VILLARRUBIA</cp:lastModifiedBy>
  <cp:revision>1</cp:revision>
  <dcterms:created xsi:type="dcterms:W3CDTF">2026-08-30T23:22:15Z</dcterms:created>
  <dcterms:modified xsi:type="dcterms:W3CDTF">2026-08-30T23:22:15Z</dcterms:modified>
</cp:coreProperties>
</file>